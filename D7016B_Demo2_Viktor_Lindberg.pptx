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70" r:id="rId16"/>
    <p:sldId id="272" r:id="rId19"/>
    <p:sldId id="279" r:id="rId13"/>
    <p:sldId id="273" r:id="rId20"/>
    <p:sldId id="274" r:id="rId21"/>
    <p:sldId id="277" r:id="rId24"/>
    <p:sldId id="280" r:id="rId14"/>
    <p:sldId id="278"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4" d="100"/>
          <a:sy n="154" d="100"/>
        </p:scale>
        <p:origin x="384"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slide" Target="slides/slide7.xml"/><Relationship Id="rId14" Type="http://schemas.openxmlformats.org/officeDocument/2006/relationships/slide" Target="slides/slide8.xml"/><Relationship Id="rId16" Type="http://schemas.openxmlformats.org/officeDocument/2006/relationships/slide" Target="slides/slide1.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 Id="rId24" Type="http://schemas.openxmlformats.org/officeDocument/2006/relationships/slide" Target="slides/slide5.xml"/><Relationship Id="rId25" Type="http://schemas.openxmlformats.org/officeDocument/2006/relationships/slide" Target="slides/slide6.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0080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Demonstration 2. Since demonstration 1 the project has changed direction. I will show why, the idea, the method, how it is tested with one scan, how it would be used over time, and where the report stands. No results today; they come in the report.</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first idea was to link the vibration events from part one to the track geometry and predict fault types. The vibration data that links events to positions was not available, so that could not be tested. What I have is one LiDAR scan of a stretch of double track. There is no second scan, so two runs cannot be compared yet. And the height in the file is measured from the sensor, which rides on the rails, so slow height changes cancel out: gauge and sideways alignment can be followed in full, height only for short dips and humps. So the project became: build a method that turns a scan into a comparable 3D curve, and test it.</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method in five steps. A reference line is built once along the track, and every run is projected onto it, so that a position means the same thing in every run. In every short slab along the line the top of each rail and its inner face are found in the points. The slabs are averaged into control points at regular steps. A Catmull-Rom curve goes through every control point, and each piece of it depends only on its nearest points, so a change in one place moves the curve only there. From that curve the gauge, the alignment and the index per section are read off. Nothing is random: the same scan always gives the same curve.</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method compares two scans of the same track, and I have one. So I make two out of it: the points are dealt out in turns, a handful to scan 1, the next to scan 2. Each set covers the whole track, and no point is in both, like two scans taken at the same moment. Then three checks. Repeat: the same points through the method twice must give exactly the same curve. Noise: scan 1 against scan 2, where nothing has changed, so whatever differs is the method's own noise. Faults: known faults are planted in scan 2, a widening, a dipped joint, a twist and a cross-level step, and the method must find them at their size. Cant cannot be tested, because it needs an absolute height. The same test is also run with the control points closer together or further apart. The results come in the report.</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To show how the curve would be used, I simulated a monitoring period: a run every few weeks, each made from the real scan with assumed defects that grow a little each time. Every run goes through the same method and is compared with the first. A control chart watches every place along the curve: an alert when a place steps out of its normal scatter, which happens early, while the change is small. When the change reaches an assumed limit, an alarm orders maintenance there, the defect is reset, and it starts growing again. Nothing is scripted to happen in a certain week. This shows the behaviour of the method, not of the real track.</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Where the report stands: the introduction is written, with the background, the idea and the research questions. The method section is written: the pipeline, the test plan and the simulation. Next come the results, the test on the real scan and the simulation, and then the discussion of what the method can and cannot show.</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Track geometry is usually followed with an index, one number per section, that says how rough the section is. That is useful, but where the change is and how big it is get averaged away, and a single bad spot can hide in a good average. The idea here is to represent both rails as a curve in a fixed frame. Then two runs can be compared point by point, in millimetres, and the index can still be computed from the curve afterwards. With this data, gauge and sideways alignment are measured in full; height only for short dips and humps, because the scanner rides on the rails.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Three research questions. One: when the scan is split into two halves and a curve is built from each, how much do the two curves differ, for gauge, alignment and height. Two: which track faults can be detected using the curve, and how the distance between the control points affects what can be detected. Three: how would the curve be used over time to raise alerts and alarms, shown by the simulation. The study is exploratory: with one scan the answers describe the method, not the track.</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027"/>
        </a:solidFill>
        <a:effectLst/>
      </p:bgPr>
    </p:bg>
    <p:spTree>
      <p:nvGrpSpPr>
        <p:cNvPr id="1" name=""/>
        <p:cNvGrpSpPr/>
        <p:nvPr/>
      </p:nvGrpSpPr>
      <p:grpSpPr>
        <a:xfrm>
          <a:off x="0" y="0"/>
          <a:ext cx="0" cy="0"/>
          <a:chOff x="0" y="0"/>
          <a:chExt cx="0" cy="0"/>
        </a:xfrm>
      </p:grpSpPr>
      <p:sp>
        <p:nvSpPr>
          <p:cNvPr id="2" name="Shape 0"/>
          <p:cNvSpPr/>
          <p:nvPr/>
        </p:nvSpPr>
        <p:spPr>
          <a:xfrm>
            <a:off x="6675120" y="-1005840"/>
            <a:ext cx="3840480" cy="3840480"/>
          </a:xfrm>
          <a:prstGeom prst="ellipse">
            <a:avLst/>
          </a:prstGeom>
          <a:solidFill>
            <a:srgbClr val="028090">
              <a:alpha val="22000"/>
            </a:srgbClr>
          </a:solidFill>
          <a:ln w="12700">
            <a:solidFill>
              <a:srgbClr val="333333"/>
            </a:solidFill>
            <a:prstDash val="solid"/>
          </a:ln>
        </p:spPr>
        <p:txBody>
          <a:bodyPr/>
          <a:lstStyle/>
          <a:p>
            <a:endParaRPr lang="sv-SE"/>
          </a:p>
        </p:txBody>
      </p:sp>
      <p:sp>
        <p:nvSpPr>
          <p:cNvPr id="3" name="Shape 1"/>
          <p:cNvSpPr/>
          <p:nvPr/>
        </p:nvSpPr>
        <p:spPr>
          <a:xfrm>
            <a:off x="7680960" y="2651760"/>
            <a:ext cx="2377440" cy="2377440"/>
          </a:xfrm>
          <a:prstGeom prst="ellipse">
            <a:avLst/>
          </a:prstGeom>
          <a:solidFill>
            <a:srgbClr val="00A896">
              <a:alpha val="15000"/>
            </a:srgbClr>
          </a:solidFill>
          <a:ln w="12700">
            <a:solidFill>
              <a:srgbClr val="333333"/>
            </a:solidFill>
            <a:prstDash val="solid"/>
          </a:ln>
        </p:spPr>
        <p:txBody>
          <a:bodyPr/>
          <a:lstStyle/>
          <a:p>
            <a:endParaRPr lang="sv-SE"/>
          </a:p>
        </p:txBody>
      </p:sp>
      <p:sp>
        <p:nvSpPr>
          <p:cNvPr id="4" name="Text 2"/>
          <p:cNvSpPr txBox="1"/>
          <p:nvPr/>
        </p:nvSpPr>
        <p:spPr>
          <a:xfrm>
            <a:off x="457200" y="1097280"/>
            <a:ext cx="6766560" cy="256032"/>
          </a:xfrm>
          <a:prstGeom prst="rect">
            <a:avLst/>
          </a:prstGeom>
          <a:noFill/>
          <a:ln/>
        </p:spPr>
        <p:txBody>
          <a:bodyPr wrap="square" lIns="0" tIns="0" rIns="0" bIns="0" rtlCol="0" anchor="ctr"/>
          <a:lstStyle/>
          <a:p>
            <a:pPr marL="0" indent="0">
              <a:buNone/>
            </a:pPr>
            <a:r>
              <a:rPr lang="en-US" sz="1150" b="1" kern="0" spc="200" dirty="0">
                <a:solidFill>
                  <a:srgbClr val="00A896"/>
                </a:solidFill>
                <a:latin typeface="Calibri" pitchFamily="34" charset="0"/>
                <a:ea typeface="Calibri" pitchFamily="34" charset="-122"/>
                <a:cs typeface="Calibri" pitchFamily="34" charset="-120"/>
              </a:rPr>
              <a:t>D7016B · PROJECT DEMONSTRATION 2</a:t>
            </a:r>
            <a:endParaRPr lang="en-US" sz="1150" dirty="0"/>
          </a:p>
        </p:txBody>
      </p:sp>
      <p:sp>
        <p:nvSpPr>
          <p:cNvPr id="5" name="Text 3"/>
          <p:cNvSpPr txBox="1"/>
          <p:nvPr/>
        </p:nvSpPr>
        <p:spPr>
          <a:xfrm>
            <a:off x="457200" y="1417320"/>
            <a:ext cx="6858000" cy="1097280"/>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Track change over time as 3D curves</a:t>
            </a:r>
            <a:endParaRPr lang="en-US" sz="3100" dirty="0"/>
          </a:p>
        </p:txBody>
      </p:sp>
      <p:sp>
        <p:nvSpPr>
          <p:cNvPr id="6" name="Text 4"/>
          <p:cNvSpPr txBox="1"/>
          <p:nvPr/>
        </p:nvSpPr>
        <p:spPr>
          <a:xfrm>
            <a:off x="457200" y="2560320"/>
            <a:ext cx="6583680" cy="365760"/>
          </a:xfrm>
          <a:prstGeom prst="rect">
            <a:avLst/>
          </a:prstGeom>
          <a:noFill/>
          <a:ln/>
        </p:spPr>
        <p:txBody>
          <a:bodyPr wrap="square" lIns="0" tIns="0" rIns="0" bIns="0" rtlCol="0" anchor="ctr"/>
          <a:lstStyle/>
          <a:p>
            <a:pPr marL="0" indent="0">
              <a:buNone/>
            </a:pPr>
            <a:r>
              <a:rPr lang="en-US" sz="1600" i="1" dirty="0">
                <a:solidFill>
                  <a:srgbClr val="00A896"/>
                </a:solidFill>
                <a:latin typeface="Calibri" pitchFamily="34" charset="0"/>
                <a:ea typeface="Calibri" pitchFamily="34" charset="-122"/>
                <a:cs typeface="Calibri" pitchFamily="34" charset="-120"/>
              </a:rPr>
              <a:t>…one LiDAR scan, a curve of both rails, and how it would be used over time</a:t>
            </a:r>
            <a:endParaRPr lang="en-US" sz="1600" dirty="0"/>
          </a:p>
        </p:txBody>
      </p:sp>
      <p:sp>
        <p:nvSpPr>
          <p:cNvPr id="7" name="Text 5"/>
          <p:cNvSpPr txBox="1"/>
          <p:nvPr/>
        </p:nvSpPr>
        <p:spPr>
          <a:xfrm>
            <a:off x="457200" y="3703320"/>
            <a:ext cx="5943600" cy="914400"/>
          </a:xfrm>
          <a:prstGeom prst="rect">
            <a:avLst/>
          </a:prstGeom>
          <a:noFill/>
          <a:ln/>
        </p:spPr>
        <p:txBody>
          <a:bodyPr wrap="square" lIns="0" tIns="0" rIns="0" bIns="0" rtlCol="0" anchor="ctr"/>
          <a:lstStyle/>
          <a:p>
            <a:pPr marL="0" indent="0">
              <a:lnSpc>
                <a:spcPts val="1800"/>
              </a:lnSpc>
              <a:buNone/>
            </a:pPr>
            <a:r>
              <a:rPr lang="en-US" sz="1250" b="1" dirty="0">
                <a:solidFill>
                  <a:srgbClr val="C7D8DB"/>
                </a:solidFill>
                <a:latin typeface="Calibri" pitchFamily="34" charset="0"/>
                <a:ea typeface="Calibri" pitchFamily="34" charset="-122"/>
                <a:cs typeface="Calibri" pitchFamily="34" charset="-120"/>
              </a:rPr>
              <a:t>Viktor Lindberg</a:t>
            </a:r>
            <a:endParaRPr lang="en-US" sz="1250" dirty="0"/>
          </a:p>
          <a:p>
            <a:pPr marL="0" indent="0">
              <a:lnSpc>
                <a:spcPts val="1800"/>
              </a:lnSpc>
              <a:buNone/>
            </a:pPr>
            <a:r>
              <a:rPr lang="en-US" sz="1250" dirty="0">
                <a:solidFill>
                  <a:srgbClr val="C7D8DB"/>
                </a:solidFill>
                <a:latin typeface="Calibri" pitchFamily="34" charset="0"/>
                <a:ea typeface="Calibri" pitchFamily="34" charset="-122"/>
                <a:cs typeface="Calibri" pitchFamily="34" charset="-120"/>
              </a:rPr>
              <a:t>Supervisor: Amit Patwardhan</a:t>
            </a:r>
            <a:endParaRPr lang="en-US" sz="1250" dirty="0"/>
          </a:p>
          <a:p>
            <a:pPr marL="0" indent="0">
              <a:lnSpc>
                <a:spcPts val="1800"/>
              </a:lnSpc>
              <a:buNone/>
            </a:pPr>
            <a:r>
              <a:rPr lang="en-US" sz="1250" dirty="0">
                <a:solidFill>
                  <a:srgbClr val="C7D8DB"/>
                </a:solidFill>
                <a:latin typeface="Calibri" pitchFamily="34" charset="0"/>
                <a:ea typeface="Calibri" pitchFamily="34" charset="-122"/>
                <a:cs typeface="Calibri" pitchFamily="34" charset="-120"/>
              </a:rPr>
              <a:t>Luleå University of Technology · D7016B – Industrial AI and </a:t>
            </a:r>
            <a:r>
              <a:rPr lang="en-US" sz="1250" dirty="0" err="1">
                <a:solidFill>
                  <a:srgbClr val="C7D8DB"/>
                </a:solidFill>
                <a:latin typeface="Calibri" pitchFamily="34" charset="0"/>
                <a:ea typeface="Calibri" pitchFamily="34" charset="-122"/>
                <a:cs typeface="Calibri" pitchFamily="34" charset="-120"/>
              </a:rPr>
              <a:t>eMaintenance</a:t>
            </a:r>
            <a:r>
              <a:rPr lang="en-US" sz="1250" dirty="0">
                <a:solidFill>
                  <a:srgbClr val="C7D8DB"/>
                </a:solidFill>
                <a:latin typeface="Calibri" pitchFamily="34" charset="0"/>
                <a:ea typeface="Calibri" pitchFamily="34" charset="-122"/>
                <a:cs typeface="Calibri" pitchFamily="34" charset="-120"/>
              </a:rPr>
              <a:t>: Part II</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CHANGE OF IDEA</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From fault types to change over time</a:t>
            </a:r>
            <a:endParaRPr lang="en-US" sz="2700" dirty="0"/>
          </a:p>
        </p:txBody>
      </p:sp>
      <p:sp>
        <p:nvSpPr>
          <p:cNvPr id="4" name="Shape 4"/>
          <p:cNvSpPr/>
          <p:nvPr/>
        </p:nvSpPr>
        <p:spPr>
          <a:xfrm>
            <a:off x="457200" y="1234440"/>
            <a:ext cx="3611880" cy="1234440"/>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5" name="TextBox 4"/>
          <p:cNvSpPr txBox="1"/>
          <p:nvPr/>
        </p:nvSpPr>
        <p:spPr>
          <a:xfrm>
            <a:off x="685800" y="1353312"/>
            <a:ext cx="3200400" cy="228600"/>
          </a:xfrm>
          <a:prstGeom prst="rect">
            <a:avLst/>
          </a:prstGeom>
          <a:noFill/>
        </p:spPr>
        <p:txBody>
          <a:bodyPr wrap="square" lIns="0" tIns="0" rIns="0" bIns="0" anchor="t">
            <a:spAutoFit/>
          </a:bodyPr>
          <a:lstStyle/>
          <a:p>
            <a:r>
              <a:rPr sz="1100" b="1" spc="200">
                <a:solidFill>
                  <a:srgbClr val="5F7178"/>
                </a:solidFill>
                <a:latin typeface="Calibri"/>
              </a:rPr>
              <a:t>BEFORE</a:t>
            </a:r>
          </a:p>
        </p:txBody>
      </p:sp>
      <p:sp>
        <p:nvSpPr>
          <p:cNvPr id="6" name="TextBox 5"/>
          <p:cNvSpPr txBox="1"/>
          <p:nvPr/>
        </p:nvSpPr>
        <p:spPr>
          <a:xfrm>
            <a:off x="685800" y="1591056"/>
            <a:ext cx="3200400" cy="274320"/>
          </a:xfrm>
          <a:prstGeom prst="rect">
            <a:avLst/>
          </a:prstGeom>
          <a:noFill/>
        </p:spPr>
        <p:txBody>
          <a:bodyPr wrap="square" lIns="0" tIns="0" rIns="0" bIns="0" anchor="t">
            <a:spAutoFit/>
          </a:bodyPr>
          <a:lstStyle/>
          <a:p>
            <a:r>
              <a:rPr sz="1500" b="1">
                <a:solidFill>
                  <a:srgbClr val="5F7178"/>
                </a:solidFill>
                <a:latin typeface="Calibri"/>
              </a:rPr>
              <a:t>Link vibration events to geometry</a:t>
            </a:r>
          </a:p>
        </p:txBody>
      </p:sp>
      <p:sp>
        <p:nvSpPr>
          <p:cNvPr id="7" name="TextBox 6"/>
          <p:cNvSpPr txBox="1"/>
          <p:nvPr/>
        </p:nvSpPr>
        <p:spPr>
          <a:xfrm>
            <a:off x="685800" y="1901952"/>
            <a:ext cx="3200400" cy="475488"/>
          </a:xfrm>
          <a:prstGeom prst="rect">
            <a:avLst/>
          </a:prstGeom>
          <a:noFill/>
        </p:spPr>
        <p:txBody>
          <a:bodyPr wrap="square" lIns="0" tIns="0" rIns="0" bIns="0" anchor="t">
            <a:spAutoFit/>
          </a:bodyPr>
          <a:lstStyle/>
          <a:p>
            <a:r>
              <a:rPr sz="1150" b="0">
                <a:solidFill>
                  <a:srgbClr val="5F7178"/>
                </a:solidFill>
                <a:latin typeface="Calibri"/>
              </a:rPr>
              <a:t>Group abnormal vibration events by track geometry, then predict the fault type.</a:t>
            </a:r>
          </a:p>
        </p:txBody>
      </p:sp>
      <p:sp>
        <p:nvSpPr>
          <p:cNvPr id="8" name="Right Arrow 7"/>
          <p:cNvSpPr/>
          <p:nvPr/>
        </p:nvSpPr>
        <p:spPr>
          <a:xfrm>
            <a:off x="4206240" y="1627632"/>
            <a:ext cx="731520" cy="457200"/>
          </a:xfrm>
          <a:prstGeom prst="rightArrow">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hape 16"/>
          <p:cNvSpPr/>
          <p:nvPr/>
        </p:nvSpPr>
        <p:spPr>
          <a:xfrm>
            <a:off x="5074920" y="1234440"/>
            <a:ext cx="3611880" cy="1234440"/>
          </a:xfrm>
          <a:prstGeom prst="roundRect">
            <a:avLst>
              <a:gd name="adj" fmla="val 9091"/>
            </a:avLst>
          </a:prstGeom>
          <a:solidFill>
            <a:srgbClr val="0B2027"/>
          </a:solidFill>
          <a:ln w="12700">
            <a:solidFill>
              <a:srgbClr val="0B2027"/>
            </a:solidFill>
            <a:prstDash val="solid"/>
          </a:ln>
        </p:spPr>
        <p:txBody>
          <a:bodyPr/>
          <a:lstStyle/>
          <a:p>
            <a:endParaRPr lang="sv-SE"/>
          </a:p>
        </p:txBody>
      </p:sp>
      <p:sp>
        <p:nvSpPr>
          <p:cNvPr id="10" name="TextBox 9"/>
          <p:cNvSpPr txBox="1"/>
          <p:nvPr/>
        </p:nvSpPr>
        <p:spPr>
          <a:xfrm>
            <a:off x="5303520" y="1353312"/>
            <a:ext cx="3200400" cy="228600"/>
          </a:xfrm>
          <a:prstGeom prst="rect">
            <a:avLst/>
          </a:prstGeom>
          <a:noFill/>
        </p:spPr>
        <p:txBody>
          <a:bodyPr wrap="square" lIns="0" tIns="0" rIns="0" bIns="0" anchor="t">
            <a:spAutoFit/>
          </a:bodyPr>
          <a:lstStyle/>
          <a:p>
            <a:r>
              <a:rPr sz="1100" b="1" spc="200">
                <a:solidFill>
                  <a:srgbClr val="00A896"/>
                </a:solidFill>
                <a:latin typeface="Calibri"/>
              </a:rPr>
              <a:t>NOW</a:t>
            </a:r>
          </a:p>
        </p:txBody>
      </p:sp>
      <p:sp>
        <p:nvSpPr>
          <p:cNvPr id="11" name="TextBox 10"/>
          <p:cNvSpPr txBox="1"/>
          <p:nvPr/>
        </p:nvSpPr>
        <p:spPr>
          <a:xfrm>
            <a:off x="5303520" y="1591056"/>
            <a:ext cx="3200400" cy="274320"/>
          </a:xfrm>
          <a:prstGeom prst="rect">
            <a:avLst/>
          </a:prstGeom>
          <a:noFill/>
        </p:spPr>
        <p:txBody>
          <a:bodyPr wrap="square" lIns="0" tIns="0" rIns="0" bIns="0" anchor="t">
            <a:spAutoFit/>
          </a:bodyPr>
          <a:lstStyle/>
          <a:p>
            <a:r>
              <a:rPr sz="1500" b="1">
                <a:solidFill>
                  <a:srgbClr val="FFFFFF"/>
                </a:solidFill>
                <a:latin typeface="Calibri"/>
              </a:rPr>
              <a:t>Follow the track geometry over time</a:t>
            </a:r>
          </a:p>
        </p:txBody>
      </p:sp>
      <p:sp>
        <p:nvSpPr>
          <p:cNvPr id="12" name="TextBox 11"/>
          <p:cNvSpPr txBox="1"/>
          <p:nvPr/>
        </p:nvSpPr>
        <p:spPr>
          <a:xfrm>
            <a:off x="5303520" y="1901952"/>
            <a:ext cx="3200400" cy="475488"/>
          </a:xfrm>
          <a:prstGeom prst="rect">
            <a:avLst/>
          </a:prstGeom>
          <a:noFill/>
        </p:spPr>
        <p:txBody>
          <a:bodyPr wrap="square" lIns="0" tIns="0" rIns="0" bIns="0" anchor="t">
            <a:spAutoFit/>
          </a:bodyPr>
          <a:lstStyle/>
          <a:p>
            <a:r>
              <a:rPr sz="1150" b="0">
                <a:solidFill>
                  <a:srgbClr val="C7D8DB"/>
                </a:solidFill>
                <a:latin typeface="Calibri"/>
              </a:rPr>
              <a:t>Turn each LiDAR run into a 3D curve and compare runs of the same track.</a:t>
            </a:r>
          </a:p>
        </p:txBody>
      </p:sp>
      <p:sp>
        <p:nvSpPr>
          <p:cNvPr id="13" name="Shape 4"/>
          <p:cNvSpPr/>
          <p:nvPr/>
        </p:nvSpPr>
        <p:spPr>
          <a:xfrm>
            <a:off x="457200" y="2596896"/>
            <a:ext cx="8229600" cy="640080"/>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14" name="TextBox 13"/>
          <p:cNvSpPr txBox="1"/>
          <p:nvPr/>
        </p:nvSpPr>
        <p:spPr>
          <a:xfrm>
            <a:off x="731520" y="2596896"/>
            <a:ext cx="7680960" cy="640080"/>
          </a:xfrm>
          <a:prstGeom prst="rect">
            <a:avLst/>
          </a:prstGeom>
          <a:noFill/>
        </p:spPr>
        <p:txBody>
          <a:bodyPr wrap="square" lIns="0" tIns="0" rIns="0" bIns="0" anchor="ctr">
            <a:spAutoFit/>
          </a:bodyPr>
          <a:lstStyle/>
          <a:p>
            <a:r>
              <a:rPr sz="1200" b="1">
                <a:solidFill>
                  <a:srgbClr val="028090"/>
                </a:solidFill>
                <a:latin typeface="Calibri"/>
              </a:rPr>
              <a:t>Why the change.</a:t>
            </a:r>
            <a:r>
              <a:rPr sz="1200" b="0">
                <a:solidFill>
                  <a:srgbClr val="16262B"/>
                </a:solidFill>
                <a:latin typeface="Calibri"/>
              </a:rPr>
              <a:t>  The vibration data that would link events to positions on the track was not available, so the first idea could not be tested. The point cloud was, so the project follows the geometry instead.</a:t>
            </a:r>
          </a:p>
        </p:txBody>
      </p:sp>
      <p:sp>
        <p:nvSpPr>
          <p:cNvPr id="15" name="Shape 16"/>
          <p:cNvSpPr/>
          <p:nvPr/>
        </p:nvSpPr>
        <p:spPr>
          <a:xfrm>
            <a:off x="457200" y="4224528"/>
            <a:ext cx="8229600" cy="438912"/>
          </a:xfrm>
          <a:prstGeom prst="roundRect">
            <a:avLst>
              <a:gd name="adj" fmla="val 9091"/>
            </a:avLst>
          </a:prstGeom>
          <a:solidFill>
            <a:srgbClr val="0B2027"/>
          </a:solidFill>
          <a:ln w="12700">
            <a:solidFill>
              <a:srgbClr val="0B2027"/>
            </a:solidFill>
            <a:prstDash val="solid"/>
          </a:ln>
        </p:spPr>
        <p:txBody>
          <a:bodyPr/>
          <a:lstStyle/>
          <a:p>
            <a:endParaRPr lang="sv-SE"/>
          </a:p>
        </p:txBody>
      </p:sp>
      <p:sp>
        <p:nvSpPr>
          <p:cNvPr id="16" name="Text 17"/>
          <p:cNvSpPr txBox="1"/>
          <p:nvPr/>
        </p:nvSpPr>
        <p:spPr>
          <a:xfrm>
            <a:off x="731520" y="4224528"/>
            <a:ext cx="7680960" cy="43891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One scan, so no real comparison yet: the project builds the method and tests it.</a:t>
            </a:r>
            <a:endParaRPr lang="en-US" sz="1200" dirty="0"/>
          </a:p>
        </p:txBody>
      </p:sp>
      <p:sp>
        <p:nvSpPr>
          <p:cNvPr id="17" name="Shape 4"/>
          <p:cNvSpPr/>
          <p:nvPr/>
        </p:nvSpPr>
        <p:spPr>
          <a:xfrm>
            <a:off x="457200" y="3364992"/>
            <a:ext cx="2624328" cy="731520"/>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19" name="Text 6"/>
          <p:cNvSpPr txBox="1"/>
          <p:nvPr/>
        </p:nvSpPr>
        <p:spPr>
          <a:xfrm>
            <a:off x="658368" y="3438144"/>
            <a:ext cx="2286000" cy="237744"/>
          </a:xfrm>
          <a:prstGeom prst="rect">
            <a:avLst/>
          </a:prstGeom>
          <a:noFill/>
          <a:ln/>
        </p:spPr>
        <p:txBody>
          <a:bodyPr wrap="square" lIns="0" tIns="0" rIns="0" bIns="0" rtlCol="0" anchor="ctr"/>
          <a:lstStyle/>
          <a:p>
            <a:pPr marL="0" indent="0">
              <a:buNone/>
            </a:pPr>
            <a:r>
              <a:rPr lang="en-US" sz="1100" b="1" dirty="0">
                <a:solidFill>
                  <a:srgbClr val="16262B"/>
                </a:solidFill>
                <a:latin typeface="Calibri" pitchFamily="34" charset="0"/>
                <a:ea typeface="Calibri" pitchFamily="34" charset="-122"/>
                <a:cs typeface="Calibri" pitchFamily="34" charset="-120"/>
              </a:rPr>
              <a:t>One LiDAR scan</a:t>
            </a:r>
            <a:endParaRPr lang="en-US" sz="1100" dirty="0"/>
          </a:p>
        </p:txBody>
      </p:sp>
      <p:sp>
        <p:nvSpPr>
          <p:cNvPr id="20" name="Text 7"/>
          <p:cNvSpPr txBox="1"/>
          <p:nvPr/>
        </p:nvSpPr>
        <p:spPr>
          <a:xfrm>
            <a:off x="658368" y="3685032"/>
            <a:ext cx="2286000" cy="347472"/>
          </a:xfrm>
          <a:prstGeom prst="rect">
            <a:avLst/>
          </a:prstGeom>
          <a:noFill/>
          <a:ln/>
        </p:spPr>
        <p:txBody>
          <a:bodyPr wrap="square" lIns="0" tIns="0" rIns="0" bIns="0" rtlCol="0" anchor="ctr"/>
          <a:lstStyle/>
          <a:p>
            <a:pPr marL="0" indent="0">
              <a:buNone/>
            </a:pPr>
            <a:r>
              <a:rPr lang="en-US" sz="900" dirty="0">
                <a:solidFill>
                  <a:srgbClr val="5F7178"/>
                </a:solidFill>
                <a:latin typeface="Calibri" pitchFamily="34" charset="0"/>
                <a:ea typeface="Calibri" pitchFamily="34" charset="-122"/>
                <a:cs typeface="Calibri" pitchFamily="34" charset="-120"/>
              </a:rPr>
              <a:t>a 3D point cloud of a stretch of double track</a:t>
            </a:r>
            <a:endParaRPr lang="en-US" sz="900" dirty="0"/>
          </a:p>
        </p:txBody>
      </p:sp>
      <p:sp>
        <p:nvSpPr>
          <p:cNvPr id="21" name="Shape 4"/>
          <p:cNvSpPr/>
          <p:nvPr/>
        </p:nvSpPr>
        <p:spPr>
          <a:xfrm>
            <a:off x="3259836" y="3364992"/>
            <a:ext cx="2624328" cy="731520"/>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23" name="Text 6"/>
          <p:cNvSpPr txBox="1"/>
          <p:nvPr/>
        </p:nvSpPr>
        <p:spPr>
          <a:xfrm>
            <a:off x="3461004" y="3438144"/>
            <a:ext cx="2286000" cy="237744"/>
          </a:xfrm>
          <a:prstGeom prst="rect">
            <a:avLst/>
          </a:prstGeom>
          <a:noFill/>
          <a:ln/>
        </p:spPr>
        <p:txBody>
          <a:bodyPr wrap="square" lIns="0" tIns="0" rIns="0" bIns="0" rtlCol="0" anchor="ctr"/>
          <a:lstStyle/>
          <a:p>
            <a:pPr marL="0" indent="0">
              <a:buNone/>
            </a:pPr>
            <a:r>
              <a:rPr lang="en-US" sz="1100" b="1" dirty="0">
                <a:solidFill>
                  <a:srgbClr val="16262B"/>
                </a:solidFill>
                <a:latin typeface="Calibri" pitchFamily="34" charset="0"/>
                <a:ea typeface="Calibri" pitchFamily="34" charset="-122"/>
                <a:cs typeface="Calibri" pitchFamily="34" charset="-120"/>
              </a:rPr>
              <a:t>No second scan</a:t>
            </a:r>
            <a:endParaRPr lang="en-US" sz="1100" dirty="0"/>
          </a:p>
        </p:txBody>
      </p:sp>
      <p:sp>
        <p:nvSpPr>
          <p:cNvPr id="24" name="Text 7"/>
          <p:cNvSpPr txBox="1"/>
          <p:nvPr/>
        </p:nvSpPr>
        <p:spPr>
          <a:xfrm>
            <a:off x="3461004" y="3685032"/>
            <a:ext cx="2286000" cy="347472"/>
          </a:xfrm>
          <a:prstGeom prst="rect">
            <a:avLst/>
          </a:prstGeom>
          <a:noFill/>
          <a:ln/>
        </p:spPr>
        <p:txBody>
          <a:bodyPr wrap="square" lIns="0" tIns="0" rIns="0" bIns="0" rtlCol="0" anchor="ctr"/>
          <a:lstStyle/>
          <a:p>
            <a:pPr marL="0" indent="0">
              <a:buNone/>
            </a:pPr>
            <a:r>
              <a:rPr lang="en-US" sz="900" dirty="0">
                <a:solidFill>
                  <a:srgbClr val="5F7178"/>
                </a:solidFill>
                <a:latin typeface="Calibri" pitchFamily="34" charset="0"/>
                <a:ea typeface="Calibri" pitchFamily="34" charset="-122"/>
                <a:cs typeface="Calibri" pitchFamily="34" charset="-120"/>
              </a:rPr>
              <a:t>so two runs of the track cannot be compared yet</a:t>
            </a:r>
            <a:endParaRPr lang="en-US" sz="900" dirty="0"/>
          </a:p>
        </p:txBody>
      </p:sp>
      <p:sp>
        <p:nvSpPr>
          <p:cNvPr id="25" name="Shape 4"/>
          <p:cNvSpPr/>
          <p:nvPr/>
        </p:nvSpPr>
        <p:spPr>
          <a:xfrm>
            <a:off x="6062472" y="3364992"/>
            <a:ext cx="2624328" cy="731520"/>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27" name="Text 6"/>
          <p:cNvSpPr txBox="1"/>
          <p:nvPr/>
        </p:nvSpPr>
        <p:spPr>
          <a:xfrm>
            <a:off x="6263640" y="3438144"/>
            <a:ext cx="2286000" cy="237744"/>
          </a:xfrm>
          <a:prstGeom prst="rect">
            <a:avLst/>
          </a:prstGeom>
          <a:noFill/>
          <a:ln/>
        </p:spPr>
        <p:txBody>
          <a:bodyPr wrap="square" lIns="0" tIns="0" rIns="0" bIns="0" rtlCol="0" anchor="ctr"/>
          <a:lstStyle/>
          <a:p>
            <a:pPr marL="0" indent="0">
              <a:buNone/>
            </a:pPr>
            <a:r>
              <a:rPr lang="en-US" sz="1100" b="1" dirty="0">
                <a:solidFill>
                  <a:srgbClr val="16262B"/>
                </a:solidFill>
                <a:latin typeface="Calibri" pitchFamily="34" charset="0"/>
                <a:ea typeface="Calibri" pitchFamily="34" charset="-122"/>
                <a:cs typeface="Calibri" pitchFamily="34" charset="-120"/>
              </a:rPr>
              <a:t>Height from the sensor</a:t>
            </a:r>
            <a:endParaRPr lang="en-US" sz="1100" dirty="0"/>
          </a:p>
        </p:txBody>
      </p:sp>
      <p:sp>
        <p:nvSpPr>
          <p:cNvPr id="28" name="Text 7"/>
          <p:cNvSpPr txBox="1"/>
          <p:nvPr/>
        </p:nvSpPr>
        <p:spPr>
          <a:xfrm>
            <a:off x="6263640" y="3685032"/>
            <a:ext cx="2286000" cy="347472"/>
          </a:xfrm>
          <a:prstGeom prst="rect">
            <a:avLst/>
          </a:prstGeom>
          <a:noFill/>
          <a:ln/>
        </p:spPr>
        <p:txBody>
          <a:bodyPr wrap="square" lIns="0" tIns="0" rIns="0" bIns="0" rtlCol="0" anchor="ctr"/>
          <a:lstStyle/>
          <a:p>
            <a:pPr marL="0" indent="0">
              <a:buNone/>
            </a:pPr>
            <a:r>
              <a:rPr lang="en-US" sz="900" dirty="0">
                <a:solidFill>
                  <a:srgbClr val="5F7178"/>
                </a:solidFill>
                <a:latin typeface="Calibri" pitchFamily="34" charset="0"/>
                <a:ea typeface="Calibri" pitchFamily="34" charset="-122"/>
                <a:cs typeface="Calibri" pitchFamily="34" charset="-120"/>
              </a:rPr>
              <a:t>so gauge and alignment can be followed; height only for short dips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One scan becomes one repeatable 3D curve</a:t>
            </a:r>
            <a:endParaRPr lang="en-US" sz="2700" dirty="0"/>
          </a:p>
        </p:txBody>
      </p:sp>
      <p:sp>
        <p:nvSpPr>
          <p:cNvPr id="4" name="Shape 2"/>
          <p:cNvSpPr/>
          <p:nvPr/>
        </p:nvSpPr>
        <p:spPr>
          <a:xfrm>
            <a:off x="457200" y="1325880"/>
            <a:ext cx="384048" cy="384048"/>
          </a:xfrm>
          <a:prstGeom prst="ellipse">
            <a:avLst/>
          </a:prstGeom>
          <a:solidFill>
            <a:srgbClr val="028090"/>
          </a:solidFill>
          <a:ln w="12700">
            <a:solidFill>
              <a:srgbClr val="028090"/>
            </a:solidFill>
            <a:prstDash val="solid"/>
          </a:ln>
        </p:spPr>
        <p:txBody>
          <a:bodyPr/>
          <a:lstStyle/>
          <a:p>
            <a:endParaRPr lang="sv-SE"/>
          </a:p>
        </p:txBody>
      </p:sp>
      <p:sp>
        <p:nvSpPr>
          <p:cNvPr id="5" name="Text 3"/>
          <p:cNvSpPr txBox="1"/>
          <p:nvPr/>
        </p:nvSpPr>
        <p:spPr>
          <a:xfrm>
            <a:off x="457200" y="13258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05840" y="1316736"/>
            <a:ext cx="146304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Reference line</a:t>
            </a:r>
            <a:endParaRPr lang="en-US" sz="1400" dirty="0"/>
          </a:p>
        </p:txBody>
      </p:sp>
      <p:sp>
        <p:nvSpPr>
          <p:cNvPr id="7" name="Text 5"/>
          <p:cNvSpPr txBox="1"/>
          <p:nvPr/>
        </p:nvSpPr>
        <p:spPr>
          <a:xfrm>
            <a:off x="2514600" y="1307592"/>
            <a:ext cx="214884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one fixed line along the track; every run is projected onto it</a:t>
            </a:r>
            <a:endParaRPr lang="en-US" sz="1100" dirty="0"/>
          </a:p>
        </p:txBody>
      </p:sp>
      <p:sp>
        <p:nvSpPr>
          <p:cNvPr id="8" name="Shape 2"/>
          <p:cNvSpPr/>
          <p:nvPr/>
        </p:nvSpPr>
        <p:spPr>
          <a:xfrm>
            <a:off x="457200" y="1929384"/>
            <a:ext cx="384048" cy="384048"/>
          </a:xfrm>
          <a:prstGeom prst="ellipse">
            <a:avLst/>
          </a:prstGeom>
          <a:solidFill>
            <a:srgbClr val="028090"/>
          </a:solidFill>
          <a:ln w="12700">
            <a:solidFill>
              <a:srgbClr val="028090"/>
            </a:solidFill>
            <a:prstDash val="solid"/>
          </a:ln>
        </p:spPr>
        <p:txBody>
          <a:bodyPr/>
          <a:lstStyle/>
          <a:p>
            <a:endParaRPr lang="sv-SE"/>
          </a:p>
        </p:txBody>
      </p:sp>
      <p:sp>
        <p:nvSpPr>
          <p:cNvPr id="9" name="Text 3"/>
          <p:cNvSpPr txBox="1"/>
          <p:nvPr/>
        </p:nvSpPr>
        <p:spPr>
          <a:xfrm>
            <a:off x="457200" y="192938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4"/>
          <p:cNvSpPr txBox="1"/>
          <p:nvPr/>
        </p:nvSpPr>
        <p:spPr>
          <a:xfrm>
            <a:off x="1005840" y="1920240"/>
            <a:ext cx="146304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Rail heads</a:t>
            </a:r>
            <a:endParaRPr lang="en-US" sz="1400" dirty="0"/>
          </a:p>
        </p:txBody>
      </p:sp>
      <p:sp>
        <p:nvSpPr>
          <p:cNvPr id="11" name="Text 5"/>
          <p:cNvSpPr txBox="1"/>
          <p:nvPr/>
        </p:nvSpPr>
        <p:spPr>
          <a:xfrm>
            <a:off x="2514600" y="1911095"/>
            <a:ext cx="214884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in every short slab, find the top of each rail and its inner face</a:t>
            </a:r>
            <a:endParaRPr lang="en-US" sz="1100" dirty="0"/>
          </a:p>
        </p:txBody>
      </p:sp>
      <p:sp>
        <p:nvSpPr>
          <p:cNvPr id="12" name="Shape 2"/>
          <p:cNvSpPr/>
          <p:nvPr/>
        </p:nvSpPr>
        <p:spPr>
          <a:xfrm>
            <a:off x="457200" y="2532888"/>
            <a:ext cx="384048" cy="384048"/>
          </a:xfrm>
          <a:prstGeom prst="ellipse">
            <a:avLst/>
          </a:prstGeom>
          <a:solidFill>
            <a:srgbClr val="028090"/>
          </a:solidFill>
          <a:ln w="12700">
            <a:solidFill>
              <a:srgbClr val="028090"/>
            </a:solidFill>
            <a:prstDash val="solid"/>
          </a:ln>
        </p:spPr>
        <p:txBody>
          <a:bodyPr/>
          <a:lstStyle/>
          <a:p>
            <a:endParaRPr lang="sv-SE"/>
          </a:p>
        </p:txBody>
      </p:sp>
      <p:sp>
        <p:nvSpPr>
          <p:cNvPr id="13" name="Text 3"/>
          <p:cNvSpPr txBox="1"/>
          <p:nvPr/>
        </p:nvSpPr>
        <p:spPr>
          <a:xfrm>
            <a:off x="457200" y="253288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4"/>
          <p:cNvSpPr txBox="1"/>
          <p:nvPr/>
        </p:nvSpPr>
        <p:spPr>
          <a:xfrm>
            <a:off x="1005840" y="2523744"/>
            <a:ext cx="146304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Control points</a:t>
            </a:r>
            <a:endParaRPr lang="en-US" sz="1400" dirty="0"/>
          </a:p>
        </p:txBody>
      </p:sp>
      <p:sp>
        <p:nvSpPr>
          <p:cNvPr id="15" name="Text 5"/>
          <p:cNvSpPr txBox="1"/>
          <p:nvPr/>
        </p:nvSpPr>
        <p:spPr>
          <a:xfrm>
            <a:off x="2514600" y="2514600"/>
            <a:ext cx="214884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average the slabs at regular steps along the track</a:t>
            </a:r>
            <a:endParaRPr lang="en-US" sz="1100" dirty="0"/>
          </a:p>
        </p:txBody>
      </p:sp>
      <p:sp>
        <p:nvSpPr>
          <p:cNvPr id="16" name="Shape 2"/>
          <p:cNvSpPr/>
          <p:nvPr/>
        </p:nvSpPr>
        <p:spPr>
          <a:xfrm>
            <a:off x="457200" y="3136391"/>
            <a:ext cx="384048" cy="384048"/>
          </a:xfrm>
          <a:prstGeom prst="ellipse">
            <a:avLst/>
          </a:prstGeom>
          <a:solidFill>
            <a:srgbClr val="028090"/>
          </a:solidFill>
          <a:ln w="12700">
            <a:solidFill>
              <a:srgbClr val="028090"/>
            </a:solidFill>
            <a:prstDash val="solid"/>
          </a:ln>
        </p:spPr>
        <p:txBody>
          <a:bodyPr/>
          <a:lstStyle/>
          <a:p>
            <a:endParaRPr lang="sv-SE"/>
          </a:p>
        </p:txBody>
      </p:sp>
      <p:sp>
        <p:nvSpPr>
          <p:cNvPr id="17" name="Text 3"/>
          <p:cNvSpPr txBox="1"/>
          <p:nvPr/>
        </p:nvSpPr>
        <p:spPr>
          <a:xfrm>
            <a:off x="457200" y="3136391"/>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4"/>
          <p:cNvSpPr txBox="1"/>
          <p:nvPr/>
        </p:nvSpPr>
        <p:spPr>
          <a:xfrm>
            <a:off x="1005840" y="3127248"/>
            <a:ext cx="146304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Catmull-Rom</a:t>
            </a:r>
            <a:endParaRPr lang="en-US" sz="1400" dirty="0"/>
          </a:p>
        </p:txBody>
      </p:sp>
      <p:sp>
        <p:nvSpPr>
          <p:cNvPr id="19" name="Text 5"/>
          <p:cNvSpPr txBox="1"/>
          <p:nvPr/>
        </p:nvSpPr>
        <p:spPr>
          <a:xfrm>
            <a:off x="2514600" y="3118103"/>
            <a:ext cx="214884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a smooth curve through every control point; a change stays local</a:t>
            </a:r>
            <a:endParaRPr lang="en-US" sz="1100" dirty="0"/>
          </a:p>
        </p:txBody>
      </p:sp>
      <p:sp>
        <p:nvSpPr>
          <p:cNvPr id="20" name="Shape 2"/>
          <p:cNvSpPr/>
          <p:nvPr/>
        </p:nvSpPr>
        <p:spPr>
          <a:xfrm>
            <a:off x="457200" y="3739896"/>
            <a:ext cx="384048" cy="384048"/>
          </a:xfrm>
          <a:prstGeom prst="ellipse">
            <a:avLst/>
          </a:prstGeom>
          <a:solidFill>
            <a:srgbClr val="028090"/>
          </a:solidFill>
          <a:ln w="12700">
            <a:solidFill>
              <a:srgbClr val="028090"/>
            </a:solidFill>
            <a:prstDash val="solid"/>
          </a:ln>
        </p:spPr>
        <p:txBody>
          <a:bodyPr/>
          <a:lstStyle/>
          <a:p>
            <a:endParaRPr lang="sv-SE"/>
          </a:p>
        </p:txBody>
      </p:sp>
      <p:sp>
        <p:nvSpPr>
          <p:cNvPr id="21" name="Text 3"/>
          <p:cNvSpPr txBox="1"/>
          <p:nvPr/>
        </p:nvSpPr>
        <p:spPr>
          <a:xfrm>
            <a:off x="457200" y="373989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4"/>
          <p:cNvSpPr txBox="1"/>
          <p:nvPr/>
        </p:nvSpPr>
        <p:spPr>
          <a:xfrm>
            <a:off x="1005840" y="3730752"/>
            <a:ext cx="146304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Read off</a:t>
            </a:r>
            <a:endParaRPr lang="en-US" sz="1400" dirty="0"/>
          </a:p>
        </p:txBody>
      </p:sp>
      <p:sp>
        <p:nvSpPr>
          <p:cNvPr id="23" name="Text 5"/>
          <p:cNvSpPr txBox="1"/>
          <p:nvPr/>
        </p:nvSpPr>
        <p:spPr>
          <a:xfrm>
            <a:off x="2514600" y="3721608"/>
            <a:ext cx="214884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gauge, alignment and the index per section, from the same curve</a:t>
            </a:r>
            <a:endParaRPr lang="en-US" sz="1100" dirty="0"/>
          </a:p>
        </p:txBody>
      </p:sp>
      <p:pic>
        <p:nvPicPr>
          <p:cNvPr id="24" name="Picture 23" descr="f6_catmull_rom.png"/>
          <p:cNvPicPr>
            <a:picLocks noChangeAspect="1"/>
          </p:cNvPicPr>
          <p:nvPr/>
        </p:nvPicPr>
        <p:blipFill>
          <a:blip r:embed="rId2"/>
          <a:stretch>
            <a:fillRect/>
          </a:stretch>
        </p:blipFill>
        <p:spPr>
          <a:xfrm>
            <a:off x="4846320" y="1234440"/>
            <a:ext cx="3840480" cy="2618509"/>
          </a:xfrm>
          <a:prstGeom prst="rect">
            <a:avLst/>
          </a:prstGeom>
        </p:spPr>
      </p:pic>
      <p:sp>
        <p:nvSpPr>
          <p:cNvPr id="25" name="Text 3"/>
          <p:cNvSpPr txBox="1"/>
          <p:nvPr/>
        </p:nvSpPr>
        <p:spPr>
          <a:xfrm>
            <a:off x="4846320" y="3950208"/>
            <a:ext cx="3840480" cy="365760"/>
          </a:xfrm>
          <a:prstGeom prst="rect">
            <a:avLst/>
          </a:prstGeom>
          <a:noFill/>
          <a:ln/>
        </p:spPr>
        <p:txBody>
          <a:bodyPr wrap="square" lIns="0" tIns="0" rIns="0" bIns="0" rtlCol="0" anchor="ctr"/>
          <a:lstStyle/>
          <a:p>
            <a:pPr marL="0" indent="0">
              <a:buNone/>
            </a:pPr>
            <a:r>
              <a:rPr lang="en-US" sz="950" i="1" dirty="0">
                <a:solidFill>
                  <a:srgbClr val="5F7178"/>
                </a:solidFill>
                <a:latin typeface="Calibri" pitchFamily="34" charset="0"/>
                <a:ea typeface="Calibri" pitchFamily="34" charset="-122"/>
                <a:cs typeface="Calibri" pitchFamily="34" charset="-120"/>
              </a:rPr>
              <a:t>A curve through every raw measurement copies the noise; one through the control points does not.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TEST PLAN</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How the method is tested with one scan</a:t>
            </a:r>
            <a:endParaRPr lang="en-US" sz="2700" dirty="0"/>
          </a:p>
        </p:txBody>
      </p:sp>
      <p:sp>
        <p:nvSpPr>
          <p:cNvPr id="5" name="Text 3"/>
          <p:cNvSpPr txBox="1"/>
          <p:nvPr/>
        </p:nvSpPr>
        <p:spPr>
          <a:xfrm>
            <a:off x="457200" y="3913632"/>
            <a:ext cx="4572000" cy="365760"/>
          </a:xfrm>
          <a:prstGeom prst="rect">
            <a:avLst/>
          </a:prstGeom>
          <a:noFill/>
          <a:ln/>
        </p:spPr>
        <p:txBody>
          <a:bodyPr wrap="square" lIns="0" tIns="0" rIns="0" bIns="0" rtlCol="0" anchor="ctr"/>
          <a:lstStyle/>
          <a:p>
            <a:pPr marL="0" indent="0">
              <a:buNone/>
            </a:pPr>
            <a:r>
              <a:rPr lang="en-US" sz="950" i="1" dirty="0">
                <a:solidFill>
                  <a:srgbClr val="5F7178"/>
                </a:solidFill>
                <a:latin typeface="Calibri" pitchFamily="34" charset="0"/>
                <a:ea typeface="Calibri" pitchFamily="34" charset="-122"/>
                <a:cs typeface="Calibri" pitchFamily="34" charset="-120"/>
              </a:rPr>
              <a:t>Also tried: control points closer together or further apart, to see what the curve keeps and what it smooths away.</a:t>
            </a:r>
            <a:endParaRPr lang="en-US" sz="950" dirty="0"/>
          </a:p>
        </p:txBody>
      </p:sp>
      <p:sp>
        <p:nvSpPr>
          <p:cNvPr id="6" name="Shape 4"/>
          <p:cNvSpPr/>
          <p:nvPr/>
        </p:nvSpPr>
        <p:spPr>
          <a:xfrm>
            <a:off x="5440680" y="1280160"/>
            <a:ext cx="3246120" cy="877824"/>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7" name="Text 5"/>
          <p:cNvSpPr txBox="1"/>
          <p:nvPr/>
        </p:nvSpPr>
        <p:spPr>
          <a:xfrm>
            <a:off x="5550408" y="1280160"/>
            <a:ext cx="1371600" cy="877824"/>
          </a:xfrm>
          <a:prstGeom prst="rect">
            <a:avLst/>
          </a:prstGeom>
          <a:noFill/>
          <a:ln/>
        </p:spPr>
        <p:txBody>
          <a:bodyPr wrap="square" lIns="0" tIns="0" rIns="0" bIns="0" rtlCol="0" anchor="ctr"/>
          <a:lstStyle/>
          <a:p>
            <a:pPr marL="0" indent="0" algn="ctr">
              <a:buNone/>
            </a:pPr>
            <a:r>
              <a:rPr lang="en-US" sz="1500" b="1" dirty="0">
                <a:solidFill>
                  <a:srgbClr val="028090"/>
                </a:solidFill>
                <a:latin typeface="Cambria" pitchFamily="34" charset="0"/>
                <a:ea typeface="Cambria" pitchFamily="34" charset="-122"/>
                <a:cs typeface="Cambria" pitchFamily="34" charset="-120"/>
              </a:rPr>
              <a:t>Repeat</a:t>
            </a:r>
            <a:endParaRPr lang="en-US" sz="1800" dirty="0"/>
          </a:p>
        </p:txBody>
      </p:sp>
      <p:sp>
        <p:nvSpPr>
          <p:cNvPr id="8" name="Text 6"/>
          <p:cNvSpPr txBox="1"/>
          <p:nvPr/>
        </p:nvSpPr>
        <p:spPr>
          <a:xfrm>
            <a:off x="6995160" y="1353312"/>
            <a:ext cx="1600199" cy="237744"/>
          </a:xfrm>
          <a:prstGeom prst="rect">
            <a:avLst/>
          </a:prstGeom>
          <a:noFill/>
          <a:ln/>
        </p:spPr>
        <p:txBody>
          <a:bodyPr wrap="square" lIns="0" tIns="0" rIns="0" bIns="0" rtlCol="0" anchor="ctr"/>
          <a:lstStyle/>
          <a:p>
            <a:pPr marL="0" indent="0">
              <a:buNone/>
            </a:pPr>
            <a:r>
              <a:rPr lang="en-US" sz="1100" b="1" dirty="0">
                <a:solidFill>
                  <a:srgbClr val="16262B"/>
                </a:solidFill>
                <a:latin typeface="Calibri" pitchFamily="34" charset="0"/>
                <a:ea typeface="Calibri" pitchFamily="34" charset="-122"/>
                <a:cs typeface="Calibri" pitchFamily="34" charset="-120"/>
              </a:rPr>
              <a:t>the same points, twice</a:t>
            </a:r>
            <a:endParaRPr lang="en-US" sz="1100" dirty="0"/>
          </a:p>
        </p:txBody>
      </p:sp>
      <p:sp>
        <p:nvSpPr>
          <p:cNvPr id="9" name="Text 7"/>
          <p:cNvSpPr txBox="1"/>
          <p:nvPr/>
        </p:nvSpPr>
        <p:spPr>
          <a:xfrm>
            <a:off x="6995160" y="1591056"/>
            <a:ext cx="1600199" cy="512063"/>
          </a:xfrm>
          <a:prstGeom prst="rect">
            <a:avLst/>
          </a:prstGeom>
          <a:noFill/>
          <a:ln/>
        </p:spPr>
        <p:txBody>
          <a:bodyPr wrap="square" lIns="0" tIns="0" rIns="0" bIns="0" rtlCol="0" anchor="ctr"/>
          <a:lstStyle/>
          <a:p>
            <a:pPr marL="0" indent="0">
              <a:buNone/>
            </a:pPr>
            <a:r>
              <a:rPr lang="en-US" sz="900" dirty="0">
                <a:solidFill>
                  <a:srgbClr val="5F7178"/>
                </a:solidFill>
                <a:latin typeface="Calibri" pitchFamily="34" charset="0"/>
                <a:ea typeface="Calibri" pitchFamily="34" charset="-122"/>
                <a:cs typeface="Calibri" pitchFamily="34" charset="-120"/>
              </a:rPr>
              <a:t>the same scan must give exactly the same curve</a:t>
            </a:r>
            <a:endParaRPr lang="en-US" sz="900" dirty="0"/>
          </a:p>
        </p:txBody>
      </p:sp>
      <p:sp>
        <p:nvSpPr>
          <p:cNvPr id="10" name="Shape 4"/>
          <p:cNvSpPr/>
          <p:nvPr/>
        </p:nvSpPr>
        <p:spPr>
          <a:xfrm>
            <a:off x="5440680" y="2249424"/>
            <a:ext cx="3246120" cy="877824"/>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11" name="Text 5"/>
          <p:cNvSpPr txBox="1"/>
          <p:nvPr/>
        </p:nvSpPr>
        <p:spPr>
          <a:xfrm>
            <a:off x="5550408" y="2249424"/>
            <a:ext cx="1371600" cy="877824"/>
          </a:xfrm>
          <a:prstGeom prst="rect">
            <a:avLst/>
          </a:prstGeom>
          <a:noFill/>
          <a:ln/>
        </p:spPr>
        <p:txBody>
          <a:bodyPr wrap="square" lIns="0" tIns="0" rIns="0" bIns="0" rtlCol="0" anchor="ctr"/>
          <a:lstStyle/>
          <a:p>
            <a:pPr marL="0" indent="0" algn="ctr">
              <a:buNone/>
            </a:pPr>
            <a:r>
              <a:rPr lang="en-US" sz="1500" b="1" dirty="0">
                <a:solidFill>
                  <a:srgbClr val="028090"/>
                </a:solidFill>
                <a:latin typeface="Cambria" pitchFamily="34" charset="0"/>
                <a:ea typeface="Cambria" pitchFamily="34" charset="-122"/>
                <a:cs typeface="Cambria" pitchFamily="34" charset="-120"/>
              </a:rPr>
              <a:t>Noise</a:t>
            </a:r>
            <a:endParaRPr lang="en-US" sz="1800" dirty="0"/>
          </a:p>
        </p:txBody>
      </p:sp>
      <p:sp>
        <p:nvSpPr>
          <p:cNvPr id="12" name="Text 6"/>
          <p:cNvSpPr txBox="1"/>
          <p:nvPr/>
        </p:nvSpPr>
        <p:spPr>
          <a:xfrm>
            <a:off x="6995160" y="2322576"/>
            <a:ext cx="1600199" cy="237744"/>
          </a:xfrm>
          <a:prstGeom prst="rect">
            <a:avLst/>
          </a:prstGeom>
          <a:noFill/>
          <a:ln/>
        </p:spPr>
        <p:txBody>
          <a:bodyPr wrap="square" lIns="0" tIns="0" rIns="0" bIns="0" rtlCol="0" anchor="ctr"/>
          <a:lstStyle/>
          <a:p>
            <a:pPr marL="0" indent="0">
              <a:buNone/>
            </a:pPr>
            <a:r>
              <a:rPr lang="en-US" sz="1100" b="1" dirty="0">
                <a:solidFill>
                  <a:srgbClr val="16262B"/>
                </a:solidFill>
                <a:latin typeface="Calibri" pitchFamily="34" charset="0"/>
                <a:ea typeface="Calibri" pitchFamily="34" charset="-122"/>
                <a:cs typeface="Calibri" pitchFamily="34" charset="-120"/>
              </a:rPr>
              <a:t>Scan 1 against Scan 2</a:t>
            </a:r>
            <a:endParaRPr lang="en-US" sz="1100" dirty="0"/>
          </a:p>
        </p:txBody>
      </p:sp>
      <p:sp>
        <p:nvSpPr>
          <p:cNvPr id="13" name="Text 7"/>
          <p:cNvSpPr txBox="1"/>
          <p:nvPr/>
        </p:nvSpPr>
        <p:spPr>
          <a:xfrm>
            <a:off x="6995160" y="2560320"/>
            <a:ext cx="1600199" cy="512063"/>
          </a:xfrm>
          <a:prstGeom prst="rect">
            <a:avLst/>
          </a:prstGeom>
          <a:noFill/>
          <a:ln/>
        </p:spPr>
        <p:txBody>
          <a:bodyPr wrap="square" lIns="0" tIns="0" rIns="0" bIns="0" rtlCol="0" anchor="ctr"/>
          <a:lstStyle/>
          <a:p>
            <a:pPr marL="0" indent="0">
              <a:buNone/>
            </a:pPr>
            <a:r>
              <a:rPr lang="en-US" sz="900" dirty="0">
                <a:solidFill>
                  <a:srgbClr val="5F7178"/>
                </a:solidFill>
                <a:latin typeface="Calibri" pitchFamily="34" charset="0"/>
                <a:ea typeface="Calibri" pitchFamily="34" charset="-122"/>
                <a:cs typeface="Calibri" pitchFamily="34" charset="-120"/>
              </a:rPr>
              <a:t>nothing changed, so the difference is the method's own noise</a:t>
            </a:r>
            <a:endParaRPr lang="en-US" sz="900" dirty="0"/>
          </a:p>
        </p:txBody>
      </p:sp>
      <p:sp>
        <p:nvSpPr>
          <p:cNvPr id="14" name="Shape 4"/>
          <p:cNvSpPr/>
          <p:nvPr/>
        </p:nvSpPr>
        <p:spPr>
          <a:xfrm>
            <a:off x="5440680" y="3218688"/>
            <a:ext cx="3246120" cy="877824"/>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15" name="Text 5"/>
          <p:cNvSpPr txBox="1"/>
          <p:nvPr/>
        </p:nvSpPr>
        <p:spPr>
          <a:xfrm>
            <a:off x="5550408" y="3218688"/>
            <a:ext cx="1371600" cy="877824"/>
          </a:xfrm>
          <a:prstGeom prst="rect">
            <a:avLst/>
          </a:prstGeom>
          <a:noFill/>
          <a:ln/>
        </p:spPr>
        <p:txBody>
          <a:bodyPr wrap="square" lIns="0" tIns="0" rIns="0" bIns="0" rtlCol="0" anchor="ctr"/>
          <a:lstStyle/>
          <a:p>
            <a:pPr marL="0" indent="0" algn="ctr">
              <a:buNone/>
            </a:pPr>
            <a:r>
              <a:rPr lang="en-US" sz="1500" b="1" dirty="0">
                <a:solidFill>
                  <a:srgbClr val="028090"/>
                </a:solidFill>
                <a:latin typeface="Cambria" pitchFamily="34" charset="0"/>
                <a:ea typeface="Cambria" pitchFamily="34" charset="-122"/>
                <a:cs typeface="Cambria" pitchFamily="34" charset="-120"/>
              </a:rPr>
              <a:t>Faults</a:t>
            </a:r>
            <a:endParaRPr lang="en-US" sz="1800" dirty="0"/>
          </a:p>
        </p:txBody>
      </p:sp>
      <p:sp>
        <p:nvSpPr>
          <p:cNvPr id="16" name="Text 6"/>
          <p:cNvSpPr txBox="1"/>
          <p:nvPr/>
        </p:nvSpPr>
        <p:spPr>
          <a:xfrm>
            <a:off x="6995160" y="3291840"/>
            <a:ext cx="1600199" cy="237744"/>
          </a:xfrm>
          <a:prstGeom prst="rect">
            <a:avLst/>
          </a:prstGeom>
          <a:noFill/>
          <a:ln/>
        </p:spPr>
        <p:txBody>
          <a:bodyPr wrap="square" lIns="0" tIns="0" rIns="0" bIns="0" rtlCol="0" anchor="ctr"/>
          <a:lstStyle/>
          <a:p>
            <a:pPr marL="0" indent="0">
              <a:buNone/>
            </a:pPr>
            <a:r>
              <a:rPr lang="en-US" sz="1100" b="1" dirty="0">
                <a:solidFill>
                  <a:srgbClr val="16262B"/>
                </a:solidFill>
                <a:latin typeface="Calibri" pitchFamily="34" charset="0"/>
                <a:ea typeface="Calibri" pitchFamily="34" charset="-122"/>
                <a:cs typeface="Calibri" pitchFamily="34" charset="-120"/>
              </a:rPr>
              <a:t>known faults planted in Scan 2</a:t>
            </a:r>
            <a:endParaRPr lang="en-US" sz="1100" dirty="0"/>
          </a:p>
        </p:txBody>
      </p:sp>
      <p:sp>
        <p:nvSpPr>
          <p:cNvPr id="17" name="Text 7"/>
          <p:cNvSpPr txBox="1"/>
          <p:nvPr/>
        </p:nvSpPr>
        <p:spPr>
          <a:xfrm>
            <a:off x="6995160" y="3529584"/>
            <a:ext cx="1600199" cy="512063"/>
          </a:xfrm>
          <a:prstGeom prst="rect">
            <a:avLst/>
          </a:prstGeom>
          <a:noFill/>
          <a:ln/>
        </p:spPr>
        <p:txBody>
          <a:bodyPr wrap="square" lIns="0" tIns="0" rIns="0" bIns="0" rtlCol="0" anchor="ctr"/>
          <a:lstStyle/>
          <a:p>
            <a:pPr marL="0" indent="0">
              <a:buNone/>
            </a:pPr>
            <a:r>
              <a:rPr lang="en-US" sz="900" dirty="0">
                <a:solidFill>
                  <a:srgbClr val="5F7178"/>
                </a:solidFill>
                <a:latin typeface="Calibri" pitchFamily="34" charset="0"/>
                <a:ea typeface="Calibri" pitchFamily="34" charset="-122"/>
                <a:cs typeface="Calibri" pitchFamily="34" charset="-120"/>
              </a:rPr>
              <a:t>a widening, a dipped joint, a twist, a cross-level step: found, at their size?</a:t>
            </a:r>
            <a:endParaRPr lang="en-US" sz="900" dirty="0"/>
          </a:p>
        </p:txBody>
      </p:sp>
      <p:sp>
        <p:nvSpPr>
          <p:cNvPr id="18" name="Shape 4"/>
          <p:cNvSpPr/>
          <p:nvPr/>
        </p:nvSpPr>
        <p:spPr>
          <a:xfrm>
            <a:off x="457200" y="2450592"/>
            <a:ext cx="1051560" cy="914400"/>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19" name="Text 6"/>
          <p:cNvSpPr txBox="1"/>
          <p:nvPr/>
        </p:nvSpPr>
        <p:spPr>
          <a:xfrm>
            <a:off x="457200" y="2523744"/>
            <a:ext cx="1051560" cy="274320"/>
          </a:xfrm>
          <a:prstGeom prst="rect">
            <a:avLst/>
          </a:prstGeom>
          <a:noFill/>
          <a:ln/>
        </p:spPr>
        <p:txBody>
          <a:bodyPr wrap="square" lIns="0" tIns="0" rIns="0" bIns="0" rtlCol="0" anchor="ctr"/>
          <a:lstStyle/>
          <a:p>
            <a:pPr marL="0" indent="0" algn="ctr">
              <a:buNone/>
            </a:pPr>
            <a:r>
              <a:rPr lang="en-US" sz="1200" b="1" dirty="0">
                <a:solidFill>
                  <a:srgbClr val="16262B"/>
                </a:solidFill>
                <a:latin typeface="Calibri" pitchFamily="34" charset="0"/>
                <a:ea typeface="Calibri" pitchFamily="34" charset="-122"/>
                <a:cs typeface="Calibri" pitchFamily="34" charset="-120"/>
              </a:rPr>
              <a:t>One scan</a:t>
            </a:r>
            <a:endParaRPr lang="en-US" sz="1100" dirty="0"/>
          </a:p>
        </p:txBody>
      </p:sp>
      <p:sp>
        <p:nvSpPr>
          <p:cNvPr id="20" name="Text 7"/>
          <p:cNvSpPr txBox="1"/>
          <p:nvPr/>
        </p:nvSpPr>
        <p:spPr>
          <a:xfrm>
            <a:off x="502920" y="2798064"/>
            <a:ext cx="960119" cy="384048"/>
          </a:xfrm>
          <a:prstGeom prst="rect">
            <a:avLst/>
          </a:prstGeom>
          <a:noFill/>
          <a:ln/>
        </p:spPr>
        <p:txBody>
          <a:bodyPr wrap="square" lIns="0" tIns="0" rIns="0" bIns="0" rtlCol="0" anchor="ctr"/>
          <a:lstStyle/>
          <a:p>
            <a:pPr marL="0" indent="0" algn="ctr">
              <a:buNone/>
            </a:pPr>
            <a:r>
              <a:rPr lang="en-US" sz="900" dirty="0">
                <a:solidFill>
                  <a:srgbClr val="5F7178"/>
                </a:solidFill>
                <a:latin typeface="Calibri" pitchFamily="34" charset="0"/>
                <a:ea typeface="Calibri" pitchFamily="34" charset="-122"/>
                <a:cs typeface="Calibri" pitchFamily="34" charset="-120"/>
              </a:rPr>
              <a:t>all its points</a:t>
            </a:r>
            <a:endParaRPr lang="en-US" sz="900" dirty="0"/>
          </a:p>
        </p:txBody>
      </p:sp>
      <p:sp>
        <p:nvSpPr>
          <p:cNvPr id="21" name="Shape 4"/>
          <p:cNvSpPr/>
          <p:nvPr/>
        </p:nvSpPr>
        <p:spPr>
          <a:xfrm>
            <a:off x="2057400" y="2084831"/>
            <a:ext cx="1371600" cy="786384"/>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22" name="Text 6"/>
          <p:cNvSpPr txBox="1"/>
          <p:nvPr/>
        </p:nvSpPr>
        <p:spPr>
          <a:xfrm>
            <a:off x="2057400" y="2157984"/>
            <a:ext cx="1371600" cy="274320"/>
          </a:xfrm>
          <a:prstGeom prst="rect">
            <a:avLst/>
          </a:prstGeom>
          <a:noFill/>
          <a:ln/>
        </p:spPr>
        <p:txBody>
          <a:bodyPr wrap="square" lIns="0" tIns="0" rIns="0" bIns="0" rtlCol="0" anchor="ctr"/>
          <a:lstStyle/>
          <a:p>
            <a:pPr marL="0" indent="0" algn="ctr">
              <a:buNone/>
            </a:pPr>
            <a:r>
              <a:rPr lang="en-US" sz="1200" b="1" dirty="0">
                <a:solidFill>
                  <a:srgbClr val="16262B"/>
                </a:solidFill>
                <a:latin typeface="Calibri" pitchFamily="34" charset="0"/>
                <a:ea typeface="Calibri" pitchFamily="34" charset="-122"/>
                <a:cs typeface="Calibri" pitchFamily="34" charset="-120"/>
              </a:rPr>
              <a:t>Scan 1</a:t>
            </a:r>
            <a:endParaRPr lang="en-US" sz="1100" dirty="0"/>
          </a:p>
        </p:txBody>
      </p:sp>
      <p:sp>
        <p:nvSpPr>
          <p:cNvPr id="23" name="Text 7"/>
          <p:cNvSpPr txBox="1"/>
          <p:nvPr/>
        </p:nvSpPr>
        <p:spPr>
          <a:xfrm>
            <a:off x="2103120" y="2432303"/>
            <a:ext cx="1280160" cy="384048"/>
          </a:xfrm>
          <a:prstGeom prst="rect">
            <a:avLst/>
          </a:prstGeom>
          <a:noFill/>
          <a:ln/>
        </p:spPr>
        <p:txBody>
          <a:bodyPr wrap="square" lIns="0" tIns="0" rIns="0" bIns="0" rtlCol="0" anchor="ctr"/>
          <a:lstStyle/>
          <a:p>
            <a:pPr marL="0" indent="0" algn="ctr">
              <a:buNone/>
            </a:pPr>
            <a:r>
              <a:rPr lang="en-US" sz="900" dirty="0">
                <a:solidFill>
                  <a:srgbClr val="5F7178"/>
                </a:solidFill>
                <a:latin typeface="Calibri" pitchFamily="34" charset="0"/>
                <a:ea typeface="Calibri" pitchFamily="34" charset="-122"/>
                <a:cs typeface="Calibri" pitchFamily="34" charset="-120"/>
              </a:rPr>
              <a:t>every other handful of points</a:t>
            </a:r>
            <a:endParaRPr lang="en-US" sz="900" dirty="0"/>
          </a:p>
        </p:txBody>
      </p:sp>
      <p:sp>
        <p:nvSpPr>
          <p:cNvPr id="24" name="Shape 4"/>
          <p:cNvSpPr/>
          <p:nvPr/>
        </p:nvSpPr>
        <p:spPr>
          <a:xfrm>
            <a:off x="2057400" y="2962656"/>
            <a:ext cx="1371600" cy="786384"/>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25" name="Text 6"/>
          <p:cNvSpPr txBox="1"/>
          <p:nvPr/>
        </p:nvSpPr>
        <p:spPr>
          <a:xfrm>
            <a:off x="2057400" y="3035808"/>
            <a:ext cx="1371600" cy="274320"/>
          </a:xfrm>
          <a:prstGeom prst="rect">
            <a:avLst/>
          </a:prstGeom>
          <a:noFill/>
          <a:ln/>
        </p:spPr>
        <p:txBody>
          <a:bodyPr wrap="square" lIns="0" tIns="0" rIns="0" bIns="0" rtlCol="0" anchor="ctr"/>
          <a:lstStyle/>
          <a:p>
            <a:pPr marL="0" indent="0" algn="ctr">
              <a:buNone/>
            </a:pPr>
            <a:r>
              <a:rPr lang="en-US" sz="1200" b="1" dirty="0">
                <a:solidFill>
                  <a:srgbClr val="16262B"/>
                </a:solidFill>
                <a:latin typeface="Calibri" pitchFamily="34" charset="0"/>
                <a:ea typeface="Calibri" pitchFamily="34" charset="-122"/>
                <a:cs typeface="Calibri" pitchFamily="34" charset="-120"/>
              </a:rPr>
              <a:t>Scan 2</a:t>
            </a:r>
            <a:endParaRPr lang="en-US" sz="1100" dirty="0"/>
          </a:p>
        </p:txBody>
      </p:sp>
      <p:sp>
        <p:nvSpPr>
          <p:cNvPr id="26" name="Text 7"/>
          <p:cNvSpPr txBox="1"/>
          <p:nvPr/>
        </p:nvSpPr>
        <p:spPr>
          <a:xfrm>
            <a:off x="2103120" y="3310128"/>
            <a:ext cx="1280160" cy="384048"/>
          </a:xfrm>
          <a:prstGeom prst="rect">
            <a:avLst/>
          </a:prstGeom>
          <a:noFill/>
          <a:ln/>
        </p:spPr>
        <p:txBody>
          <a:bodyPr wrap="square" lIns="0" tIns="0" rIns="0" bIns="0" rtlCol="0" anchor="ctr"/>
          <a:lstStyle/>
          <a:p>
            <a:pPr marL="0" indent="0" algn="ctr">
              <a:buNone/>
            </a:pPr>
            <a:r>
              <a:rPr lang="en-US" sz="900" dirty="0">
                <a:solidFill>
                  <a:srgbClr val="5F7178"/>
                </a:solidFill>
                <a:latin typeface="Calibri" pitchFamily="34" charset="0"/>
                <a:ea typeface="Calibri" pitchFamily="34" charset="-122"/>
                <a:cs typeface="Calibri" pitchFamily="34" charset="-120"/>
              </a:rPr>
              <a:t>the handfuls in between</a:t>
            </a:r>
            <a:endParaRPr lang="en-US" sz="900" dirty="0"/>
          </a:p>
        </p:txBody>
      </p:sp>
      <p:sp>
        <p:nvSpPr>
          <p:cNvPr id="27" name="Shape 16"/>
          <p:cNvSpPr/>
          <p:nvPr/>
        </p:nvSpPr>
        <p:spPr>
          <a:xfrm>
            <a:off x="3977639" y="2450592"/>
            <a:ext cx="1051560" cy="914400"/>
          </a:xfrm>
          <a:prstGeom prst="roundRect">
            <a:avLst>
              <a:gd name="adj" fmla="val 9091"/>
            </a:avLst>
          </a:prstGeom>
          <a:solidFill>
            <a:srgbClr val="0B2027"/>
          </a:solidFill>
          <a:ln w="12700">
            <a:solidFill>
              <a:srgbClr val="0B2027"/>
            </a:solidFill>
            <a:prstDash val="solid"/>
          </a:ln>
        </p:spPr>
        <p:txBody>
          <a:bodyPr/>
          <a:lstStyle/>
          <a:p>
            <a:endParaRPr lang="sv-SE"/>
          </a:p>
        </p:txBody>
      </p:sp>
      <p:sp>
        <p:nvSpPr>
          <p:cNvPr id="28" name="TextBox 10"/>
          <p:cNvSpPr txBox="1"/>
          <p:nvPr/>
        </p:nvSpPr>
        <p:spPr>
          <a:xfrm>
            <a:off x="3977639" y="2450592"/>
            <a:ext cx="1051560" cy="914400"/>
          </a:xfrm>
          <a:prstGeom prst="rect">
            <a:avLst/>
          </a:prstGeom>
          <a:noFill/>
        </p:spPr>
        <p:txBody>
          <a:bodyPr wrap="square" lIns="0" tIns="0" rIns="0" bIns="0" anchor="ctr">
            <a:spAutoFit/>
          </a:bodyPr>
          <a:lstStyle/>
          <a:p>
            <a:pPr algn="ctr"/>
            <a:r>
              <a:rPr sz="1200" b="1">
                <a:solidFill>
                  <a:srgbClr val="FFFFFF"/>
                </a:solidFill>
                <a:latin typeface="Calibri"/>
              </a:rPr>
              <a:t>Compare</a:t>
            </a:r>
          </a:p>
        </p:txBody>
      </p:sp>
      <p:sp>
        <p:nvSpPr>
          <p:cNvPr id="29" name="Right Arrow 7"/>
          <p:cNvSpPr/>
          <p:nvPr/>
        </p:nvSpPr>
        <p:spPr>
          <a:xfrm>
            <a:off x="1600200" y="2724912"/>
            <a:ext cx="365760" cy="365760"/>
          </a:xfrm>
          <a:prstGeom prst="rightArrow">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ight Arrow 7"/>
          <p:cNvSpPr/>
          <p:nvPr/>
        </p:nvSpPr>
        <p:spPr>
          <a:xfrm>
            <a:off x="3520440" y="2724912"/>
            <a:ext cx="365760" cy="365760"/>
          </a:xfrm>
          <a:prstGeom prst="rightArrow">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Shape 4"/>
          <p:cNvSpPr/>
          <p:nvPr/>
        </p:nvSpPr>
        <p:spPr>
          <a:xfrm>
            <a:off x="457200" y="1280160"/>
            <a:ext cx="4572000" cy="658368"/>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32" name="TextBox 13"/>
          <p:cNvSpPr txBox="1"/>
          <p:nvPr/>
        </p:nvSpPr>
        <p:spPr>
          <a:xfrm>
            <a:off x="621792" y="1280160"/>
            <a:ext cx="4242816" cy="658368"/>
          </a:xfrm>
          <a:prstGeom prst="rect">
            <a:avLst/>
          </a:prstGeom>
          <a:noFill/>
        </p:spPr>
        <p:txBody>
          <a:bodyPr wrap="square" lIns="0" tIns="0" rIns="0" bIns="0" anchor="ctr">
            <a:spAutoFit/>
          </a:bodyPr>
          <a:lstStyle/>
          <a:p>
            <a:r>
              <a:rPr sz="1200" b="1">
                <a:solidFill>
                  <a:srgbClr val="028090"/>
                </a:solidFill>
                <a:latin typeface="Calibri"/>
              </a:rPr>
              <a:t>The problem.</a:t>
            </a:r>
            <a:r>
              <a:rPr sz="1200" b="0">
                <a:solidFill>
                  <a:srgbClr val="16262B"/>
                </a:solidFill>
                <a:latin typeface="Calibri"/>
              </a:rPr>
              <a:t>  The method compares two scans, and there is only one. So two are made from 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SIMULATION</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How the curve would be used over time</a:t>
            </a:r>
            <a:endParaRPr lang="en-US" sz="2700" dirty="0"/>
          </a:p>
        </p:txBody>
      </p:sp>
      <p:sp>
        <p:nvSpPr>
          <p:cNvPr id="5" name="Shape 4"/>
          <p:cNvSpPr/>
          <p:nvPr/>
        </p:nvSpPr>
        <p:spPr>
          <a:xfrm>
            <a:off x="6035040" y="1234440"/>
            <a:ext cx="2651760" cy="2514600"/>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6" name="TextBox 5"/>
          <p:cNvSpPr txBox="1"/>
          <p:nvPr/>
        </p:nvSpPr>
        <p:spPr>
          <a:xfrm>
            <a:off x="6217920" y="1389888"/>
            <a:ext cx="2286000" cy="228600"/>
          </a:xfrm>
          <a:prstGeom prst="rect">
            <a:avLst/>
          </a:prstGeom>
          <a:noFill/>
        </p:spPr>
        <p:txBody>
          <a:bodyPr wrap="square" lIns="0" tIns="0" rIns="0" bIns="0" anchor="t">
            <a:spAutoFit/>
          </a:bodyPr>
          <a:lstStyle/>
          <a:p>
            <a:r>
              <a:rPr sz="1100" b="1" spc="200">
                <a:solidFill>
                  <a:srgbClr val="028090"/>
                </a:solidFill>
                <a:latin typeface="Calibri"/>
              </a:rPr>
              <a:t>WHAT HAPPENS</a:t>
            </a:r>
          </a:p>
        </p:txBody>
      </p:sp>
      <p:sp>
        <p:nvSpPr>
          <p:cNvPr id="7" name="TextBox 6"/>
          <p:cNvSpPr txBox="1"/>
          <p:nvPr/>
        </p:nvSpPr>
        <p:spPr>
          <a:xfrm>
            <a:off x="6217920" y="1737360"/>
            <a:ext cx="2331720" cy="1920240"/>
          </a:xfrm>
          <a:prstGeom prst="rect">
            <a:avLst/>
          </a:prstGeom>
          <a:noFill/>
        </p:spPr>
        <p:txBody>
          <a:bodyPr wrap="square" lIns="0" tIns="0" rIns="0" bIns="0" anchor="t">
            <a:spAutoFit/>
          </a:bodyPr>
          <a:lstStyle/>
          <a:p>
            <a:pPr marL="171450" indent="-171450">
              <a:spcAft>
                <a:spcPts val="600"/>
              </a:spcAft>
              <a:buChar char="•"/>
            </a:pPr>
            <a:r>
              <a:rPr sz="1100" b="0">
                <a:solidFill>
                  <a:srgbClr val="16262B"/>
                </a:solidFill>
                <a:latin typeface="Calibri"/>
              </a:rPr>
              <a:t>Runs every few weeks, all made from the one scan</a:t>
            </a:r>
          </a:p>
          <a:p>
            <a:pPr marL="171450" indent="-171450">
              <a:spcAft>
                <a:spcPts val="600"/>
              </a:spcAft>
              <a:buChar char="•"/>
            </a:pPr>
            <a:r>
              <a:rPr sz="1100" b="0">
                <a:solidFill>
                  <a:srgbClr val="16262B"/>
                </a:solidFill>
                <a:latin typeface="Calibri"/>
              </a:rPr>
              <a:t>Assumed defects grow a little each run</a:t>
            </a:r>
          </a:p>
          <a:p>
            <a:pPr marL="171450" indent="-171450">
              <a:spcAft>
                <a:spcPts val="600"/>
              </a:spcAft>
              <a:buChar char="•"/>
            </a:pPr>
            <a:r>
              <a:rPr sz="1100" b="0">
                <a:solidFill>
                  <a:srgbClr val="16262B"/>
                </a:solidFill>
                <a:latin typeface="Calibri"/>
              </a:rPr>
              <a:t>An alert when a place steps out of its normal scatter</a:t>
            </a:r>
          </a:p>
          <a:p>
            <a:pPr marL="171450" indent="-171450">
              <a:spcAft>
                <a:spcPts val="600"/>
              </a:spcAft>
              <a:buChar char="•"/>
            </a:pPr>
            <a:r>
              <a:rPr sz="1100" b="0">
                <a:solidFill>
                  <a:srgbClr val="16262B"/>
                </a:solidFill>
                <a:latin typeface="Calibri"/>
              </a:rPr>
              <a:t>At the limit: an alarm, maintenance, and the defect resets</a:t>
            </a:r>
          </a:p>
        </p:txBody>
      </p:sp>
      <p:sp>
        <p:nvSpPr>
          <p:cNvPr id="8" name="Text 3"/>
          <p:cNvSpPr txBox="1"/>
          <p:nvPr/>
        </p:nvSpPr>
        <p:spPr>
          <a:xfrm>
            <a:off x="457200" y="3886200"/>
            <a:ext cx="8229600" cy="365760"/>
          </a:xfrm>
          <a:prstGeom prst="rect">
            <a:avLst/>
          </a:prstGeom>
          <a:noFill/>
          <a:ln/>
        </p:spPr>
        <p:txBody>
          <a:bodyPr wrap="square" lIns="0" tIns="0" rIns="0" bIns="0" rtlCol="0" anchor="ctr"/>
          <a:lstStyle/>
          <a:p>
            <a:pPr marL="0" indent="0">
              <a:buNone/>
            </a:pPr>
            <a:r>
              <a:rPr lang="en-US" sz="950" i="1" dirty="0">
                <a:solidFill>
                  <a:srgbClr val="5F7178"/>
                </a:solidFill>
                <a:latin typeface="Calibri" pitchFamily="34" charset="0"/>
                <a:ea typeface="Calibri" pitchFamily="34" charset="-122"/>
                <a:cs typeface="Calibri" pitchFamily="34" charset="-120"/>
              </a:rPr>
              <a:t>Simulated from the one real scan: the defects and the limits are assumed, not measured.</a:t>
            </a:r>
            <a:endParaRPr lang="en-US" sz="950" dirty="0"/>
          </a:p>
        </p:txBody>
      </p:sp>
      <p:sp>
        <p:nvSpPr>
          <p:cNvPr id="9" name="Shape 16"/>
          <p:cNvSpPr/>
          <p:nvPr/>
        </p:nvSpPr>
        <p:spPr>
          <a:xfrm>
            <a:off x="457200" y="4224528"/>
            <a:ext cx="8229600" cy="438912"/>
          </a:xfrm>
          <a:prstGeom prst="roundRect">
            <a:avLst>
              <a:gd name="adj" fmla="val 9091"/>
            </a:avLst>
          </a:prstGeom>
          <a:solidFill>
            <a:srgbClr val="0B2027"/>
          </a:solidFill>
          <a:ln w="12700">
            <a:solidFill>
              <a:srgbClr val="0B2027"/>
            </a:solidFill>
            <a:prstDash val="solid"/>
          </a:ln>
        </p:spPr>
        <p:txBody>
          <a:bodyPr/>
          <a:lstStyle/>
          <a:p>
            <a:endParaRPr lang="sv-SE"/>
          </a:p>
        </p:txBody>
      </p:sp>
      <p:sp>
        <p:nvSpPr>
          <p:cNvPr id="10" name="Text 17"/>
          <p:cNvSpPr txBox="1"/>
          <p:nvPr/>
        </p:nvSpPr>
        <p:spPr>
          <a:xfrm>
            <a:off x="731520" y="4224528"/>
            <a:ext cx="7680960" cy="43891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The method warns early and shows where, so maintenance can be planned instead of forced.</a:t>
            </a:r>
            <a:endParaRPr lang="en-US" sz="1200" dirty="0"/>
          </a:p>
        </p:txBody>
      </p:sp>
      <p:pic>
        <p:nvPicPr>
          <p:cNvPr id="11" name="Picture 10" descr="sim_slide_simple.png"/>
          <p:cNvPicPr>
            <a:picLocks noChangeAspect="1"/>
          </p:cNvPicPr>
          <p:nvPr/>
        </p:nvPicPr>
        <p:blipFill>
          <a:blip r:embed="rId2"/>
          <a:stretch>
            <a:fillRect/>
          </a:stretch>
        </p:blipFill>
        <p:spPr>
          <a:xfrm>
            <a:off x="457200" y="1207008"/>
            <a:ext cx="5303520" cy="26060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WHERE WE ARE</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Introduction done, method written</a:t>
            </a:r>
            <a:endParaRPr lang="en-US" sz="2700" dirty="0"/>
          </a:p>
        </p:txBody>
      </p:sp>
      <p:sp>
        <p:nvSpPr>
          <p:cNvPr id="10" name="Shape 16"/>
          <p:cNvSpPr/>
          <p:nvPr/>
        </p:nvSpPr>
        <p:spPr>
          <a:xfrm>
            <a:off x="457200" y="4114800"/>
            <a:ext cx="8229600" cy="530352"/>
          </a:xfrm>
          <a:prstGeom prst="roundRect">
            <a:avLst>
              <a:gd name="adj" fmla="val 9091"/>
            </a:avLst>
          </a:prstGeom>
          <a:solidFill>
            <a:srgbClr val="0B2027"/>
          </a:solidFill>
          <a:ln w="12700">
            <a:solidFill>
              <a:srgbClr val="0B2027"/>
            </a:solidFill>
            <a:prstDash val="solid"/>
          </a:ln>
        </p:spPr>
        <p:txBody>
          <a:bodyPr/>
          <a:lstStyle/>
          <a:p>
            <a:endParaRPr lang="sv-SE"/>
          </a:p>
        </p:txBody>
      </p:sp>
      <p:sp>
        <p:nvSpPr>
          <p:cNvPr id="11" name="Text 17"/>
          <p:cNvSpPr txBox="1"/>
          <p:nvPr/>
        </p:nvSpPr>
        <p:spPr>
          <a:xfrm>
            <a:off x="731520" y="4114800"/>
            <a:ext cx="7680960" cy="53035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Next: write up the results, then the discussion.</a:t>
            </a:r>
            <a:endParaRPr lang="en-US" sz="1200" dirty="0"/>
          </a:p>
        </p:txBody>
      </p:sp>
      <p:sp>
        <p:nvSpPr>
          <p:cNvPr id="12" name="Shape 2"/>
          <p:cNvSpPr/>
          <p:nvPr/>
        </p:nvSpPr>
        <p:spPr>
          <a:xfrm>
            <a:off x="457200" y="1371600"/>
            <a:ext cx="384048" cy="384048"/>
          </a:xfrm>
          <a:prstGeom prst="ellipse">
            <a:avLst/>
          </a:prstGeom>
          <a:solidFill>
            <a:srgbClr val="028090"/>
          </a:solidFill>
          <a:ln w="12700">
            <a:solidFill>
              <a:srgbClr val="028090"/>
            </a:solidFill>
            <a:prstDash val="solid"/>
          </a:ln>
        </p:spPr>
        <p:txBody>
          <a:bodyPr/>
          <a:lstStyle/>
          <a:p>
            <a:endParaRPr lang="sv-SE"/>
          </a:p>
        </p:txBody>
      </p:sp>
      <p:sp>
        <p:nvSpPr>
          <p:cNvPr id="13" name="Text 3"/>
          <p:cNvSpPr txBox="1"/>
          <p:nvPr/>
        </p:nvSpPr>
        <p:spPr>
          <a:xfrm>
            <a:off x="457200" y="13716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4" name="Text 4"/>
          <p:cNvSpPr txBox="1"/>
          <p:nvPr/>
        </p:nvSpPr>
        <p:spPr>
          <a:xfrm>
            <a:off x="1005840" y="1389888"/>
            <a:ext cx="274320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Introduction</a:t>
            </a:r>
            <a:endParaRPr lang="en-US" sz="1400" dirty="0"/>
          </a:p>
        </p:txBody>
      </p:sp>
      <p:sp>
        <p:nvSpPr>
          <p:cNvPr id="15" name="Text 5"/>
          <p:cNvSpPr txBox="1"/>
          <p:nvPr/>
        </p:nvSpPr>
        <p:spPr>
          <a:xfrm>
            <a:off x="3886200" y="1353312"/>
            <a:ext cx="480060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done: the background, the idea and the research questions</a:t>
            </a:r>
            <a:endParaRPr lang="en-US" sz="1100" dirty="0"/>
          </a:p>
        </p:txBody>
      </p:sp>
      <p:sp>
        <p:nvSpPr>
          <p:cNvPr id="16" name="Shape 2"/>
          <p:cNvSpPr/>
          <p:nvPr/>
        </p:nvSpPr>
        <p:spPr>
          <a:xfrm>
            <a:off x="457200" y="2029967"/>
            <a:ext cx="384048" cy="384048"/>
          </a:xfrm>
          <a:prstGeom prst="ellipse">
            <a:avLst/>
          </a:prstGeom>
          <a:solidFill>
            <a:srgbClr val="028090"/>
          </a:solidFill>
          <a:ln w="12700">
            <a:solidFill>
              <a:srgbClr val="028090"/>
            </a:solidFill>
            <a:prstDash val="solid"/>
          </a:ln>
        </p:spPr>
        <p:txBody>
          <a:bodyPr/>
          <a:lstStyle/>
          <a:p>
            <a:endParaRPr lang="sv-SE"/>
          </a:p>
        </p:txBody>
      </p:sp>
      <p:sp>
        <p:nvSpPr>
          <p:cNvPr id="17" name="Text 3"/>
          <p:cNvSpPr txBox="1"/>
          <p:nvPr/>
        </p:nvSpPr>
        <p:spPr>
          <a:xfrm>
            <a:off x="457200" y="2029967"/>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4"/>
          <p:cNvSpPr txBox="1"/>
          <p:nvPr/>
        </p:nvSpPr>
        <p:spPr>
          <a:xfrm>
            <a:off x="1005840" y="2048255"/>
            <a:ext cx="274320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Method</a:t>
            </a:r>
            <a:endParaRPr lang="en-US" sz="1400" dirty="0"/>
          </a:p>
        </p:txBody>
      </p:sp>
      <p:sp>
        <p:nvSpPr>
          <p:cNvPr id="19" name="Text 5"/>
          <p:cNvSpPr txBox="1"/>
          <p:nvPr/>
        </p:nvSpPr>
        <p:spPr>
          <a:xfrm>
            <a:off x="3886200" y="2011679"/>
            <a:ext cx="480060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written: the pipeline, the test plan and the simulation</a:t>
            </a:r>
            <a:endParaRPr lang="en-US" sz="1100" dirty="0"/>
          </a:p>
        </p:txBody>
      </p:sp>
      <p:sp>
        <p:nvSpPr>
          <p:cNvPr id="20" name="Shape 2"/>
          <p:cNvSpPr/>
          <p:nvPr/>
        </p:nvSpPr>
        <p:spPr>
          <a:xfrm>
            <a:off x="457200" y="2688336"/>
            <a:ext cx="384048" cy="384048"/>
          </a:xfrm>
          <a:prstGeom prst="ellipse">
            <a:avLst/>
          </a:prstGeom>
          <a:solidFill>
            <a:srgbClr val="DCE7E8"/>
          </a:solidFill>
          <a:ln w="12700">
            <a:solidFill>
              <a:srgbClr val="028090"/>
            </a:solidFill>
            <a:prstDash val="solid"/>
          </a:ln>
        </p:spPr>
        <p:txBody>
          <a:bodyPr/>
          <a:lstStyle/>
          <a:p>
            <a:endParaRPr lang="sv-SE"/>
          </a:p>
        </p:txBody>
      </p:sp>
      <p:sp>
        <p:nvSpPr>
          <p:cNvPr id="21" name="Text 3"/>
          <p:cNvSpPr txBox="1"/>
          <p:nvPr/>
        </p:nvSpPr>
        <p:spPr>
          <a:xfrm>
            <a:off x="457200" y="2688336"/>
            <a:ext cx="384048" cy="384048"/>
          </a:xfrm>
          <a:prstGeom prst="rect">
            <a:avLst/>
          </a:prstGeom>
          <a:noFill/>
          <a:ln/>
        </p:spPr>
        <p:txBody>
          <a:bodyPr wrap="square" lIns="0" tIns="0" rIns="0" bIns="0" rtlCol="0" anchor="ctr"/>
          <a:lstStyle/>
          <a:p>
            <a:pPr marL="0" indent="0" algn="ctr">
              <a:buNone/>
            </a:pPr>
            <a:r>
              <a:rPr lang="en-US" sz="1400" b="1" dirty="0">
                <a:solidFill>
                  <a:srgbClr val="5F7178"/>
                </a:solidFill>
                <a:latin typeface="Calibri" pitchFamily="34" charset="0"/>
                <a:ea typeface="Calibri" pitchFamily="34" charset="-122"/>
                <a:cs typeface="Calibri" pitchFamily="34" charset="-120"/>
              </a:rPr>
              <a:t>3</a:t>
            </a:r>
            <a:endParaRPr lang="en-US" sz="1400" dirty="0"/>
          </a:p>
        </p:txBody>
      </p:sp>
      <p:sp>
        <p:nvSpPr>
          <p:cNvPr id="22" name="Text 4"/>
          <p:cNvSpPr txBox="1"/>
          <p:nvPr/>
        </p:nvSpPr>
        <p:spPr>
          <a:xfrm>
            <a:off x="1005840" y="2706624"/>
            <a:ext cx="274320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Results</a:t>
            </a:r>
            <a:endParaRPr lang="en-US" sz="1400" dirty="0"/>
          </a:p>
        </p:txBody>
      </p:sp>
      <p:sp>
        <p:nvSpPr>
          <p:cNvPr id="23" name="Text 5"/>
          <p:cNvSpPr txBox="1"/>
          <p:nvPr/>
        </p:nvSpPr>
        <p:spPr>
          <a:xfrm>
            <a:off x="3886200" y="2670048"/>
            <a:ext cx="480060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next: the test on the real scan and the simulation</a:t>
            </a:r>
            <a:endParaRPr lang="en-US" sz="1100" dirty="0"/>
          </a:p>
        </p:txBody>
      </p:sp>
      <p:sp>
        <p:nvSpPr>
          <p:cNvPr id="24" name="Shape 2"/>
          <p:cNvSpPr/>
          <p:nvPr/>
        </p:nvSpPr>
        <p:spPr>
          <a:xfrm>
            <a:off x="457200" y="3346704"/>
            <a:ext cx="384048" cy="384048"/>
          </a:xfrm>
          <a:prstGeom prst="ellipse">
            <a:avLst/>
          </a:prstGeom>
          <a:solidFill>
            <a:srgbClr val="DCE7E8"/>
          </a:solidFill>
          <a:ln w="12700">
            <a:solidFill>
              <a:srgbClr val="028090"/>
            </a:solidFill>
            <a:prstDash val="solid"/>
          </a:ln>
        </p:spPr>
        <p:txBody>
          <a:bodyPr/>
          <a:lstStyle/>
          <a:p>
            <a:endParaRPr lang="sv-SE"/>
          </a:p>
        </p:txBody>
      </p:sp>
      <p:sp>
        <p:nvSpPr>
          <p:cNvPr id="25" name="Text 3"/>
          <p:cNvSpPr txBox="1"/>
          <p:nvPr/>
        </p:nvSpPr>
        <p:spPr>
          <a:xfrm>
            <a:off x="457200" y="3346704"/>
            <a:ext cx="384048" cy="384048"/>
          </a:xfrm>
          <a:prstGeom prst="rect">
            <a:avLst/>
          </a:prstGeom>
          <a:noFill/>
          <a:ln/>
        </p:spPr>
        <p:txBody>
          <a:bodyPr wrap="square" lIns="0" tIns="0" rIns="0" bIns="0" rtlCol="0" anchor="ctr"/>
          <a:lstStyle/>
          <a:p>
            <a:pPr marL="0" indent="0" algn="ctr">
              <a:buNone/>
            </a:pPr>
            <a:r>
              <a:rPr lang="en-US" sz="1400" b="1" dirty="0">
                <a:solidFill>
                  <a:srgbClr val="5F7178"/>
                </a:solidFill>
                <a:latin typeface="Calibri" pitchFamily="34" charset="0"/>
                <a:ea typeface="Calibri" pitchFamily="34" charset="-122"/>
                <a:cs typeface="Calibri" pitchFamily="34" charset="-120"/>
              </a:rPr>
              <a:t>4</a:t>
            </a:r>
            <a:endParaRPr lang="en-US" sz="1400" dirty="0"/>
          </a:p>
        </p:txBody>
      </p:sp>
      <p:sp>
        <p:nvSpPr>
          <p:cNvPr id="26" name="Text 4"/>
          <p:cNvSpPr txBox="1"/>
          <p:nvPr/>
        </p:nvSpPr>
        <p:spPr>
          <a:xfrm>
            <a:off x="1005840" y="3364992"/>
            <a:ext cx="274320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Discussion and conclusion</a:t>
            </a:r>
            <a:endParaRPr lang="en-US" sz="1400" dirty="0"/>
          </a:p>
        </p:txBody>
      </p:sp>
      <p:sp>
        <p:nvSpPr>
          <p:cNvPr id="27" name="Text 5"/>
          <p:cNvSpPr txBox="1"/>
          <p:nvPr/>
        </p:nvSpPr>
        <p:spPr>
          <a:xfrm>
            <a:off x="3886200" y="3328416"/>
            <a:ext cx="480060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later: what the method can and cannot show</a:t>
            </a:r>
            <a:endParaRPr lang="en-US" sz="11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THE IDEA</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An index says how rough, a curve says where</a:t>
            </a:r>
            <a:endParaRPr lang="en-US" sz="2700" dirty="0"/>
          </a:p>
        </p:txBody>
      </p:sp>
      <p:sp>
        <p:nvSpPr>
          <p:cNvPr id="4" name="Shape 4"/>
          <p:cNvSpPr/>
          <p:nvPr/>
        </p:nvSpPr>
        <p:spPr>
          <a:xfrm>
            <a:off x="457200" y="1234440"/>
            <a:ext cx="3611880" cy="1234440"/>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5" name="TextBox 4"/>
          <p:cNvSpPr txBox="1"/>
          <p:nvPr/>
        </p:nvSpPr>
        <p:spPr>
          <a:xfrm>
            <a:off x="685800" y="1353312"/>
            <a:ext cx="3200400" cy="228600"/>
          </a:xfrm>
          <a:prstGeom prst="rect">
            <a:avLst/>
          </a:prstGeom>
          <a:noFill/>
        </p:spPr>
        <p:txBody>
          <a:bodyPr wrap="square" lIns="0" tIns="0" rIns="0" bIns="0" anchor="t">
            <a:spAutoFit/>
          </a:bodyPr>
          <a:lstStyle/>
          <a:p>
            <a:r>
              <a:rPr sz="1100" b="1" spc="200">
                <a:solidFill>
                  <a:srgbClr val="5F7178"/>
                </a:solidFill>
                <a:latin typeface="Calibri"/>
              </a:rPr>
              <a:t>TODAY: AN INDEX</a:t>
            </a:r>
          </a:p>
        </p:txBody>
      </p:sp>
      <p:sp>
        <p:nvSpPr>
          <p:cNvPr id="6" name="TextBox 5"/>
          <p:cNvSpPr txBox="1"/>
          <p:nvPr/>
        </p:nvSpPr>
        <p:spPr>
          <a:xfrm>
            <a:off x="685800" y="1591056"/>
            <a:ext cx="3200400" cy="274320"/>
          </a:xfrm>
          <a:prstGeom prst="rect">
            <a:avLst/>
          </a:prstGeom>
          <a:noFill/>
        </p:spPr>
        <p:txBody>
          <a:bodyPr wrap="square" lIns="0" tIns="0" rIns="0" bIns="0" anchor="t">
            <a:spAutoFit/>
          </a:bodyPr>
          <a:lstStyle/>
          <a:p>
            <a:r>
              <a:rPr sz="1500" b="1">
                <a:solidFill>
                  <a:srgbClr val="5F7178"/>
                </a:solidFill>
                <a:latin typeface="Calibri"/>
              </a:rPr>
              <a:t>One number per section</a:t>
            </a:r>
          </a:p>
        </p:txBody>
      </p:sp>
      <p:sp>
        <p:nvSpPr>
          <p:cNvPr id="7" name="TextBox 6"/>
          <p:cNvSpPr txBox="1"/>
          <p:nvPr/>
        </p:nvSpPr>
        <p:spPr>
          <a:xfrm>
            <a:off x="685800" y="1901952"/>
            <a:ext cx="3200400" cy="475488"/>
          </a:xfrm>
          <a:prstGeom prst="rect">
            <a:avLst/>
          </a:prstGeom>
          <a:noFill/>
        </p:spPr>
        <p:txBody>
          <a:bodyPr wrap="square" lIns="0" tIns="0" rIns="0" bIns="0" anchor="t">
            <a:spAutoFit/>
          </a:bodyPr>
          <a:lstStyle/>
          <a:p>
            <a:r>
              <a:rPr sz="1150" b="0">
                <a:solidFill>
                  <a:srgbClr val="5F7178"/>
                </a:solidFill>
                <a:latin typeface="Calibri"/>
              </a:rPr>
              <a:t>The Track Quality Index says how rough a section is. Where a change sits, and how big it is, is averaged away.</a:t>
            </a:r>
          </a:p>
        </p:txBody>
      </p:sp>
      <p:sp>
        <p:nvSpPr>
          <p:cNvPr id="8" name="Right Arrow 7"/>
          <p:cNvSpPr/>
          <p:nvPr/>
        </p:nvSpPr>
        <p:spPr>
          <a:xfrm>
            <a:off x="4206240" y="1627632"/>
            <a:ext cx="731520" cy="457200"/>
          </a:xfrm>
          <a:prstGeom prst="rightArrow">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hape 16"/>
          <p:cNvSpPr/>
          <p:nvPr/>
        </p:nvSpPr>
        <p:spPr>
          <a:xfrm>
            <a:off x="5074920" y="1234440"/>
            <a:ext cx="3611880" cy="1234440"/>
          </a:xfrm>
          <a:prstGeom prst="roundRect">
            <a:avLst>
              <a:gd name="adj" fmla="val 9091"/>
            </a:avLst>
          </a:prstGeom>
          <a:solidFill>
            <a:srgbClr val="0B2027"/>
          </a:solidFill>
          <a:ln w="12700">
            <a:solidFill>
              <a:srgbClr val="0B2027"/>
            </a:solidFill>
            <a:prstDash val="solid"/>
          </a:ln>
        </p:spPr>
        <p:txBody>
          <a:bodyPr/>
          <a:lstStyle/>
          <a:p>
            <a:endParaRPr lang="sv-SE"/>
          </a:p>
        </p:txBody>
      </p:sp>
      <p:sp>
        <p:nvSpPr>
          <p:cNvPr id="10" name="TextBox 9"/>
          <p:cNvSpPr txBox="1"/>
          <p:nvPr/>
        </p:nvSpPr>
        <p:spPr>
          <a:xfrm>
            <a:off x="5303520" y="1353312"/>
            <a:ext cx="3200400" cy="228600"/>
          </a:xfrm>
          <a:prstGeom prst="rect">
            <a:avLst/>
          </a:prstGeom>
          <a:noFill/>
        </p:spPr>
        <p:txBody>
          <a:bodyPr wrap="square" lIns="0" tIns="0" rIns="0" bIns="0" anchor="t">
            <a:spAutoFit/>
          </a:bodyPr>
          <a:lstStyle/>
          <a:p>
            <a:r>
              <a:rPr sz="1100" b="1" spc="200">
                <a:solidFill>
                  <a:srgbClr val="00A896"/>
                </a:solidFill>
                <a:latin typeface="Calibri"/>
              </a:rPr>
              <a:t>THIS PROJECT: A CURVE</a:t>
            </a:r>
          </a:p>
        </p:txBody>
      </p:sp>
      <p:sp>
        <p:nvSpPr>
          <p:cNvPr id="11" name="TextBox 10"/>
          <p:cNvSpPr txBox="1"/>
          <p:nvPr/>
        </p:nvSpPr>
        <p:spPr>
          <a:xfrm>
            <a:off x="5303520" y="1591056"/>
            <a:ext cx="3200400" cy="274320"/>
          </a:xfrm>
          <a:prstGeom prst="rect">
            <a:avLst/>
          </a:prstGeom>
          <a:noFill/>
        </p:spPr>
        <p:txBody>
          <a:bodyPr wrap="square" lIns="0" tIns="0" rIns="0" bIns="0" anchor="t">
            <a:spAutoFit/>
          </a:bodyPr>
          <a:lstStyle/>
          <a:p>
            <a:r>
              <a:rPr sz="1500" b="1">
                <a:solidFill>
                  <a:srgbClr val="FFFFFF"/>
                </a:solidFill>
                <a:latin typeface="Calibri"/>
              </a:rPr>
              <a:t>Both rails as a curve in a fixed frame</a:t>
            </a:r>
          </a:p>
        </p:txBody>
      </p:sp>
      <p:sp>
        <p:nvSpPr>
          <p:cNvPr id="12" name="TextBox 11"/>
          <p:cNvSpPr txBox="1"/>
          <p:nvPr/>
        </p:nvSpPr>
        <p:spPr>
          <a:xfrm>
            <a:off x="5303520" y="1901952"/>
            <a:ext cx="3200400" cy="475488"/>
          </a:xfrm>
          <a:prstGeom prst="rect">
            <a:avLst/>
          </a:prstGeom>
          <a:noFill/>
        </p:spPr>
        <p:txBody>
          <a:bodyPr wrap="square" lIns="0" tIns="0" rIns="0" bIns="0" anchor="t">
            <a:spAutoFit/>
          </a:bodyPr>
          <a:lstStyle/>
          <a:p>
            <a:r>
              <a:rPr sz="1150" b="0">
                <a:solidFill>
                  <a:srgbClr val="C7D8DB"/>
                </a:solidFill>
                <a:latin typeface="Calibri"/>
              </a:rPr>
              <a:t>Runs can be compared point by point, in millimetres. The index can still be computed from the curve afterwards.</a:t>
            </a:r>
          </a:p>
        </p:txBody>
      </p:sp>
      <p:sp>
        <p:nvSpPr>
          <p:cNvPr id="13" name="Shape 4"/>
          <p:cNvSpPr/>
          <p:nvPr/>
        </p:nvSpPr>
        <p:spPr>
          <a:xfrm>
            <a:off x="457200" y="2596896"/>
            <a:ext cx="8229600" cy="640080"/>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14" name="TextBox 13"/>
          <p:cNvSpPr txBox="1"/>
          <p:nvPr/>
        </p:nvSpPr>
        <p:spPr>
          <a:xfrm>
            <a:off x="731520" y="2596896"/>
            <a:ext cx="7680960" cy="640080"/>
          </a:xfrm>
          <a:prstGeom prst="rect">
            <a:avLst/>
          </a:prstGeom>
          <a:noFill/>
        </p:spPr>
        <p:txBody>
          <a:bodyPr wrap="square" lIns="0" tIns="0" rIns="0" bIns="0" anchor="ctr">
            <a:spAutoFit/>
          </a:bodyPr>
          <a:lstStyle/>
          <a:p>
            <a:r>
              <a:rPr sz="1200" b="1">
                <a:solidFill>
                  <a:srgbClr val="028090"/>
                </a:solidFill>
                <a:latin typeface="Calibri"/>
              </a:rPr>
              <a:t>The idea.</a:t>
            </a:r>
            <a:r>
              <a:rPr sz="1200" b="0">
                <a:solidFill>
                  <a:srgbClr val="16262B"/>
                </a:solidFill>
                <a:latin typeface="Calibri"/>
              </a:rPr>
              <a:t>  Keep the index, but read it from a curve that still knows where and how the track changed.</a:t>
            </a:r>
          </a:p>
        </p:txBody>
      </p:sp>
      <p:sp>
        <p:nvSpPr>
          <p:cNvPr id="15" name="Shape 16"/>
          <p:cNvSpPr/>
          <p:nvPr/>
        </p:nvSpPr>
        <p:spPr>
          <a:xfrm>
            <a:off x="457200" y="4224528"/>
            <a:ext cx="8229600" cy="438912"/>
          </a:xfrm>
          <a:prstGeom prst="roundRect">
            <a:avLst>
              <a:gd name="adj" fmla="val 9091"/>
            </a:avLst>
          </a:prstGeom>
          <a:solidFill>
            <a:srgbClr val="0B2027"/>
          </a:solidFill>
          <a:ln w="12700">
            <a:solidFill>
              <a:srgbClr val="0B2027"/>
            </a:solidFill>
            <a:prstDash val="solid"/>
          </a:ln>
        </p:spPr>
        <p:txBody>
          <a:bodyPr/>
          <a:lstStyle/>
          <a:p>
            <a:endParaRPr lang="sv-SE"/>
          </a:p>
        </p:txBody>
      </p:sp>
      <p:sp>
        <p:nvSpPr>
          <p:cNvPr id="16" name="Text 17"/>
          <p:cNvSpPr txBox="1"/>
          <p:nvPr/>
        </p:nvSpPr>
        <p:spPr>
          <a:xfrm>
            <a:off x="731520" y="4224528"/>
            <a:ext cx="7680960" cy="43891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Catmull-Rom: a change in one place moves the curve only there, which is what an index cannot show.</a:t>
            </a:r>
            <a:endParaRPr lang="en-US" sz="1200" dirty="0"/>
          </a:p>
        </p:txBody>
      </p:sp>
      <p:sp>
        <p:nvSpPr>
          <p:cNvPr id="17" name="Shape 4"/>
          <p:cNvSpPr/>
          <p:nvPr/>
        </p:nvSpPr>
        <p:spPr>
          <a:xfrm>
            <a:off x="457200" y="3364992"/>
            <a:ext cx="2624328" cy="731520"/>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18" name="Text 6"/>
          <p:cNvSpPr txBox="1"/>
          <p:nvPr/>
        </p:nvSpPr>
        <p:spPr>
          <a:xfrm>
            <a:off x="658368" y="3438144"/>
            <a:ext cx="2286000" cy="237744"/>
          </a:xfrm>
          <a:prstGeom prst="rect">
            <a:avLst/>
          </a:prstGeom>
          <a:noFill/>
          <a:ln/>
        </p:spPr>
        <p:txBody>
          <a:bodyPr wrap="square" lIns="0" tIns="0" rIns="0" bIns="0" rtlCol="0" anchor="ctr"/>
          <a:lstStyle/>
          <a:p>
            <a:pPr marL="0" indent="0">
              <a:buNone/>
            </a:pPr>
            <a:r>
              <a:rPr lang="en-US" sz="1100" b="1" dirty="0">
                <a:solidFill>
                  <a:srgbClr val="16262B"/>
                </a:solidFill>
                <a:latin typeface="Calibri" pitchFamily="34" charset="0"/>
                <a:ea typeface="Calibri" pitchFamily="34" charset="-122"/>
                <a:cs typeface="Calibri" pitchFamily="34" charset="-120"/>
              </a:rPr>
              <a:t>Gauge</a:t>
            </a:r>
            <a:endParaRPr lang="en-US" sz="1100" dirty="0"/>
          </a:p>
        </p:txBody>
      </p:sp>
      <p:sp>
        <p:nvSpPr>
          <p:cNvPr id="19" name="Text 7"/>
          <p:cNvSpPr txBox="1"/>
          <p:nvPr/>
        </p:nvSpPr>
        <p:spPr>
          <a:xfrm>
            <a:off x="658368" y="3685032"/>
            <a:ext cx="2286000" cy="347472"/>
          </a:xfrm>
          <a:prstGeom prst="rect">
            <a:avLst/>
          </a:prstGeom>
          <a:noFill/>
          <a:ln/>
        </p:spPr>
        <p:txBody>
          <a:bodyPr wrap="square" lIns="0" tIns="0" rIns="0" bIns="0" rtlCol="0" anchor="ctr"/>
          <a:lstStyle/>
          <a:p>
            <a:pPr marL="0" indent="0">
              <a:buNone/>
            </a:pPr>
            <a:r>
              <a:rPr lang="en-US" sz="900" dirty="0">
                <a:solidFill>
                  <a:srgbClr val="5F7178"/>
                </a:solidFill>
                <a:latin typeface="Calibri" pitchFamily="34" charset="0"/>
                <a:ea typeface="Calibri" pitchFamily="34" charset="-122"/>
                <a:cs typeface="Calibri" pitchFamily="34" charset="-120"/>
              </a:rPr>
              <a:t>the distance between the rails: measured in full</a:t>
            </a:r>
            <a:endParaRPr lang="en-US" sz="900" dirty="0"/>
          </a:p>
        </p:txBody>
      </p:sp>
      <p:sp>
        <p:nvSpPr>
          <p:cNvPr id="20" name="Shape 4"/>
          <p:cNvSpPr/>
          <p:nvPr/>
        </p:nvSpPr>
        <p:spPr>
          <a:xfrm>
            <a:off x="3259836" y="3364992"/>
            <a:ext cx="2624328" cy="731520"/>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21" name="Text 6"/>
          <p:cNvSpPr txBox="1"/>
          <p:nvPr/>
        </p:nvSpPr>
        <p:spPr>
          <a:xfrm>
            <a:off x="3461004" y="3438144"/>
            <a:ext cx="2286000" cy="237744"/>
          </a:xfrm>
          <a:prstGeom prst="rect">
            <a:avLst/>
          </a:prstGeom>
          <a:noFill/>
          <a:ln/>
        </p:spPr>
        <p:txBody>
          <a:bodyPr wrap="square" lIns="0" tIns="0" rIns="0" bIns="0" rtlCol="0" anchor="ctr"/>
          <a:lstStyle/>
          <a:p>
            <a:pPr marL="0" indent="0">
              <a:buNone/>
            </a:pPr>
            <a:r>
              <a:rPr lang="en-US" sz="1100" b="1" dirty="0">
                <a:solidFill>
                  <a:srgbClr val="16262B"/>
                </a:solidFill>
                <a:latin typeface="Calibri" pitchFamily="34" charset="0"/>
                <a:ea typeface="Calibri" pitchFamily="34" charset="-122"/>
                <a:cs typeface="Calibri" pitchFamily="34" charset="-120"/>
              </a:rPr>
              <a:t>Alignment</a:t>
            </a:r>
            <a:endParaRPr lang="en-US" sz="1100" dirty="0"/>
          </a:p>
        </p:txBody>
      </p:sp>
      <p:sp>
        <p:nvSpPr>
          <p:cNvPr id="22" name="Text 7"/>
          <p:cNvSpPr txBox="1"/>
          <p:nvPr/>
        </p:nvSpPr>
        <p:spPr>
          <a:xfrm>
            <a:off x="3461004" y="3685032"/>
            <a:ext cx="2286000" cy="347472"/>
          </a:xfrm>
          <a:prstGeom prst="rect">
            <a:avLst/>
          </a:prstGeom>
          <a:noFill/>
          <a:ln/>
        </p:spPr>
        <p:txBody>
          <a:bodyPr wrap="square" lIns="0" tIns="0" rIns="0" bIns="0" rtlCol="0" anchor="ctr"/>
          <a:lstStyle/>
          <a:p>
            <a:pPr marL="0" indent="0">
              <a:buNone/>
            </a:pPr>
            <a:r>
              <a:rPr lang="en-US" sz="900" dirty="0">
                <a:solidFill>
                  <a:srgbClr val="5F7178"/>
                </a:solidFill>
                <a:latin typeface="Calibri" pitchFamily="34" charset="0"/>
                <a:ea typeface="Calibri" pitchFamily="34" charset="-122"/>
                <a:cs typeface="Calibri" pitchFamily="34" charset="-120"/>
              </a:rPr>
              <a:t>the sideways position of the track: measured in full</a:t>
            </a:r>
            <a:endParaRPr lang="en-US" sz="900" dirty="0"/>
          </a:p>
        </p:txBody>
      </p:sp>
      <p:sp>
        <p:nvSpPr>
          <p:cNvPr id="23" name="Shape 4"/>
          <p:cNvSpPr/>
          <p:nvPr/>
        </p:nvSpPr>
        <p:spPr>
          <a:xfrm>
            <a:off x="6062472" y="3364992"/>
            <a:ext cx="2624328" cy="731520"/>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24" name="Text 6"/>
          <p:cNvSpPr txBox="1"/>
          <p:nvPr/>
        </p:nvSpPr>
        <p:spPr>
          <a:xfrm>
            <a:off x="6263640" y="3438144"/>
            <a:ext cx="2286000" cy="237744"/>
          </a:xfrm>
          <a:prstGeom prst="rect">
            <a:avLst/>
          </a:prstGeom>
          <a:noFill/>
          <a:ln/>
        </p:spPr>
        <p:txBody>
          <a:bodyPr wrap="square" lIns="0" tIns="0" rIns="0" bIns="0" rtlCol="0" anchor="ctr"/>
          <a:lstStyle/>
          <a:p>
            <a:pPr marL="0" indent="0">
              <a:buNone/>
            </a:pPr>
            <a:r>
              <a:rPr lang="en-US" sz="1100" b="1" dirty="0">
                <a:solidFill>
                  <a:srgbClr val="16262B"/>
                </a:solidFill>
                <a:latin typeface="Calibri" pitchFamily="34" charset="0"/>
                <a:ea typeface="Calibri" pitchFamily="34" charset="-122"/>
                <a:cs typeface="Calibri" pitchFamily="34" charset="-120"/>
              </a:rPr>
              <a:t>Height</a:t>
            </a:r>
            <a:endParaRPr lang="en-US" sz="1100" dirty="0"/>
          </a:p>
        </p:txBody>
      </p:sp>
      <p:sp>
        <p:nvSpPr>
          <p:cNvPr id="25" name="Text 7"/>
          <p:cNvSpPr txBox="1"/>
          <p:nvPr/>
        </p:nvSpPr>
        <p:spPr>
          <a:xfrm>
            <a:off x="6263640" y="3685032"/>
            <a:ext cx="2286000" cy="347472"/>
          </a:xfrm>
          <a:prstGeom prst="rect">
            <a:avLst/>
          </a:prstGeom>
          <a:noFill/>
          <a:ln/>
        </p:spPr>
        <p:txBody>
          <a:bodyPr wrap="square" lIns="0" tIns="0" rIns="0" bIns="0" rtlCol="0" anchor="ctr"/>
          <a:lstStyle/>
          <a:p>
            <a:pPr marL="0" indent="0">
              <a:buNone/>
            </a:pPr>
            <a:r>
              <a:rPr lang="en-US" sz="900" dirty="0">
                <a:solidFill>
                  <a:srgbClr val="5F7178"/>
                </a:solidFill>
                <a:latin typeface="Calibri" pitchFamily="34" charset="0"/>
                <a:ea typeface="Calibri" pitchFamily="34" charset="-122"/>
                <a:cs typeface="Calibri" pitchFamily="34" charset="-120"/>
              </a:rPr>
              <a:t>only short dips and humps, because the sensor rides on the rails</a:t>
            </a:r>
            <a:endParaRPr lang="en-US" sz="9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RESEARCH QUESTIONS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What the report answers</a:t>
            </a:r>
            <a:endParaRPr lang="en-US" sz="2700" dirty="0"/>
          </a:p>
        </p:txBody>
      </p:sp>
      <p:sp>
        <p:nvSpPr>
          <p:cNvPr id="4" name="Shape 16"/>
          <p:cNvSpPr/>
          <p:nvPr/>
        </p:nvSpPr>
        <p:spPr>
          <a:xfrm>
            <a:off x="457200" y="4114800"/>
            <a:ext cx="8229600" cy="530352"/>
          </a:xfrm>
          <a:prstGeom prst="roundRect">
            <a:avLst>
              <a:gd name="adj" fmla="val 9091"/>
            </a:avLst>
          </a:prstGeom>
          <a:solidFill>
            <a:srgbClr val="0B2027"/>
          </a:solidFill>
          <a:ln w="12700">
            <a:solidFill>
              <a:srgbClr val="0B2027"/>
            </a:solidFill>
            <a:prstDash val="solid"/>
          </a:ln>
        </p:spPr>
        <p:txBody>
          <a:bodyPr/>
          <a:lstStyle/>
          <a:p>
            <a:endParaRPr lang="sv-SE"/>
          </a:p>
        </p:txBody>
      </p:sp>
      <p:sp>
        <p:nvSpPr>
          <p:cNvPr id="5" name="Text 17"/>
          <p:cNvSpPr txBox="1"/>
          <p:nvPr/>
        </p:nvSpPr>
        <p:spPr>
          <a:xfrm>
            <a:off x="731520" y="4114800"/>
            <a:ext cx="7680960" cy="53035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Exploratory: one scan, so the answers describe the method, not the track.</a:t>
            </a:r>
            <a:endParaRPr lang="en-US" sz="1200" dirty="0"/>
          </a:p>
        </p:txBody>
      </p:sp>
      <p:sp>
        <p:nvSpPr>
          <p:cNvPr id="6" name="Shape 2"/>
          <p:cNvSpPr/>
          <p:nvPr/>
        </p:nvSpPr>
        <p:spPr>
          <a:xfrm>
            <a:off x="457200" y="1371600"/>
            <a:ext cx="384048" cy="384048"/>
          </a:xfrm>
          <a:prstGeom prst="ellipse">
            <a:avLst/>
          </a:prstGeom>
          <a:solidFill>
            <a:srgbClr val="0F8B8D"/>
          </a:solidFill>
          <a:ln w="12700">
            <a:solidFill>
              <a:srgbClr val="028090"/>
            </a:solidFill>
            <a:prstDash val="solid"/>
          </a:ln>
        </p:spPr>
        <p:txBody>
          <a:bodyPr/>
          <a:lstStyle/>
          <a:p>
            <a:endParaRPr lang="sv-SE"/>
          </a:p>
        </p:txBody>
      </p:sp>
      <p:sp>
        <p:nvSpPr>
          <p:cNvPr id="7" name="Text 3"/>
          <p:cNvSpPr txBox="1"/>
          <p:nvPr/>
        </p:nvSpPr>
        <p:spPr>
          <a:xfrm>
            <a:off x="457200" y="13716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4"/>
          <p:cNvSpPr txBox="1"/>
          <p:nvPr/>
        </p:nvSpPr>
        <p:spPr>
          <a:xfrm>
            <a:off x="1005840" y="1389888"/>
            <a:ext cx="274320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Split the scan in two: how much do the two curves differ?</a:t>
            </a:r>
            <a:endParaRPr lang="en-US" sz="1400" dirty="0"/>
          </a:p>
        </p:txBody>
      </p:sp>
      <p:sp>
        <p:nvSpPr>
          <p:cNvPr id="9" name="Text 5"/>
          <p:cNvSpPr txBox="1"/>
          <p:nvPr/>
        </p:nvSpPr>
        <p:spPr>
          <a:xfrm>
            <a:off x="3886200" y="1353312"/>
            <a:ext cx="480060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for gauge, alignment and height</a:t>
            </a:r>
            <a:endParaRPr lang="en-US" sz="1100" dirty="0"/>
          </a:p>
        </p:txBody>
      </p:sp>
      <p:sp>
        <p:nvSpPr>
          <p:cNvPr id="10" name="Shape 2"/>
          <p:cNvSpPr/>
          <p:nvPr/>
        </p:nvSpPr>
        <p:spPr>
          <a:xfrm>
            <a:off x="457200" y="2029967"/>
            <a:ext cx="384048" cy="384048"/>
          </a:xfrm>
          <a:prstGeom prst="ellipse">
            <a:avLst/>
          </a:prstGeom>
          <a:solidFill>
            <a:srgbClr val="0F8B8D"/>
          </a:solidFill>
          <a:ln w="12700">
            <a:solidFill>
              <a:srgbClr val="028090"/>
            </a:solidFill>
            <a:prstDash val="solid"/>
          </a:ln>
        </p:spPr>
        <p:txBody>
          <a:bodyPr/>
          <a:lstStyle/>
          <a:p>
            <a:endParaRPr lang="sv-SE"/>
          </a:p>
        </p:txBody>
      </p:sp>
      <p:sp>
        <p:nvSpPr>
          <p:cNvPr id="11" name="Text 3"/>
          <p:cNvSpPr txBox="1"/>
          <p:nvPr/>
        </p:nvSpPr>
        <p:spPr>
          <a:xfrm>
            <a:off x="457200" y="2029967"/>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4"/>
          <p:cNvSpPr txBox="1"/>
          <p:nvPr/>
        </p:nvSpPr>
        <p:spPr>
          <a:xfrm>
            <a:off x="1005840" y="2048255"/>
            <a:ext cx="274320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Which faults can it detect?</a:t>
            </a:r>
            <a:endParaRPr lang="en-US" sz="1400" dirty="0"/>
          </a:p>
        </p:txBody>
      </p:sp>
      <p:sp>
        <p:nvSpPr>
          <p:cNvPr id="13" name="Text 5"/>
          <p:cNvSpPr txBox="1"/>
          <p:nvPr/>
        </p:nvSpPr>
        <p:spPr>
          <a:xfrm>
            <a:off x="3886200" y="2011679"/>
            <a:ext cx="480060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and how does the distance between the control points affect what can be detected?</a:t>
            </a:r>
            <a:endParaRPr lang="en-US" sz="1100" dirty="0"/>
          </a:p>
        </p:txBody>
      </p:sp>
      <p:sp>
        <p:nvSpPr>
          <p:cNvPr id="14" name="Shape 2"/>
          <p:cNvSpPr/>
          <p:nvPr/>
        </p:nvSpPr>
        <p:spPr>
          <a:xfrm>
            <a:off x="457200" y="2688336"/>
            <a:ext cx="384048" cy="384048"/>
          </a:xfrm>
          <a:prstGeom prst="ellipse">
            <a:avLst/>
          </a:prstGeom>
          <a:solidFill>
            <a:srgbClr val="0F8B8D"/>
          </a:solidFill>
          <a:ln w="12700">
            <a:solidFill>
              <a:srgbClr val="028090"/>
            </a:solidFill>
            <a:prstDash val="solid"/>
          </a:ln>
        </p:spPr>
        <p:txBody>
          <a:bodyPr/>
          <a:lstStyle/>
          <a:p>
            <a:endParaRPr lang="sv-SE"/>
          </a:p>
        </p:txBody>
      </p:sp>
      <p:sp>
        <p:nvSpPr>
          <p:cNvPr id="15" name="Text 3"/>
          <p:cNvSpPr txBox="1"/>
          <p:nvPr/>
        </p:nvSpPr>
        <p:spPr>
          <a:xfrm>
            <a:off x="457200" y="268833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4"/>
          <p:cNvSpPr txBox="1"/>
          <p:nvPr/>
        </p:nvSpPr>
        <p:spPr>
          <a:xfrm>
            <a:off x="1005840" y="2706624"/>
            <a:ext cx="274320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How is it used over time?</a:t>
            </a:r>
            <a:endParaRPr lang="en-US" sz="1400" dirty="0"/>
          </a:p>
        </p:txBody>
      </p:sp>
      <p:sp>
        <p:nvSpPr>
          <p:cNvPr id="17" name="Text 5"/>
          <p:cNvSpPr txBox="1"/>
          <p:nvPr/>
        </p:nvSpPr>
        <p:spPr>
          <a:xfrm>
            <a:off x="3886200" y="2670048"/>
            <a:ext cx="480060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how would the curve raise alerts and alarms, shown by the simulation?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1751</TotalTime>
  <Words>3742</Words>
  <Application>Microsoft Office PowerPoint</Application>
  <PresentationFormat>Bildspel på skärmen (16:9)</PresentationFormat>
  <Paragraphs>475</Paragraphs>
  <Slides>25</Slides>
  <Notes>14</Notes>
  <HiddenSlides>0</HiddenSlides>
  <MMClips>0</MMClips>
  <ScaleCrop>false</ScaleCrop>
  <HeadingPairs>
    <vt:vector size="6" baseType="variant">
      <vt:variant>
        <vt:lpstr>Använt teckensnitt</vt:lpstr>
      </vt:variant>
      <vt:variant>
        <vt:i4>5</vt:i4>
      </vt:variant>
      <vt:variant>
        <vt:lpstr>Tema</vt:lpstr>
      </vt:variant>
      <vt:variant>
        <vt:i4>1</vt:i4>
      </vt:variant>
      <vt:variant>
        <vt:lpstr>Bildrubriker</vt:lpstr>
      </vt:variant>
      <vt:variant>
        <vt:i4>25</vt:i4>
      </vt:variant>
    </vt:vector>
  </HeadingPairs>
  <TitlesOfParts>
    <vt:vector size="31" baseType="lpstr">
      <vt:lpstr>Arial</vt:lpstr>
      <vt:lpstr>Calibri</vt:lpstr>
      <vt:lpstr>Cambria</vt:lpstr>
      <vt:lpstr>Symbol</vt:lpstr>
      <vt:lpstr>Times New Roman</vt:lpstr>
      <vt:lpstr>Office Theme</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Point Cloud Processing for Railway Track Geometry</dc:title>
  <dc:subject>PptxGenJS Presentation</dc:subject>
  <dc:creator>Viktor Lindberg</dc:creator>
  <cp:lastModifiedBy>Viktor Lindberg</cp:lastModifiedBy>
  <cp:revision>5</cp:revision>
  <dcterms:created xsi:type="dcterms:W3CDTF">2026-09-17T23:05:45Z</dcterms:created>
  <dcterms:modified xsi:type="dcterms:W3CDTF">2026-10-02T13:58:45Z</dcterms:modified>
</cp:coreProperties>
</file>