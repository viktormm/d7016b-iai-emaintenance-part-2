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5.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70" r:id="rId16"/>
    <p:sldId id="272" r:id="rId19"/>
    <p:sldId id="273" r:id="rId20"/>
    <p:sldId id="274" r:id="rId21"/>
    <p:sldId id="277" r:id="rId24"/>
    <p:sldId id="278" r:id="rId25"/>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4" d="100"/>
          <a:sy n="154" d="100"/>
        </p:scale>
        <p:origin x="384"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slide" Target="slides/slide1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4" Type="http://schemas.openxmlformats.org/officeDocument/2006/relationships/slide" Target="slides/slide23.xml"/><Relationship Id="rId25" Type="http://schemas.openxmlformats.org/officeDocument/2006/relationships/slide" Target="slides/slide24.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00803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Demonstration 2. The project changed direction since demonstration 1; the first slide explains why and what data there is.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first idea was to link the vibration events from part one to the track geometry and predict fault types from vibration. The vibration data that links events to positions was not available. What I do have is one LiDAR scan: 15.9 million points over about 260 metres of double track, with no timestamps, no coordinate system and no second run. The height in the file is relative to the sensor, which rides on the rails, so of the five TQI parameters only gauge can be followed, plus the sideways alignment. So the project became: build a method that turns a run into a comparable 3D curve, and test what it could detect.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Every run is projected onto one fixed reference line, so position along the track means the same thing in every run. The rails are found in 25 cm slices, averaged into control points every metre, and joined by a Catmull-Rom spline. The spline passes through every control point and each piece depends only on its four nearest points, so a change in one place moves the curve only there. Nothing is random and all settings are stored, so a rebuild gives an identical result.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With one scan I cannot compare two real runs. Instead the scan is split into two halves that are processed separately. Their difference is the noise floor of the method: 0.9 mm for gauge. Then a known 4 mm gauge widening is added to one half, and the comparison recovers 3.9 mm along the whole stretch. The method also found something real: a gauge step of 3 to 4 mm at 155 m with a small dip in each rail, which looks like a rail joint - not confirmed.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Since there is only one real run, I simulated a monitoring period: 13 scans, one every two weeks, each made from a random half of the real scan with assumed defects added. Each run goes through the unchanged method. When an indicator passes its alert limit we get a warning; at the alarm limit maintenance is ordered at that place and the defect is reset. Nothing is scripted to happen in a given week. The slow gauge widening and the alignment defect are found by the curve and not by the TQI; the short-wave irregularity is found by the TQI and not by the curve. This shows the behaviour of the method, not of the real track.</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What is shown is the measurement: a repeatable curve, a noise floor of about a millimetre, and in simulation the whole chain from detection to maintenance. What is not shown is change between real runs, because there is one run, and anything that needs height. The next steps are a second run of the same line, data where the height is levelled, and a comparison with the track-recording car.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2027"/>
        </a:solidFill>
        <a:effectLst/>
      </p:bgPr>
    </p:bg>
    <p:spTree>
      <p:nvGrpSpPr>
        <p:cNvPr id="1" name=""/>
        <p:cNvGrpSpPr/>
        <p:nvPr/>
      </p:nvGrpSpPr>
      <p:grpSpPr>
        <a:xfrm>
          <a:off x="0" y="0"/>
          <a:ext cx="0" cy="0"/>
          <a:chOff x="0" y="0"/>
          <a:chExt cx="0" cy="0"/>
        </a:xfrm>
      </p:grpSpPr>
      <p:sp>
        <p:nvSpPr>
          <p:cNvPr id="2" name="Shape 0"/>
          <p:cNvSpPr/>
          <p:nvPr/>
        </p:nvSpPr>
        <p:spPr>
          <a:xfrm>
            <a:off x="6675120" y="-1005840"/>
            <a:ext cx="3840480" cy="3840480"/>
          </a:xfrm>
          <a:prstGeom prst="ellipse">
            <a:avLst/>
          </a:prstGeom>
          <a:solidFill>
            <a:srgbClr val="028090">
              <a:alpha val="22000"/>
            </a:srgbClr>
          </a:solidFill>
          <a:ln w="12700">
            <a:solidFill>
              <a:srgbClr val="333333"/>
            </a:solidFill>
            <a:prstDash val="solid"/>
          </a:ln>
        </p:spPr>
        <p:txBody>
          <a:bodyPr/>
          <a:lstStyle/>
          <a:p>
            <a:endParaRPr lang="sv-SE"/>
          </a:p>
        </p:txBody>
      </p:sp>
      <p:sp>
        <p:nvSpPr>
          <p:cNvPr id="3" name="Shape 1"/>
          <p:cNvSpPr/>
          <p:nvPr/>
        </p:nvSpPr>
        <p:spPr>
          <a:xfrm>
            <a:off x="7680960" y="2651760"/>
            <a:ext cx="2377440" cy="2377440"/>
          </a:xfrm>
          <a:prstGeom prst="ellipse">
            <a:avLst/>
          </a:prstGeom>
          <a:solidFill>
            <a:srgbClr val="00A896">
              <a:alpha val="15000"/>
            </a:srgbClr>
          </a:solidFill>
          <a:ln w="12700">
            <a:solidFill>
              <a:srgbClr val="333333"/>
            </a:solidFill>
            <a:prstDash val="solid"/>
          </a:ln>
        </p:spPr>
        <p:txBody>
          <a:bodyPr/>
          <a:lstStyle/>
          <a:p>
            <a:endParaRPr lang="sv-SE"/>
          </a:p>
        </p:txBody>
      </p:sp>
      <p:sp>
        <p:nvSpPr>
          <p:cNvPr id="4" name="Text 2"/>
          <p:cNvSpPr txBox="1"/>
          <p:nvPr/>
        </p:nvSpPr>
        <p:spPr>
          <a:xfrm>
            <a:off x="457200" y="1097280"/>
            <a:ext cx="6766560" cy="256032"/>
          </a:xfrm>
          <a:prstGeom prst="rect">
            <a:avLst/>
          </a:prstGeom>
          <a:noFill/>
          <a:ln/>
        </p:spPr>
        <p:txBody>
          <a:bodyPr wrap="square" lIns="0" tIns="0" rIns="0" bIns="0" rtlCol="0" anchor="ctr"/>
          <a:lstStyle/>
          <a:p>
            <a:pPr marL="0" indent="0">
              <a:buNone/>
            </a:pPr>
            <a:r>
              <a:rPr lang="en-US" sz="1150" b="1" kern="0" spc="200" dirty="0">
                <a:solidFill>
                  <a:srgbClr val="00A896"/>
                </a:solidFill>
                <a:latin typeface="Calibri" pitchFamily="34" charset="0"/>
                <a:ea typeface="Calibri" pitchFamily="34" charset="-122"/>
                <a:cs typeface="Calibri" pitchFamily="34" charset="-120"/>
              </a:rPr>
              <a:t>D7016B · PROJECT DEMONSTRATION 2</a:t>
            </a:r>
            <a:endParaRPr lang="en-US" sz="1150" dirty="0"/>
          </a:p>
        </p:txBody>
      </p:sp>
      <p:sp>
        <p:nvSpPr>
          <p:cNvPr id="5" name="Text 3"/>
          <p:cNvSpPr txBox="1"/>
          <p:nvPr/>
        </p:nvSpPr>
        <p:spPr>
          <a:xfrm>
            <a:off x="457200" y="1417320"/>
            <a:ext cx="6858000" cy="1097280"/>
          </a:xfrm>
          <a:prstGeom prst="rect">
            <a:avLst/>
          </a:prstGeom>
          <a:noFill/>
          <a:ln/>
        </p:spPr>
        <p:txBody>
          <a:bodyPr wrap="square" lIns="0" tIns="0" rIns="0" bIns="0" rtlCol="0" anchor="ctr"/>
          <a:lstStyle/>
          <a:p>
            <a:pPr marL="0" indent="0">
              <a:buNone/>
            </a:pPr>
            <a:r>
              <a:rPr lang="en-US" sz="3100" b="1" dirty="0">
                <a:solidFill>
                  <a:srgbClr val="FFFFFF"/>
                </a:solidFill>
                <a:latin typeface="Cambria" pitchFamily="34" charset="0"/>
                <a:ea typeface="Cambria" pitchFamily="34" charset="-122"/>
                <a:cs typeface="Cambria" pitchFamily="34" charset="-120"/>
              </a:rPr>
              <a:t>Track change over time as 3D curves</a:t>
            </a:r>
            <a:endParaRPr lang="en-US" sz="3100" dirty="0"/>
          </a:p>
        </p:txBody>
      </p:sp>
      <p:sp>
        <p:nvSpPr>
          <p:cNvPr id="6" name="Text 4"/>
          <p:cNvSpPr txBox="1"/>
          <p:nvPr/>
        </p:nvSpPr>
        <p:spPr>
          <a:xfrm>
            <a:off x="457200" y="2560320"/>
            <a:ext cx="6583680" cy="365760"/>
          </a:xfrm>
          <a:prstGeom prst="rect">
            <a:avLst/>
          </a:prstGeom>
          <a:noFill/>
          <a:ln/>
        </p:spPr>
        <p:txBody>
          <a:bodyPr wrap="square" lIns="0" tIns="0" rIns="0" bIns="0" rtlCol="0" anchor="ctr"/>
          <a:lstStyle/>
          <a:p>
            <a:pPr marL="0" indent="0">
              <a:buNone/>
            </a:pPr>
            <a:r>
              <a:rPr lang="en-US" sz="1600" i="1" dirty="0">
                <a:solidFill>
                  <a:srgbClr val="00A896"/>
                </a:solidFill>
                <a:latin typeface="Calibri" pitchFamily="34" charset="0"/>
                <a:ea typeface="Calibri" pitchFamily="34" charset="-122"/>
                <a:cs typeface="Calibri" pitchFamily="34" charset="-120"/>
              </a:rPr>
              <a:t>…a method built and tested on one LiDAR scan</a:t>
            </a:r>
            <a:endParaRPr lang="en-US" sz="1600" dirty="0"/>
          </a:p>
        </p:txBody>
      </p:sp>
      <p:sp>
        <p:nvSpPr>
          <p:cNvPr id="7" name="Text 5"/>
          <p:cNvSpPr txBox="1"/>
          <p:nvPr/>
        </p:nvSpPr>
        <p:spPr>
          <a:xfrm>
            <a:off x="457200" y="3703320"/>
            <a:ext cx="5943600" cy="914400"/>
          </a:xfrm>
          <a:prstGeom prst="rect">
            <a:avLst/>
          </a:prstGeom>
          <a:noFill/>
          <a:ln/>
        </p:spPr>
        <p:txBody>
          <a:bodyPr wrap="square" lIns="0" tIns="0" rIns="0" bIns="0" rtlCol="0" anchor="ctr"/>
          <a:lstStyle/>
          <a:p>
            <a:pPr marL="0" indent="0">
              <a:lnSpc>
                <a:spcPts val="1800"/>
              </a:lnSpc>
              <a:buNone/>
            </a:pPr>
            <a:r>
              <a:rPr lang="en-US" sz="1250" b="1" dirty="0">
                <a:solidFill>
                  <a:srgbClr val="C7D8DB"/>
                </a:solidFill>
                <a:latin typeface="Calibri" pitchFamily="34" charset="0"/>
                <a:ea typeface="Calibri" pitchFamily="34" charset="-122"/>
                <a:cs typeface="Calibri" pitchFamily="34" charset="-120"/>
              </a:rPr>
              <a:t>Viktor Lindberg</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Supervisor: Amit Patwardhan</a:t>
            </a:r>
            <a:endParaRPr lang="en-US" sz="1250" dirty="0"/>
          </a:p>
          <a:p>
            <a:pPr marL="0" indent="0">
              <a:lnSpc>
                <a:spcPts val="1800"/>
              </a:lnSpc>
              <a:buNone/>
            </a:pPr>
            <a:r>
              <a:rPr lang="en-US" sz="1250" dirty="0">
                <a:solidFill>
                  <a:srgbClr val="C7D8DB"/>
                </a:solidFill>
                <a:latin typeface="Calibri" pitchFamily="34" charset="0"/>
                <a:ea typeface="Calibri" pitchFamily="34" charset="-122"/>
                <a:cs typeface="Calibri" pitchFamily="34" charset="-120"/>
              </a:rPr>
              <a:t>Luleå University of Technology · D7016B – Industrial AI and </a:t>
            </a:r>
            <a:r>
              <a:rPr lang="en-US" sz="1250" dirty="0" err="1">
                <a:solidFill>
                  <a:srgbClr val="C7D8DB"/>
                </a:solidFill>
                <a:latin typeface="Calibri" pitchFamily="34" charset="0"/>
                <a:ea typeface="Calibri" pitchFamily="34" charset="-122"/>
                <a:cs typeface="Calibri" pitchFamily="34" charset="-120"/>
              </a:rPr>
              <a:t>eMaintenance</a:t>
            </a:r>
            <a:r>
              <a:rPr lang="en-US" sz="1250" dirty="0">
                <a:solidFill>
                  <a:srgbClr val="C7D8DB"/>
                </a:solidFill>
                <a:latin typeface="Calibri" pitchFamily="34" charset="0"/>
                <a:ea typeface="Calibri" pitchFamily="34" charset="-122"/>
                <a:cs typeface="Calibri" pitchFamily="34" charset="-120"/>
              </a:rPr>
              <a:t>: Part II</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CHANGE OF IDEA</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From fault types to change over time</a:t>
            </a:r>
            <a:endParaRPr lang="en-US" sz="2700" dirty="0"/>
          </a:p>
        </p:txBody>
      </p:sp>
      <p:sp>
        <p:nvSpPr>
          <p:cNvPr id="4" name="Shape 4"/>
          <p:cNvSpPr/>
          <p:nvPr/>
        </p:nvSpPr>
        <p:spPr>
          <a:xfrm>
            <a:off x="457200" y="1234440"/>
            <a:ext cx="3611880" cy="123444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5" name="TextBox 4"/>
          <p:cNvSpPr txBox="1"/>
          <p:nvPr/>
        </p:nvSpPr>
        <p:spPr>
          <a:xfrm>
            <a:off x="685800" y="1353312"/>
            <a:ext cx="3200400" cy="228600"/>
          </a:xfrm>
          <a:prstGeom prst="rect">
            <a:avLst/>
          </a:prstGeom>
          <a:noFill/>
        </p:spPr>
        <p:txBody>
          <a:bodyPr wrap="square" lIns="0" tIns="0" rIns="0" bIns="0" anchor="t">
            <a:spAutoFit/>
          </a:bodyPr>
          <a:lstStyle/>
          <a:p>
            <a:r>
              <a:rPr sz="1100" b="1" spc="200">
                <a:solidFill>
                  <a:srgbClr val="5F7178"/>
                </a:solidFill>
                <a:latin typeface="Calibri"/>
              </a:rPr>
              <a:t>BEFORE</a:t>
            </a:r>
          </a:p>
        </p:txBody>
      </p:sp>
      <p:sp>
        <p:nvSpPr>
          <p:cNvPr id="6" name="TextBox 5"/>
          <p:cNvSpPr txBox="1"/>
          <p:nvPr/>
        </p:nvSpPr>
        <p:spPr>
          <a:xfrm>
            <a:off x="685800" y="1591056"/>
            <a:ext cx="3200400" cy="274320"/>
          </a:xfrm>
          <a:prstGeom prst="rect">
            <a:avLst/>
          </a:prstGeom>
          <a:noFill/>
        </p:spPr>
        <p:txBody>
          <a:bodyPr wrap="square" lIns="0" tIns="0" rIns="0" bIns="0" anchor="t">
            <a:spAutoFit/>
          </a:bodyPr>
          <a:lstStyle/>
          <a:p>
            <a:r>
              <a:rPr sz="1500" b="1">
                <a:solidFill>
                  <a:srgbClr val="5F7178"/>
                </a:solidFill>
                <a:latin typeface="Calibri"/>
              </a:rPr>
              <a:t>Link vibration events to geometry</a:t>
            </a:r>
          </a:p>
        </p:txBody>
      </p:sp>
      <p:sp>
        <p:nvSpPr>
          <p:cNvPr id="7" name="TextBox 6"/>
          <p:cNvSpPr txBox="1"/>
          <p:nvPr/>
        </p:nvSpPr>
        <p:spPr>
          <a:xfrm>
            <a:off x="685800" y="1901952"/>
            <a:ext cx="3200400" cy="475488"/>
          </a:xfrm>
          <a:prstGeom prst="rect">
            <a:avLst/>
          </a:prstGeom>
          <a:noFill/>
        </p:spPr>
        <p:txBody>
          <a:bodyPr wrap="square" lIns="0" tIns="0" rIns="0" bIns="0" anchor="t">
            <a:spAutoFit/>
          </a:bodyPr>
          <a:lstStyle/>
          <a:p>
            <a:r>
              <a:rPr sz="1150" b="0">
                <a:solidFill>
                  <a:srgbClr val="5F7178"/>
                </a:solidFill>
                <a:latin typeface="Calibri"/>
              </a:rPr>
              <a:t>Group abnormal vibration events by track geometry, then predict the fault type.</a:t>
            </a:r>
          </a:p>
        </p:txBody>
      </p:sp>
      <p:sp>
        <p:nvSpPr>
          <p:cNvPr id="8" name="Right Arrow 7"/>
          <p:cNvSpPr/>
          <p:nvPr/>
        </p:nvSpPr>
        <p:spPr>
          <a:xfrm>
            <a:off x="4206240" y="1627632"/>
            <a:ext cx="731520" cy="457200"/>
          </a:xfrm>
          <a:prstGeom prst="rightArrow">
            <a:avLst/>
          </a:prstGeom>
          <a:solidFill>
            <a:srgbClr val="0280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Shape 16"/>
          <p:cNvSpPr/>
          <p:nvPr/>
        </p:nvSpPr>
        <p:spPr>
          <a:xfrm>
            <a:off x="5074920" y="1234440"/>
            <a:ext cx="3611880" cy="1234440"/>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0" name="TextBox 9"/>
          <p:cNvSpPr txBox="1"/>
          <p:nvPr/>
        </p:nvSpPr>
        <p:spPr>
          <a:xfrm>
            <a:off x="5303520" y="1353312"/>
            <a:ext cx="3200400" cy="228600"/>
          </a:xfrm>
          <a:prstGeom prst="rect">
            <a:avLst/>
          </a:prstGeom>
          <a:noFill/>
        </p:spPr>
        <p:txBody>
          <a:bodyPr wrap="square" lIns="0" tIns="0" rIns="0" bIns="0" anchor="t">
            <a:spAutoFit/>
          </a:bodyPr>
          <a:lstStyle/>
          <a:p>
            <a:r>
              <a:rPr sz="1100" b="1" spc="200">
                <a:solidFill>
                  <a:srgbClr val="00A896"/>
                </a:solidFill>
                <a:latin typeface="Calibri"/>
              </a:rPr>
              <a:t>NOW</a:t>
            </a:r>
          </a:p>
        </p:txBody>
      </p:sp>
      <p:sp>
        <p:nvSpPr>
          <p:cNvPr id="11" name="TextBox 10"/>
          <p:cNvSpPr txBox="1"/>
          <p:nvPr/>
        </p:nvSpPr>
        <p:spPr>
          <a:xfrm>
            <a:off x="5303520" y="1591056"/>
            <a:ext cx="3200400" cy="274320"/>
          </a:xfrm>
          <a:prstGeom prst="rect">
            <a:avLst/>
          </a:prstGeom>
          <a:noFill/>
        </p:spPr>
        <p:txBody>
          <a:bodyPr wrap="square" lIns="0" tIns="0" rIns="0" bIns="0" anchor="t">
            <a:spAutoFit/>
          </a:bodyPr>
          <a:lstStyle/>
          <a:p>
            <a:r>
              <a:rPr sz="1500" b="1">
                <a:solidFill>
                  <a:srgbClr val="FFFFFF"/>
                </a:solidFill>
                <a:latin typeface="Calibri"/>
              </a:rPr>
              <a:t>Follow the track geometry over time</a:t>
            </a:r>
          </a:p>
        </p:txBody>
      </p:sp>
      <p:sp>
        <p:nvSpPr>
          <p:cNvPr id="12" name="TextBox 11"/>
          <p:cNvSpPr txBox="1"/>
          <p:nvPr/>
        </p:nvSpPr>
        <p:spPr>
          <a:xfrm>
            <a:off x="5303520" y="1901952"/>
            <a:ext cx="3200400" cy="475488"/>
          </a:xfrm>
          <a:prstGeom prst="rect">
            <a:avLst/>
          </a:prstGeom>
          <a:noFill/>
        </p:spPr>
        <p:txBody>
          <a:bodyPr wrap="square" lIns="0" tIns="0" rIns="0" bIns="0" anchor="t">
            <a:spAutoFit/>
          </a:bodyPr>
          <a:lstStyle/>
          <a:p>
            <a:r>
              <a:rPr sz="1150" b="0">
                <a:solidFill>
                  <a:srgbClr val="C7D8DB"/>
                </a:solidFill>
                <a:latin typeface="Calibri"/>
              </a:rPr>
              <a:t>Turn each LiDAR run into a 3D curve and compare runs of the same track.</a:t>
            </a:r>
          </a:p>
        </p:txBody>
      </p:sp>
      <p:sp>
        <p:nvSpPr>
          <p:cNvPr id="13" name="Shape 4"/>
          <p:cNvSpPr/>
          <p:nvPr/>
        </p:nvSpPr>
        <p:spPr>
          <a:xfrm>
            <a:off x="457200" y="2596896"/>
            <a:ext cx="8229600" cy="64008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4" name="TextBox 13"/>
          <p:cNvSpPr txBox="1"/>
          <p:nvPr/>
        </p:nvSpPr>
        <p:spPr>
          <a:xfrm>
            <a:off x="731520" y="2596896"/>
            <a:ext cx="7680960" cy="640080"/>
          </a:xfrm>
          <a:prstGeom prst="rect">
            <a:avLst/>
          </a:prstGeom>
          <a:noFill/>
        </p:spPr>
        <p:txBody>
          <a:bodyPr wrap="square" lIns="0" tIns="0" rIns="0" bIns="0" anchor="ctr">
            <a:spAutoFit/>
          </a:bodyPr>
          <a:lstStyle/>
          <a:p>
            <a:r>
              <a:rPr sz="1200" b="1">
                <a:solidFill>
                  <a:srgbClr val="028090"/>
                </a:solidFill>
                <a:latin typeface="Calibri"/>
              </a:rPr>
              <a:t>Why the change.</a:t>
            </a:r>
            <a:r>
              <a:rPr sz="1200" b="0">
                <a:solidFill>
                  <a:srgbClr val="16262B"/>
                </a:solidFill>
                <a:latin typeface="Calibri"/>
              </a:rPr>
              <a:t>  The vibration data that would link events to positions on the track was not available, so the first idea could not be tested. The point cloud was, so the project follows the geometry instead.</a:t>
            </a:r>
          </a:p>
        </p:txBody>
      </p:sp>
      <p:sp>
        <p:nvSpPr>
          <p:cNvPr id="15" name="Shape 16"/>
          <p:cNvSpPr/>
          <p:nvPr/>
        </p:nvSpPr>
        <p:spPr>
          <a:xfrm>
            <a:off x="457200" y="4224528"/>
            <a:ext cx="8229600" cy="438912"/>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6" name="Text 17"/>
          <p:cNvSpPr txBox="1"/>
          <p:nvPr/>
        </p:nvSpPr>
        <p:spPr>
          <a:xfrm>
            <a:off x="731520" y="4224528"/>
            <a:ext cx="7680960" cy="43891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One scan, so no real comparison yet: the project builds the method and tests what it can detect.</a:t>
            </a:r>
            <a:endParaRPr lang="en-US" sz="1200" dirty="0"/>
          </a:p>
        </p:txBody>
      </p:sp>
      <p:sp>
        <p:nvSpPr>
          <p:cNvPr id="17" name="Shape 4"/>
          <p:cNvSpPr/>
          <p:nvPr/>
        </p:nvSpPr>
        <p:spPr>
          <a:xfrm>
            <a:off x="457200" y="3364992"/>
            <a:ext cx="2624328" cy="73152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8" name="Text 5"/>
          <p:cNvSpPr txBox="1"/>
          <p:nvPr/>
        </p:nvSpPr>
        <p:spPr>
          <a:xfrm>
            <a:off x="512064" y="3364992"/>
            <a:ext cx="914400" cy="731520"/>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1</a:t>
            </a:r>
            <a:endParaRPr lang="en-US" sz="1800" dirty="0"/>
          </a:p>
        </p:txBody>
      </p:sp>
      <p:sp>
        <p:nvSpPr>
          <p:cNvPr id="19" name="Text 6"/>
          <p:cNvSpPr txBox="1"/>
          <p:nvPr/>
        </p:nvSpPr>
        <p:spPr>
          <a:xfrm>
            <a:off x="1444752" y="3438144"/>
            <a:ext cx="1572768"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LiDAR scan of the track</a:t>
            </a:r>
            <a:endParaRPr lang="en-US" sz="1100" dirty="0"/>
          </a:p>
        </p:txBody>
      </p:sp>
      <p:sp>
        <p:nvSpPr>
          <p:cNvPr id="20" name="Text 7"/>
          <p:cNvSpPr txBox="1"/>
          <p:nvPr/>
        </p:nvSpPr>
        <p:spPr>
          <a:xfrm>
            <a:off x="1444752" y="3675887"/>
            <a:ext cx="1572768" cy="36576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15.9 M points, about 260 m of double track</a:t>
            </a:r>
            <a:endParaRPr lang="en-US" sz="900" dirty="0"/>
          </a:p>
        </p:txBody>
      </p:sp>
      <p:sp>
        <p:nvSpPr>
          <p:cNvPr id="21" name="Shape 4"/>
          <p:cNvSpPr/>
          <p:nvPr/>
        </p:nvSpPr>
        <p:spPr>
          <a:xfrm>
            <a:off x="3259836" y="3364992"/>
            <a:ext cx="2624328" cy="73152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22" name="Text 5"/>
          <p:cNvSpPr txBox="1"/>
          <p:nvPr/>
        </p:nvSpPr>
        <p:spPr>
          <a:xfrm>
            <a:off x="3314700" y="3364992"/>
            <a:ext cx="914400" cy="731520"/>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a:t>
            </a:r>
            <a:endParaRPr lang="en-US" sz="1800" dirty="0"/>
          </a:p>
        </p:txBody>
      </p:sp>
      <p:sp>
        <p:nvSpPr>
          <p:cNvPr id="23" name="Text 6"/>
          <p:cNvSpPr txBox="1"/>
          <p:nvPr/>
        </p:nvSpPr>
        <p:spPr>
          <a:xfrm>
            <a:off x="4247388" y="3438144"/>
            <a:ext cx="1572768"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vibration data</a:t>
            </a:r>
            <a:endParaRPr lang="en-US" sz="1100" dirty="0"/>
          </a:p>
        </p:txBody>
      </p:sp>
      <p:sp>
        <p:nvSpPr>
          <p:cNvPr id="24" name="Text 7"/>
          <p:cNvSpPr txBox="1"/>
          <p:nvPr/>
        </p:nvSpPr>
        <p:spPr>
          <a:xfrm>
            <a:off x="4247388" y="3675887"/>
            <a:ext cx="1572768" cy="36576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and no second run, timestamps or coordinate system</a:t>
            </a:r>
            <a:endParaRPr lang="en-US" sz="900" dirty="0"/>
          </a:p>
        </p:txBody>
      </p:sp>
      <p:sp>
        <p:nvSpPr>
          <p:cNvPr id="25" name="Shape 4"/>
          <p:cNvSpPr/>
          <p:nvPr/>
        </p:nvSpPr>
        <p:spPr>
          <a:xfrm>
            <a:off x="6062472" y="3364992"/>
            <a:ext cx="2624328" cy="73152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26" name="Text 5"/>
          <p:cNvSpPr txBox="1"/>
          <p:nvPr/>
        </p:nvSpPr>
        <p:spPr>
          <a:xfrm>
            <a:off x="6117336" y="3364992"/>
            <a:ext cx="914400" cy="731520"/>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1 of 5</a:t>
            </a:r>
            <a:endParaRPr lang="en-US" sz="1800" dirty="0"/>
          </a:p>
        </p:txBody>
      </p:sp>
      <p:sp>
        <p:nvSpPr>
          <p:cNvPr id="27" name="Text 6"/>
          <p:cNvSpPr txBox="1"/>
          <p:nvPr/>
        </p:nvSpPr>
        <p:spPr>
          <a:xfrm>
            <a:off x="7050024" y="3438144"/>
            <a:ext cx="1572768"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TQI parameters</a:t>
            </a:r>
            <a:endParaRPr lang="en-US" sz="1100" dirty="0"/>
          </a:p>
        </p:txBody>
      </p:sp>
      <p:sp>
        <p:nvSpPr>
          <p:cNvPr id="28" name="Text 7"/>
          <p:cNvSpPr txBox="1"/>
          <p:nvPr/>
        </p:nvSpPr>
        <p:spPr>
          <a:xfrm>
            <a:off x="7050024" y="3675887"/>
            <a:ext cx="1572768" cy="365760"/>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gauge, plus alignment; height is relative to the sensor</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One run becomes one repeatable 3D curve</a:t>
            </a:r>
            <a:endParaRPr lang="en-US" sz="2700" dirty="0"/>
          </a:p>
        </p:txBody>
      </p:sp>
      <p:sp>
        <p:nvSpPr>
          <p:cNvPr id="4" name="Shape 2"/>
          <p:cNvSpPr/>
          <p:nvPr/>
        </p:nvSpPr>
        <p:spPr>
          <a:xfrm>
            <a:off x="457200" y="1325880"/>
            <a:ext cx="384048" cy="384048"/>
          </a:xfrm>
          <a:prstGeom prst="ellipse">
            <a:avLst/>
          </a:prstGeom>
          <a:solidFill>
            <a:srgbClr val="028090"/>
          </a:solidFill>
          <a:ln w="12700">
            <a:solidFill>
              <a:srgbClr val="028090"/>
            </a:solidFill>
            <a:prstDash val="solid"/>
          </a:ln>
        </p:spPr>
        <p:txBody>
          <a:bodyPr/>
          <a:lstStyle/>
          <a:p>
            <a:endParaRPr lang="sv-SE"/>
          </a:p>
        </p:txBody>
      </p:sp>
      <p:sp>
        <p:nvSpPr>
          <p:cNvPr id="5" name="Text 3"/>
          <p:cNvSpPr txBox="1"/>
          <p:nvPr/>
        </p:nvSpPr>
        <p:spPr>
          <a:xfrm>
            <a:off x="45720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005840" y="1316736"/>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Reference</a:t>
            </a:r>
            <a:endParaRPr lang="en-US" sz="1400" dirty="0"/>
          </a:p>
        </p:txBody>
      </p:sp>
      <p:sp>
        <p:nvSpPr>
          <p:cNvPr id="7" name="Text 5"/>
          <p:cNvSpPr txBox="1"/>
          <p:nvPr/>
        </p:nvSpPr>
        <p:spPr>
          <a:xfrm>
            <a:off x="2514600" y="1307592"/>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one track centreline from the first run, used for every run</a:t>
            </a:r>
            <a:endParaRPr lang="en-US" sz="1100" dirty="0"/>
          </a:p>
        </p:txBody>
      </p:sp>
      <p:sp>
        <p:nvSpPr>
          <p:cNvPr id="8" name="Shape 2"/>
          <p:cNvSpPr/>
          <p:nvPr/>
        </p:nvSpPr>
        <p:spPr>
          <a:xfrm>
            <a:off x="457200" y="1929384"/>
            <a:ext cx="384048" cy="384048"/>
          </a:xfrm>
          <a:prstGeom prst="ellipse">
            <a:avLst/>
          </a:prstGeom>
          <a:solidFill>
            <a:srgbClr val="028090"/>
          </a:solidFill>
          <a:ln w="12700">
            <a:solidFill>
              <a:srgbClr val="028090"/>
            </a:solidFill>
            <a:prstDash val="solid"/>
          </a:ln>
        </p:spPr>
        <p:txBody>
          <a:bodyPr/>
          <a:lstStyle/>
          <a:p>
            <a:endParaRPr lang="sv-SE"/>
          </a:p>
        </p:txBody>
      </p:sp>
      <p:sp>
        <p:nvSpPr>
          <p:cNvPr id="9" name="Text 3"/>
          <p:cNvSpPr txBox="1"/>
          <p:nvPr/>
        </p:nvSpPr>
        <p:spPr>
          <a:xfrm>
            <a:off x="457200" y="192938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4"/>
          <p:cNvSpPr txBox="1"/>
          <p:nvPr/>
        </p:nvSpPr>
        <p:spPr>
          <a:xfrm>
            <a:off x="1005840" y="1920240"/>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Rails</a:t>
            </a:r>
            <a:endParaRPr lang="en-US" sz="1400" dirty="0"/>
          </a:p>
        </p:txBody>
      </p:sp>
      <p:sp>
        <p:nvSpPr>
          <p:cNvPr id="11" name="Text 5"/>
          <p:cNvSpPr txBox="1"/>
          <p:nvPr/>
        </p:nvSpPr>
        <p:spPr>
          <a:xfrm>
            <a:off x="2514600" y="1911095"/>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rail head and gauge face located in every 25 cm of track</a:t>
            </a:r>
            <a:endParaRPr lang="en-US" sz="1100" dirty="0"/>
          </a:p>
        </p:txBody>
      </p:sp>
      <p:sp>
        <p:nvSpPr>
          <p:cNvPr id="12" name="Shape 2"/>
          <p:cNvSpPr/>
          <p:nvPr/>
        </p:nvSpPr>
        <p:spPr>
          <a:xfrm>
            <a:off x="457200" y="2532888"/>
            <a:ext cx="384048" cy="384048"/>
          </a:xfrm>
          <a:prstGeom prst="ellipse">
            <a:avLst/>
          </a:prstGeom>
          <a:solidFill>
            <a:srgbClr val="028090"/>
          </a:solidFill>
          <a:ln w="12700">
            <a:solidFill>
              <a:srgbClr val="028090"/>
            </a:solidFill>
            <a:prstDash val="solid"/>
          </a:ln>
        </p:spPr>
        <p:txBody>
          <a:bodyPr/>
          <a:lstStyle/>
          <a:p>
            <a:endParaRPr lang="sv-SE"/>
          </a:p>
        </p:txBody>
      </p:sp>
      <p:sp>
        <p:nvSpPr>
          <p:cNvPr id="13" name="Text 3"/>
          <p:cNvSpPr txBox="1"/>
          <p:nvPr/>
        </p:nvSpPr>
        <p:spPr>
          <a:xfrm>
            <a:off x="457200" y="25328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4"/>
          <p:cNvSpPr txBox="1"/>
          <p:nvPr/>
        </p:nvSpPr>
        <p:spPr>
          <a:xfrm>
            <a:off x="1005840" y="2523744"/>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Control points</a:t>
            </a:r>
            <a:endParaRPr lang="en-US" sz="1400" dirty="0"/>
          </a:p>
        </p:txBody>
      </p:sp>
      <p:sp>
        <p:nvSpPr>
          <p:cNvPr id="15" name="Text 5"/>
          <p:cNvSpPr txBox="1"/>
          <p:nvPr/>
        </p:nvSpPr>
        <p:spPr>
          <a:xfrm>
            <a:off x="2514600" y="2514600"/>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1 m averages on a fixed grid, so runs line up</a:t>
            </a:r>
            <a:endParaRPr lang="en-US" sz="1100" dirty="0"/>
          </a:p>
        </p:txBody>
      </p:sp>
      <p:sp>
        <p:nvSpPr>
          <p:cNvPr id="16" name="Shape 2"/>
          <p:cNvSpPr/>
          <p:nvPr/>
        </p:nvSpPr>
        <p:spPr>
          <a:xfrm>
            <a:off x="457200" y="3136391"/>
            <a:ext cx="384048" cy="384048"/>
          </a:xfrm>
          <a:prstGeom prst="ellipse">
            <a:avLst/>
          </a:prstGeom>
          <a:solidFill>
            <a:srgbClr val="028090"/>
          </a:solidFill>
          <a:ln w="12700">
            <a:solidFill>
              <a:srgbClr val="028090"/>
            </a:solidFill>
            <a:prstDash val="solid"/>
          </a:ln>
        </p:spPr>
        <p:txBody>
          <a:bodyPr/>
          <a:lstStyle/>
          <a:p>
            <a:endParaRPr lang="sv-SE"/>
          </a:p>
        </p:txBody>
      </p:sp>
      <p:sp>
        <p:nvSpPr>
          <p:cNvPr id="17" name="Text 3"/>
          <p:cNvSpPr txBox="1"/>
          <p:nvPr/>
        </p:nvSpPr>
        <p:spPr>
          <a:xfrm>
            <a:off x="457200" y="3136391"/>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4"/>
          <p:cNvSpPr txBox="1"/>
          <p:nvPr/>
        </p:nvSpPr>
        <p:spPr>
          <a:xfrm>
            <a:off x="1005840" y="3127248"/>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Catmull-Rom</a:t>
            </a:r>
            <a:endParaRPr lang="en-US" sz="1400" dirty="0"/>
          </a:p>
        </p:txBody>
      </p:sp>
      <p:sp>
        <p:nvSpPr>
          <p:cNvPr id="19" name="Text 5"/>
          <p:cNvSpPr txBox="1"/>
          <p:nvPr/>
        </p:nvSpPr>
        <p:spPr>
          <a:xfrm>
            <a:off x="2514600" y="3118103"/>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a curve through every control point; a change stays local</a:t>
            </a:r>
            <a:endParaRPr lang="en-US" sz="1100" dirty="0"/>
          </a:p>
        </p:txBody>
      </p:sp>
      <p:sp>
        <p:nvSpPr>
          <p:cNvPr id="20" name="Shape 2"/>
          <p:cNvSpPr/>
          <p:nvPr/>
        </p:nvSpPr>
        <p:spPr>
          <a:xfrm>
            <a:off x="457200" y="3739896"/>
            <a:ext cx="384048" cy="384048"/>
          </a:xfrm>
          <a:prstGeom prst="ellipse">
            <a:avLst/>
          </a:prstGeom>
          <a:solidFill>
            <a:srgbClr val="028090"/>
          </a:solidFill>
          <a:ln w="12700">
            <a:solidFill>
              <a:srgbClr val="028090"/>
            </a:solidFill>
            <a:prstDash val="solid"/>
          </a:ln>
        </p:spPr>
        <p:txBody>
          <a:bodyPr/>
          <a:lstStyle/>
          <a:p>
            <a:endParaRPr lang="sv-SE"/>
          </a:p>
        </p:txBody>
      </p:sp>
      <p:sp>
        <p:nvSpPr>
          <p:cNvPr id="21" name="Text 3"/>
          <p:cNvSpPr txBox="1"/>
          <p:nvPr/>
        </p:nvSpPr>
        <p:spPr>
          <a:xfrm>
            <a:off x="457200" y="373989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4"/>
          <p:cNvSpPr txBox="1"/>
          <p:nvPr/>
        </p:nvSpPr>
        <p:spPr>
          <a:xfrm>
            <a:off x="1005840" y="3730752"/>
            <a:ext cx="1463040" cy="274320"/>
          </a:xfrm>
          <a:prstGeom prst="rect">
            <a:avLst/>
          </a:prstGeom>
          <a:noFill/>
          <a:ln/>
        </p:spPr>
        <p:txBody>
          <a:bodyPr wrap="square" lIns="0" tIns="0" rIns="0" bIns="0" rtlCol="0" anchor="ctr"/>
          <a:lstStyle/>
          <a:p>
            <a:pPr marL="0" indent="0">
              <a:buNone/>
            </a:pPr>
            <a:r>
              <a:rPr lang="en-US" sz="1400" b="1" dirty="0">
                <a:solidFill>
                  <a:srgbClr val="16262B"/>
                </a:solidFill>
                <a:latin typeface="Calibri" pitchFamily="34" charset="0"/>
                <a:ea typeface="Calibri" pitchFamily="34" charset="-122"/>
                <a:cs typeface="Calibri" pitchFamily="34" charset="-120"/>
              </a:rPr>
              <a:t>Compare</a:t>
            </a:r>
            <a:endParaRPr lang="en-US" sz="1400" dirty="0"/>
          </a:p>
        </p:txBody>
      </p:sp>
      <p:sp>
        <p:nvSpPr>
          <p:cNvPr id="23" name="Text 5"/>
          <p:cNvSpPr txBox="1"/>
          <p:nvPr/>
        </p:nvSpPr>
        <p:spPr>
          <a:xfrm>
            <a:off x="2514600" y="3721608"/>
            <a:ext cx="2148840" cy="420624"/>
          </a:xfrm>
          <a:prstGeom prst="rect">
            <a:avLst/>
          </a:prstGeom>
          <a:noFill/>
          <a:ln/>
        </p:spPr>
        <p:txBody>
          <a:bodyPr wrap="square" lIns="0" tIns="0" rIns="0" bIns="0" rtlCol="0" anchor="ctr"/>
          <a:lstStyle/>
          <a:p>
            <a:pPr marL="0" indent="0">
              <a:buNone/>
            </a:pPr>
            <a:r>
              <a:rPr lang="en-US" sz="1100" dirty="0">
                <a:solidFill>
                  <a:srgbClr val="5F7178"/>
                </a:solidFill>
                <a:latin typeface="Calibri" pitchFamily="34" charset="0"/>
                <a:ea typeface="Calibri" pitchFamily="34" charset="-122"/>
                <a:cs typeface="Calibri" pitchFamily="34" charset="-120"/>
              </a:rPr>
              <a:t>subtract two runs point for point: gauge, alignment, TQI</a:t>
            </a:r>
            <a:endParaRPr lang="en-US" sz="1100" dirty="0"/>
          </a:p>
        </p:txBody>
      </p:sp>
      <p:pic>
        <p:nvPicPr>
          <p:cNvPr id="24" name="Picture 23" descr="f6_catmull_rom.png"/>
          <p:cNvPicPr>
            <a:picLocks noChangeAspect="1"/>
          </p:cNvPicPr>
          <p:nvPr/>
        </p:nvPicPr>
        <p:blipFill>
          <a:blip r:embed="rId2"/>
          <a:stretch>
            <a:fillRect/>
          </a:stretch>
        </p:blipFill>
        <p:spPr>
          <a:xfrm>
            <a:off x="4846320" y="1234440"/>
            <a:ext cx="3840480" cy="2618509"/>
          </a:xfrm>
          <a:prstGeom prst="rect">
            <a:avLst/>
          </a:prstGeom>
        </p:spPr>
      </p:pic>
      <p:sp>
        <p:nvSpPr>
          <p:cNvPr id="25" name="Text 3"/>
          <p:cNvSpPr txBox="1"/>
          <p:nvPr/>
        </p:nvSpPr>
        <p:spPr>
          <a:xfrm>
            <a:off x="4846320" y="3950208"/>
            <a:ext cx="384048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Left rail, 15 m of the run. A curve through every slab copies the noise; one through 1 m control points does not.</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TEST ON THE REAL SCAN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How small a change can it see?</a:t>
            </a:r>
            <a:endParaRPr lang="en-US" sz="2700" dirty="0"/>
          </a:p>
        </p:txBody>
      </p:sp>
      <p:sp>
        <p:nvSpPr>
          <p:cNvPr id="5" name="Text 3"/>
          <p:cNvSpPr txBox="1"/>
          <p:nvPr/>
        </p:nvSpPr>
        <p:spPr>
          <a:xfrm>
            <a:off x="457200" y="4315968"/>
            <a:ext cx="457200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Run A is one half of the scan; run B is the other half with a known 4 mm gauge widening added at 100–120 m. Shaded: the noise floor.</a:t>
            </a:r>
            <a:endParaRPr lang="en-US" sz="950" dirty="0"/>
          </a:p>
        </p:txBody>
      </p:sp>
      <p:sp>
        <p:nvSpPr>
          <p:cNvPr id="6" name="Shape 4"/>
          <p:cNvSpPr/>
          <p:nvPr/>
        </p:nvSpPr>
        <p:spPr>
          <a:xfrm>
            <a:off x="5440680" y="1280160"/>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7" name="Text 5"/>
          <p:cNvSpPr txBox="1"/>
          <p:nvPr/>
        </p:nvSpPr>
        <p:spPr>
          <a:xfrm>
            <a:off x="5550408" y="1280160"/>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0.9 mm</a:t>
            </a:r>
            <a:endParaRPr lang="en-US" sz="1800" dirty="0"/>
          </a:p>
        </p:txBody>
      </p:sp>
      <p:sp>
        <p:nvSpPr>
          <p:cNvPr id="8" name="Text 6"/>
          <p:cNvSpPr txBox="1"/>
          <p:nvPr/>
        </p:nvSpPr>
        <p:spPr>
          <a:xfrm>
            <a:off x="6995160" y="1353312"/>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noise floor, gauge</a:t>
            </a:r>
            <a:endParaRPr lang="en-US" sz="1100" dirty="0"/>
          </a:p>
        </p:txBody>
      </p:sp>
      <p:sp>
        <p:nvSpPr>
          <p:cNvPr id="9" name="Text 7"/>
          <p:cNvSpPr txBox="1"/>
          <p:nvPr/>
        </p:nvSpPr>
        <p:spPr>
          <a:xfrm>
            <a:off x="6995160" y="1591056"/>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sideways 1.4–1.5 mm, height 0.4 mm; two halves of the scan compared</a:t>
            </a:r>
            <a:endParaRPr lang="en-US" sz="900" dirty="0"/>
          </a:p>
        </p:txBody>
      </p:sp>
      <p:sp>
        <p:nvSpPr>
          <p:cNvPr id="10" name="Shape 4"/>
          <p:cNvSpPr/>
          <p:nvPr/>
        </p:nvSpPr>
        <p:spPr>
          <a:xfrm>
            <a:off x="5440680" y="2249424"/>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1" name="Text 5"/>
          <p:cNvSpPr txBox="1"/>
          <p:nvPr/>
        </p:nvSpPr>
        <p:spPr>
          <a:xfrm>
            <a:off x="5550408" y="2249424"/>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3.9 mm</a:t>
            </a:r>
            <a:endParaRPr lang="en-US" sz="1800" dirty="0"/>
          </a:p>
        </p:txBody>
      </p:sp>
      <p:sp>
        <p:nvSpPr>
          <p:cNvPr id="12" name="Text 6"/>
          <p:cNvSpPr txBox="1"/>
          <p:nvPr/>
        </p:nvSpPr>
        <p:spPr>
          <a:xfrm>
            <a:off x="6995160" y="2322576"/>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of 4 mm recovered</a:t>
            </a:r>
            <a:endParaRPr lang="en-US" sz="1100" dirty="0"/>
          </a:p>
        </p:txBody>
      </p:sp>
      <p:sp>
        <p:nvSpPr>
          <p:cNvPr id="13" name="Text 7"/>
          <p:cNvSpPr txBox="1"/>
          <p:nvPr/>
        </p:nvSpPr>
        <p:spPr>
          <a:xfrm>
            <a:off x="6995160" y="2560320"/>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a known gauge widening added to one half; found along its whole length</a:t>
            </a:r>
            <a:endParaRPr lang="en-US" sz="900" dirty="0"/>
          </a:p>
        </p:txBody>
      </p:sp>
      <p:sp>
        <p:nvSpPr>
          <p:cNvPr id="14" name="Shape 4"/>
          <p:cNvSpPr/>
          <p:nvPr/>
        </p:nvSpPr>
        <p:spPr>
          <a:xfrm>
            <a:off x="5440680" y="3218688"/>
            <a:ext cx="3246120" cy="877824"/>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15" name="Text 5"/>
          <p:cNvSpPr txBox="1"/>
          <p:nvPr/>
        </p:nvSpPr>
        <p:spPr>
          <a:xfrm>
            <a:off x="5550408" y="3218688"/>
            <a:ext cx="1371600" cy="877824"/>
          </a:xfrm>
          <a:prstGeom prst="rect">
            <a:avLst/>
          </a:prstGeom>
          <a:noFill/>
          <a:ln/>
        </p:spPr>
        <p:txBody>
          <a:bodyPr wrap="square" lIns="0" tIns="0" rIns="0" bIns="0" rtlCol="0" anchor="ctr"/>
          <a:lstStyle/>
          <a:p>
            <a:pPr marL="0" indent="0" algn="ctr">
              <a:buNone/>
            </a:pPr>
            <a:r>
              <a:rPr lang="en-US" sz="1800" b="1" dirty="0">
                <a:solidFill>
                  <a:srgbClr val="028090"/>
                </a:solidFill>
                <a:latin typeface="Cambria" pitchFamily="34" charset="0"/>
                <a:ea typeface="Cambria" pitchFamily="34" charset="-122"/>
                <a:cs typeface="Cambria" pitchFamily="34" charset="-120"/>
              </a:rPr>
              <a:t>155 m</a:t>
            </a:r>
            <a:endParaRPr lang="en-US" sz="1800" dirty="0"/>
          </a:p>
        </p:txBody>
      </p:sp>
      <p:sp>
        <p:nvSpPr>
          <p:cNvPr id="16" name="Text 6"/>
          <p:cNvSpPr txBox="1"/>
          <p:nvPr/>
        </p:nvSpPr>
        <p:spPr>
          <a:xfrm>
            <a:off x="6995160" y="3291840"/>
            <a:ext cx="1600199" cy="237744"/>
          </a:xfrm>
          <a:prstGeom prst="rect">
            <a:avLst/>
          </a:prstGeom>
          <a:noFill/>
          <a:ln/>
        </p:spPr>
        <p:txBody>
          <a:bodyPr wrap="square" lIns="0" tIns="0" rIns="0" bIns="0" rtlCol="0" anchor="ctr"/>
          <a:lstStyle/>
          <a:p>
            <a:pPr marL="0" indent="0">
              <a:buNone/>
            </a:pPr>
            <a:r>
              <a:rPr lang="en-US" sz="1100" b="1" dirty="0">
                <a:solidFill>
                  <a:srgbClr val="16262B"/>
                </a:solidFill>
                <a:latin typeface="Calibri" pitchFamily="34" charset="0"/>
                <a:ea typeface="Calibri" pitchFamily="34" charset="-122"/>
                <a:cs typeface="Calibri" pitchFamily="34" charset="-120"/>
              </a:rPr>
              <a:t>gauge step found</a:t>
            </a:r>
            <a:endParaRPr lang="en-US" sz="1100" dirty="0"/>
          </a:p>
        </p:txBody>
      </p:sp>
      <p:sp>
        <p:nvSpPr>
          <p:cNvPr id="17" name="Text 7"/>
          <p:cNvSpPr txBox="1"/>
          <p:nvPr/>
        </p:nvSpPr>
        <p:spPr>
          <a:xfrm>
            <a:off x="6995160" y="3529584"/>
            <a:ext cx="1600199" cy="512063"/>
          </a:xfrm>
          <a:prstGeom prst="rect">
            <a:avLst/>
          </a:prstGeom>
          <a:noFill/>
          <a:ln/>
        </p:spPr>
        <p:txBody>
          <a:bodyPr wrap="square" lIns="0" tIns="0" rIns="0" bIns="0" rtlCol="0" anchor="ctr"/>
          <a:lstStyle/>
          <a:p>
            <a:pPr marL="0" indent="0">
              <a:buNone/>
            </a:pPr>
            <a:r>
              <a:rPr lang="en-US" sz="900" dirty="0">
                <a:solidFill>
                  <a:srgbClr val="5F7178"/>
                </a:solidFill>
                <a:latin typeface="Calibri" pitchFamily="34" charset="0"/>
                <a:ea typeface="Calibri" pitchFamily="34" charset="-122"/>
                <a:cs typeface="Calibri" pitchFamily="34" charset="-120"/>
              </a:rPr>
              <a:t>3–4 mm within a metre in the real track; it looks like a rail joint</a:t>
            </a:r>
            <a:endParaRPr lang="en-US" sz="900" dirty="0"/>
          </a:p>
        </p:txBody>
      </p:sp>
      <p:pic>
        <p:nvPicPr>
          <p:cNvPr id="18" name="Picture 17" descr="f8_compare_runs.png"/>
          <p:cNvPicPr>
            <a:picLocks noChangeAspect="1"/>
          </p:cNvPicPr>
          <p:nvPr/>
        </p:nvPicPr>
        <p:blipFill>
          <a:blip r:embed="rId2"/>
          <a:stretch>
            <a:fillRect/>
          </a:stretch>
        </p:blipFill>
        <p:spPr>
          <a:xfrm>
            <a:off x="457200" y="1188720"/>
            <a:ext cx="4572000" cy="3081528"/>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SIMULATION</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What monitoring over time would show</a:t>
            </a:r>
            <a:endParaRPr lang="en-US" sz="2700" dirty="0"/>
          </a:p>
        </p:txBody>
      </p:sp>
      <p:sp>
        <p:nvSpPr>
          <p:cNvPr id="5" name="Shape 4"/>
          <p:cNvSpPr/>
          <p:nvPr/>
        </p:nvSpPr>
        <p:spPr>
          <a:xfrm>
            <a:off x="6035040" y="1234440"/>
            <a:ext cx="26517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6" name="TextBox 5"/>
          <p:cNvSpPr txBox="1"/>
          <p:nvPr/>
        </p:nvSpPr>
        <p:spPr>
          <a:xfrm>
            <a:off x="6217920" y="1389888"/>
            <a:ext cx="2286000" cy="228600"/>
          </a:xfrm>
          <a:prstGeom prst="rect">
            <a:avLst/>
          </a:prstGeom>
          <a:noFill/>
        </p:spPr>
        <p:txBody>
          <a:bodyPr wrap="square" lIns="0" tIns="0" rIns="0" bIns="0" anchor="t">
            <a:spAutoFit/>
          </a:bodyPr>
          <a:lstStyle/>
          <a:p>
            <a:r>
              <a:rPr sz="1100" b="1" spc="200">
                <a:solidFill>
                  <a:srgbClr val="028090"/>
                </a:solidFill>
                <a:latin typeface="Calibri"/>
              </a:rPr>
              <a:t>ALARMS AND MAINTENANCE</a:t>
            </a:r>
          </a:p>
        </p:txBody>
      </p:sp>
      <p:sp>
        <p:nvSpPr>
          <p:cNvPr id="7" name="TextBox 6"/>
          <p:cNvSpPr txBox="1"/>
          <p:nvPr/>
        </p:nvSpPr>
        <p:spPr>
          <a:xfrm>
            <a:off x="6217920" y="1737360"/>
            <a:ext cx="2331720" cy="1920240"/>
          </a:xfrm>
          <a:prstGeom prst="rect">
            <a:avLst/>
          </a:prstGeom>
          <a:noFill/>
        </p:spPr>
        <p:txBody>
          <a:bodyPr wrap="square" lIns="0" tIns="0" rIns="0" bIns="0" anchor="t">
            <a:spAutoFit/>
          </a:bodyPr>
          <a:lstStyle/>
          <a:p>
            <a:pPr marL="171450" indent="-171450">
              <a:spcAft>
                <a:spcPts val="600"/>
              </a:spcAft>
              <a:buChar char="•"/>
            </a:pPr>
            <a:r>
              <a:rPr sz="1100" b="0">
                <a:solidFill>
                  <a:srgbClr val="16262B"/>
                </a:solidFill>
                <a:latin typeface="Calibri"/>
              </a:rPr>
              <a:t>Week 10: alignment 3.6 mm, lining ordered</a:t>
            </a:r>
          </a:p>
          <a:p>
            <a:pPr marL="171450" indent="-171450">
              <a:spcAft>
                <a:spcPts val="600"/>
              </a:spcAft>
              <a:buChar char="•"/>
            </a:pPr>
            <a:r>
              <a:rPr sz="1100" b="0">
                <a:solidFill>
                  <a:srgbClr val="16262B"/>
                </a:solidFill>
                <a:latin typeface="Calibri"/>
              </a:rPr>
              <a:t>Week 14: gauge 3.8 mm, gauge correction</a:t>
            </a:r>
          </a:p>
          <a:p>
            <a:pPr marL="171450" indent="-171450">
              <a:spcAft>
                <a:spcPts val="600"/>
              </a:spcAft>
              <a:buChar char="•"/>
            </a:pPr>
            <a:r>
              <a:rPr sz="1100" b="0">
                <a:solidFill>
                  <a:srgbClr val="16262B"/>
                </a:solidFill>
                <a:latin typeface="Calibri"/>
              </a:rPr>
              <a:t>Week 20: alignment again, lining</a:t>
            </a:r>
          </a:p>
          <a:p>
            <a:pPr marL="171450" indent="-171450">
              <a:spcAft>
                <a:spcPts val="600"/>
              </a:spcAft>
              <a:buChar char="•"/>
            </a:pPr>
            <a:r>
              <a:rPr sz="1100" b="0">
                <a:solidFill>
                  <a:srgbClr val="16262B"/>
                </a:solidFill>
                <a:latin typeface="Calibri"/>
              </a:rPr>
              <a:t>Week 24: TQI rose sharply in one section, fastenings renewed</a:t>
            </a:r>
          </a:p>
        </p:txBody>
      </p:sp>
      <p:sp>
        <p:nvSpPr>
          <p:cNvPr id="8" name="Text 3"/>
          <p:cNvSpPr txBox="1"/>
          <p:nvPr/>
        </p:nvSpPr>
        <p:spPr>
          <a:xfrm>
            <a:off x="457200" y="3886200"/>
            <a:ext cx="8229600" cy="365760"/>
          </a:xfrm>
          <a:prstGeom prst="rect">
            <a:avLst/>
          </a:prstGeom>
          <a:noFill/>
          <a:ln/>
        </p:spPr>
        <p:txBody>
          <a:bodyPr wrap="square" lIns="0" tIns="0" rIns="0" bIns="0" rtlCol="0" anchor="ctr"/>
          <a:lstStyle/>
          <a:p>
            <a:pPr marL="0" indent="0">
              <a:buNone/>
            </a:pPr>
            <a:r>
              <a:rPr lang="en-US" sz="950" i="1" dirty="0">
                <a:solidFill>
                  <a:srgbClr val="5F7178"/>
                </a:solidFill>
                <a:latin typeface="Calibri" pitchFamily="34" charset="0"/>
                <a:ea typeface="Calibri" pitchFamily="34" charset="-122"/>
                <a:cs typeface="Calibri" pitchFamily="34" charset="-120"/>
              </a:rPr>
              <a:t>Simulated: 13 runs made from the one scan, with assumed defects that grow until an alarm orders maintenance. Alert limits are measured on runs without defects; alarm limits are assumed.</a:t>
            </a:r>
            <a:endParaRPr lang="en-US" sz="950" dirty="0"/>
          </a:p>
        </p:txBody>
      </p:sp>
      <p:sp>
        <p:nvSpPr>
          <p:cNvPr id="9" name="Shape 16"/>
          <p:cNvSpPr/>
          <p:nvPr/>
        </p:nvSpPr>
        <p:spPr>
          <a:xfrm>
            <a:off x="457200" y="4297680"/>
            <a:ext cx="8229600" cy="420624"/>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0" name="Text 17"/>
          <p:cNvSpPr txBox="1"/>
          <p:nvPr/>
        </p:nvSpPr>
        <p:spPr>
          <a:xfrm>
            <a:off x="731520" y="4297680"/>
            <a:ext cx="7680960" cy="420624"/>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The curve finds slow and local change; the TQI finds short-wave roughness. Neither finds both.</a:t>
            </a:r>
            <a:endParaRPr lang="en-US" sz="1200" dirty="0"/>
          </a:p>
        </p:txBody>
      </p:sp>
      <p:pic>
        <p:nvPicPr>
          <p:cNvPr id="11" name="Picture 10" descr="sim_slide.png"/>
          <p:cNvPicPr>
            <a:picLocks noChangeAspect="1"/>
          </p:cNvPicPr>
          <p:nvPr/>
        </p:nvPicPr>
        <p:blipFill>
          <a:blip r:embed="rId2"/>
          <a:stretch>
            <a:fillRect/>
          </a:stretch>
        </p:blipFill>
        <p:spPr>
          <a:xfrm>
            <a:off x="457200" y="1207008"/>
            <a:ext cx="5303520" cy="26060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74320"/>
            <a:ext cx="8229600" cy="228600"/>
          </a:xfrm>
          <a:prstGeom prst="rect">
            <a:avLst/>
          </a:prstGeom>
          <a:noFill/>
          <a:ln/>
        </p:spPr>
        <p:txBody>
          <a:bodyPr wrap="square" lIns="0" tIns="0" rIns="0" bIns="0" rtlCol="0" anchor="ctr"/>
          <a:lstStyle/>
          <a:p>
            <a:pPr marL="0" indent="0">
              <a:buNone/>
            </a:pPr>
            <a:r>
              <a:rPr lang="en-US" sz="1100" b="1" kern="0" spc="200" dirty="0">
                <a:solidFill>
                  <a:srgbClr val="028090"/>
                </a:solidFill>
                <a:latin typeface="Calibri" pitchFamily="34" charset="0"/>
                <a:ea typeface="Calibri" pitchFamily="34" charset="-122"/>
                <a:cs typeface="Calibri" pitchFamily="34" charset="-120"/>
              </a:rPr>
              <a:t>WHERE IT STANDS</a:t>
            </a:r>
            <a:endParaRPr lang="en-US" sz="1100" dirty="0"/>
          </a:p>
        </p:txBody>
      </p:sp>
      <p:sp>
        <p:nvSpPr>
          <p:cNvPr id="3" name="Text 1"/>
          <p:cNvSpPr txBox="1"/>
          <p:nvPr/>
        </p:nvSpPr>
        <p:spPr>
          <a:xfrm>
            <a:off x="457200" y="502920"/>
            <a:ext cx="8229600" cy="548640"/>
          </a:xfrm>
          <a:prstGeom prst="rect">
            <a:avLst/>
          </a:prstGeom>
          <a:noFill/>
          <a:ln/>
        </p:spPr>
        <p:txBody>
          <a:bodyPr wrap="square" lIns="0" tIns="0" rIns="0" bIns="0" rtlCol="0" anchor="ctr"/>
          <a:lstStyle/>
          <a:p>
            <a:pPr marL="0" indent="0">
              <a:buNone/>
            </a:pPr>
            <a:r>
              <a:rPr lang="en-US" sz="2700" b="1" dirty="0">
                <a:solidFill>
                  <a:srgbClr val="16262B"/>
                </a:solidFill>
                <a:latin typeface="Cambria" pitchFamily="34" charset="0"/>
                <a:ea typeface="Cambria" pitchFamily="34" charset="-122"/>
                <a:cs typeface="Cambria" pitchFamily="34" charset="-120"/>
              </a:rPr>
              <a:t>What is shown, and what comes next</a:t>
            </a:r>
            <a:endParaRPr lang="en-US" sz="2700" dirty="0"/>
          </a:p>
        </p:txBody>
      </p:sp>
      <p:sp>
        <p:nvSpPr>
          <p:cNvPr id="4" name="Shape 4"/>
          <p:cNvSpPr/>
          <p:nvPr/>
        </p:nvSpPr>
        <p:spPr>
          <a:xfrm>
            <a:off x="457200" y="1325880"/>
            <a:ext cx="40233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5" name="TextBox 4"/>
          <p:cNvSpPr txBox="1"/>
          <p:nvPr/>
        </p:nvSpPr>
        <p:spPr>
          <a:xfrm>
            <a:off x="685800" y="1508760"/>
            <a:ext cx="3566160" cy="228600"/>
          </a:xfrm>
          <a:prstGeom prst="rect">
            <a:avLst/>
          </a:prstGeom>
          <a:noFill/>
        </p:spPr>
        <p:txBody>
          <a:bodyPr wrap="square" lIns="0" tIns="0" rIns="0" bIns="0" anchor="t">
            <a:spAutoFit/>
          </a:bodyPr>
          <a:lstStyle/>
          <a:p>
            <a:r>
              <a:rPr sz="1100" b="1" spc="200">
                <a:solidFill>
                  <a:srgbClr val="028090"/>
                </a:solidFill>
                <a:latin typeface="Calibri"/>
              </a:rPr>
              <a:t>SHOWN</a:t>
            </a:r>
          </a:p>
        </p:txBody>
      </p:sp>
      <p:sp>
        <p:nvSpPr>
          <p:cNvPr id="6" name="TextBox 5"/>
          <p:cNvSpPr txBox="1"/>
          <p:nvPr/>
        </p:nvSpPr>
        <p:spPr>
          <a:xfrm>
            <a:off x="685800" y="1874519"/>
            <a:ext cx="3611880" cy="1920240"/>
          </a:xfrm>
          <a:prstGeom prst="rect">
            <a:avLst/>
          </a:prstGeom>
          <a:noFill/>
        </p:spPr>
        <p:txBody>
          <a:bodyPr wrap="square" lIns="0" tIns="0" rIns="0" bIns="0" anchor="t">
            <a:spAutoFit/>
          </a:bodyPr>
          <a:lstStyle/>
          <a:p>
            <a:pPr marL="171450" indent="-171450">
              <a:spcAft>
                <a:spcPts val="700"/>
              </a:spcAft>
              <a:buChar char="•"/>
            </a:pPr>
            <a:r>
              <a:rPr sz="1200" b="0">
                <a:solidFill>
                  <a:srgbClr val="16262B"/>
                </a:solidFill>
                <a:latin typeface="Calibri"/>
              </a:rPr>
              <a:t>A repeatable pipeline from a LiDAR run to a 3D rail curve</a:t>
            </a:r>
          </a:p>
          <a:p>
            <a:pPr marL="171450" indent="-171450">
              <a:spcAft>
                <a:spcPts val="700"/>
              </a:spcAft>
              <a:buChar char="•"/>
            </a:pPr>
            <a:r>
              <a:rPr sz="1200" b="0">
                <a:solidFill>
                  <a:srgbClr val="16262B"/>
                </a:solidFill>
                <a:latin typeface="Calibri"/>
              </a:rPr>
              <a:t>Gauge and alignment with a measured noise floor of about 1 mm</a:t>
            </a:r>
          </a:p>
          <a:p>
            <a:pPr marL="171450" indent="-171450">
              <a:spcAft>
                <a:spcPts val="700"/>
              </a:spcAft>
              <a:buChar char="•"/>
            </a:pPr>
            <a:r>
              <a:rPr sz="1200" b="0">
                <a:solidFill>
                  <a:srgbClr val="16262B"/>
                </a:solidFill>
                <a:latin typeface="Calibri"/>
              </a:rPr>
              <a:t>In simulation, alerts come weeks before alarms and at the right place</a:t>
            </a:r>
          </a:p>
        </p:txBody>
      </p:sp>
      <p:sp>
        <p:nvSpPr>
          <p:cNvPr id="7" name="Shape 4"/>
          <p:cNvSpPr/>
          <p:nvPr/>
        </p:nvSpPr>
        <p:spPr>
          <a:xfrm>
            <a:off x="4663440" y="1325880"/>
            <a:ext cx="4023360" cy="2514600"/>
          </a:xfrm>
          <a:prstGeom prst="roundRect">
            <a:avLst>
              <a:gd name="adj" fmla="val 9375"/>
            </a:avLst>
          </a:prstGeom>
          <a:solidFill>
            <a:srgbClr val="EDF5F5"/>
          </a:solidFill>
          <a:ln w="12700">
            <a:solidFill>
              <a:srgbClr val="EDF5F5"/>
            </a:solidFill>
            <a:prstDash val="solid"/>
          </a:ln>
        </p:spPr>
        <p:txBody>
          <a:bodyPr/>
          <a:lstStyle/>
          <a:p>
            <a:endParaRPr lang="sv-SE"/>
          </a:p>
        </p:txBody>
      </p:sp>
      <p:sp>
        <p:nvSpPr>
          <p:cNvPr id="8" name="TextBox 7"/>
          <p:cNvSpPr txBox="1"/>
          <p:nvPr/>
        </p:nvSpPr>
        <p:spPr>
          <a:xfrm>
            <a:off x="4892040" y="1508760"/>
            <a:ext cx="3566160" cy="228600"/>
          </a:xfrm>
          <a:prstGeom prst="rect">
            <a:avLst/>
          </a:prstGeom>
          <a:noFill/>
        </p:spPr>
        <p:txBody>
          <a:bodyPr wrap="square" lIns="0" tIns="0" rIns="0" bIns="0" anchor="t">
            <a:spAutoFit/>
          </a:bodyPr>
          <a:lstStyle/>
          <a:p>
            <a:r>
              <a:rPr sz="1100" b="1" spc="200">
                <a:solidFill>
                  <a:srgbClr val="028090"/>
                </a:solidFill>
                <a:latin typeface="Calibri"/>
              </a:rPr>
              <a:t>NOT YET, AND NEXT</a:t>
            </a:r>
          </a:p>
        </p:txBody>
      </p:sp>
      <p:sp>
        <p:nvSpPr>
          <p:cNvPr id="9" name="TextBox 8"/>
          <p:cNvSpPr txBox="1"/>
          <p:nvPr/>
        </p:nvSpPr>
        <p:spPr>
          <a:xfrm>
            <a:off x="4892040" y="1874519"/>
            <a:ext cx="3611880" cy="1920240"/>
          </a:xfrm>
          <a:prstGeom prst="rect">
            <a:avLst/>
          </a:prstGeom>
          <a:noFill/>
        </p:spPr>
        <p:txBody>
          <a:bodyPr wrap="square" lIns="0" tIns="0" rIns="0" bIns="0" anchor="t">
            <a:spAutoFit/>
          </a:bodyPr>
          <a:lstStyle/>
          <a:p>
            <a:pPr marL="171450" indent="-171450">
              <a:spcAft>
                <a:spcPts val="700"/>
              </a:spcAft>
              <a:buChar char="•"/>
            </a:pPr>
            <a:r>
              <a:rPr sz="1200" b="0">
                <a:solidFill>
                  <a:srgbClr val="16262B"/>
                </a:solidFill>
                <a:latin typeface="Calibri"/>
              </a:rPr>
              <a:t>Only one real run, so change between real runs is untested</a:t>
            </a:r>
          </a:p>
          <a:p>
            <a:pPr marL="171450" indent="-171450">
              <a:spcAft>
                <a:spcPts val="700"/>
              </a:spcAft>
              <a:buChar char="•"/>
            </a:pPr>
            <a:r>
              <a:rPr sz="1200" b="0">
                <a:solidFill>
                  <a:srgbClr val="16262B"/>
                </a:solidFill>
                <a:latin typeface="Calibri"/>
              </a:rPr>
              <a:t>Height is relative to the sensor: no cross-level, twist or surface</a:t>
            </a:r>
          </a:p>
          <a:p>
            <a:pPr marL="171450" indent="-171450">
              <a:spcAft>
                <a:spcPts val="700"/>
              </a:spcAft>
              <a:buChar char="•"/>
            </a:pPr>
            <a:r>
              <a:rPr sz="1200" b="0">
                <a:solidFill>
                  <a:srgbClr val="16262B"/>
                </a:solidFill>
                <a:latin typeface="Calibri"/>
              </a:rPr>
              <a:t>Next: a second run, data with levelled height, and a check against the track-recording car</a:t>
            </a:r>
          </a:p>
        </p:txBody>
      </p:sp>
      <p:sp>
        <p:nvSpPr>
          <p:cNvPr id="10" name="Shape 16"/>
          <p:cNvSpPr/>
          <p:nvPr/>
        </p:nvSpPr>
        <p:spPr>
          <a:xfrm>
            <a:off x="457200" y="4114800"/>
            <a:ext cx="8229600" cy="530352"/>
          </a:xfrm>
          <a:prstGeom prst="roundRect">
            <a:avLst>
              <a:gd name="adj" fmla="val 9091"/>
            </a:avLst>
          </a:prstGeom>
          <a:solidFill>
            <a:srgbClr val="0B2027"/>
          </a:solidFill>
          <a:ln w="12700">
            <a:solidFill>
              <a:srgbClr val="0B2027"/>
            </a:solidFill>
            <a:prstDash val="solid"/>
          </a:ln>
        </p:spPr>
        <p:txBody>
          <a:bodyPr/>
          <a:lstStyle/>
          <a:p>
            <a:endParaRPr lang="sv-SE"/>
          </a:p>
        </p:txBody>
      </p:sp>
      <p:sp>
        <p:nvSpPr>
          <p:cNvPr id="11" name="Text 17"/>
          <p:cNvSpPr txBox="1"/>
          <p:nvPr/>
        </p:nvSpPr>
        <p:spPr>
          <a:xfrm>
            <a:off x="731520" y="4114800"/>
            <a:ext cx="7680960" cy="530352"/>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The method is ready: the first real comparison can be made the day a second run exists.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1751</TotalTime>
  <Words>3742</Words>
  <Application>Microsoft Office PowerPoint</Application>
  <PresentationFormat>Bildspel på skärmen (16:9)</PresentationFormat>
  <Paragraphs>475</Paragraphs>
  <Slides>25</Slides>
  <Notes>14</Notes>
  <HiddenSlides>0</HiddenSlides>
  <MMClips>0</MMClips>
  <ScaleCrop>false</ScaleCrop>
  <HeadingPairs>
    <vt:vector size="6" baseType="variant">
      <vt:variant>
        <vt:lpstr>Använt teckensnitt</vt:lpstr>
      </vt:variant>
      <vt:variant>
        <vt:i4>5</vt:i4>
      </vt:variant>
      <vt:variant>
        <vt:lpstr>Tema</vt:lpstr>
      </vt:variant>
      <vt:variant>
        <vt:i4>1</vt:i4>
      </vt:variant>
      <vt:variant>
        <vt:lpstr>Bildrubriker</vt:lpstr>
      </vt:variant>
      <vt:variant>
        <vt:i4>25</vt:i4>
      </vt:variant>
    </vt:vector>
  </HeadingPairs>
  <TitlesOfParts>
    <vt:vector size="31" baseType="lpstr">
      <vt:lpstr>Arial</vt:lpstr>
      <vt:lpstr>Calibri</vt:lpstr>
      <vt:lpstr>Cambria</vt:lpstr>
      <vt:lpstr>Symbol</vt:lpstr>
      <vt:lpstr>Times New Roman</vt:lpstr>
      <vt:lpstr>Office Theme</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Point Cloud Processing for Railway Track Geometry</dc:title>
  <dc:subject>PptxGenJS Presentation</dc:subject>
  <dc:creator>Viktor Lindberg</dc:creator>
  <cp:lastModifiedBy>Viktor Lindberg</cp:lastModifiedBy>
  <cp:revision>5</cp:revision>
  <dcterms:created xsi:type="dcterms:W3CDTF">2026-09-17T23:05:45Z</dcterms:created>
  <dcterms:modified xsi:type="dcterms:W3CDTF">2026-10-02T13:58:45Z</dcterms:modified>
</cp:coreProperties>
</file>