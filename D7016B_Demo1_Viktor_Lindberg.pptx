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2.xml" ContentType="application/vnd.openxmlformats-officedocument.drawingml.chart+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3.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80" r:id="rId17"/>
    <p:sldId id="271" r:id="rId18"/>
    <p:sldId id="272" r:id="rId19"/>
    <p:sldId id="273" r:id="rId20"/>
    <p:sldId id="274" r:id="rId21"/>
    <p:sldId id="275" r:id="rId22"/>
    <p:sldId id="276" r:id="rId23"/>
    <p:sldId id="277" r:id="rId24"/>
    <p:sldId id="278" r:id="rId25"/>
    <p:sldId id="279" r:id="rId2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54" d="100"/>
          <a:sy n="154" d="100"/>
        </p:scale>
        <p:origin x="384" y="13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sv-SE"/>
  <c:roundedCorners val="1"/>
  <c:style val="2"/>
  <c:chart>
    <c:title>
      <c:tx>
        <c:rich>
          <a:bodyPr/>
          <a:lstStyle/>
          <a:p>
            <a:pPr>
              <a:defRPr sz="1200" b="0" i="0" u="none" strike="noStrike">
                <a:solidFill>
                  <a:srgbClr val="16262B"/>
                </a:solidFill>
                <a:latin typeface="Calibri"/>
              </a:defRPr>
            </a:pPr>
            <a:r>
              <a:rPr lang="sv-SE" sz="1200" b="0" i="0" u="none" strike="noStrike">
                <a:solidFill>
                  <a:srgbClr val="16262B"/>
                </a:solidFill>
                <a:latin typeface="Calibri"/>
              </a:rPr>
              <a:t>Model accuracy (%)</a:t>
            </a:r>
          </a:p>
        </c:rich>
      </c:tx>
      <c:overlay val="0"/>
    </c:title>
    <c:autoTitleDeleted val="0"/>
    <c:plotArea>
      <c:layout/>
      <c:barChart>
        <c:barDir val="col"/>
        <c:grouping val="clustered"/>
        <c:varyColors val="0"/>
        <c:ser>
          <c:idx val="0"/>
          <c:order val="0"/>
          <c:tx>
            <c:strRef>
              <c:f>Sheet1!$B$1</c:f>
              <c:strCache>
                <c:ptCount val="1"/>
                <c:pt idx="0">
                  <c:v>Accuracy</c:v>
                </c:pt>
              </c:strCache>
            </c:strRef>
          </c:tx>
          <c:spPr>
            <a:solidFill>
              <a:srgbClr val="028090"/>
            </a:solidFill>
            <a:effectLst/>
          </c:spPr>
          <c:invertIfNegative val="0"/>
          <c:dPt>
            <c:idx val="0"/>
            <c:invertIfNegative val="0"/>
            <c:bubble3D val="0"/>
            <c:extLst>
              <c:ext xmlns:c16="http://schemas.microsoft.com/office/drawing/2014/chart" uri="{C3380CC4-5D6E-409C-BE32-E72D297353CC}">
                <c16:uniqueId val="{00000001-25E2-4992-A084-889CB87EBD2A}"/>
              </c:ext>
            </c:extLst>
          </c:dPt>
          <c:dPt>
            <c:idx val="1"/>
            <c:invertIfNegative val="0"/>
            <c:bubble3D val="0"/>
            <c:spPr>
              <a:solidFill>
                <a:srgbClr val="00A896"/>
              </a:solidFill>
              <a:effectLst/>
            </c:spPr>
            <c:extLst>
              <c:ext xmlns:c16="http://schemas.microsoft.com/office/drawing/2014/chart" uri="{C3380CC4-5D6E-409C-BE32-E72D297353CC}">
                <c16:uniqueId val="{00000003-25E2-4992-A084-889CB87EBD2A}"/>
              </c:ext>
            </c:extLst>
          </c:dPt>
          <c:dLbls>
            <c:numFmt formatCode="0.0&quot;%&quot;" sourceLinked="0"/>
            <c:spPr>
              <a:noFill/>
              <a:ln>
                <a:noFill/>
              </a:ln>
              <a:effectLst/>
            </c:spPr>
            <c:txPr>
              <a:bodyPr/>
              <a:lstStyle/>
              <a:p>
                <a:pPr>
                  <a:defRPr sz="1200" b="0" i="0" u="none" strike="noStrike">
                    <a:solidFill>
                      <a:srgbClr val="16262B"/>
                    </a:solidFill>
                    <a:latin typeface="Calibri"/>
                  </a:defRPr>
                </a:pPr>
                <a:endParaRPr lang="sv-SE"/>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80/20 split</c:v>
                </c:pt>
                <c:pt idx="1">
                  <c:v>5-fold CV</c:v>
                </c:pt>
              </c:strCache>
            </c:strRef>
          </c:cat>
          <c:val>
            <c:numRef>
              <c:f>Sheet1!$B$2:$B$3</c:f>
              <c:numCache>
                <c:formatCode>General</c:formatCode>
                <c:ptCount val="2"/>
                <c:pt idx="0">
                  <c:v>93</c:v>
                </c:pt>
                <c:pt idx="1">
                  <c:v>96.7</c:v>
                </c:pt>
              </c:numCache>
            </c:numRef>
          </c:val>
          <c:extLst>
            <c:ext xmlns:c16="http://schemas.microsoft.com/office/drawing/2014/chart" uri="{C3380CC4-5D6E-409C-BE32-E72D297353CC}">
              <c16:uniqueId val="{00000004-25E2-4992-A084-889CB87EBD2A}"/>
            </c:ext>
          </c:extLst>
        </c:ser>
        <c:dLbls>
          <c:showLegendKey val="0"/>
          <c:showVal val="1"/>
          <c:showCatName val="0"/>
          <c:showSerName val="0"/>
          <c:showPercent val="0"/>
          <c:showBubbleSize val="0"/>
        </c:dLbls>
        <c:gapWidth val="13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F7178"/>
                </a:solidFill>
                <a:latin typeface="Calibri"/>
              </a:defRPr>
            </a:pPr>
            <a:endParaRPr lang="en-US"/>
          </a:p>
        </c:txPr>
        <c:crossAx val="2094734552"/>
        <c:crosses val="autoZero"/>
        <c:auto val="1"/>
        <c:lblAlgn val="ctr"/>
        <c:lblOffset val="100"/>
        <c:noMultiLvlLbl val="1"/>
      </c:catAx>
      <c:valAx>
        <c:axId val="2094734552"/>
        <c:scaling>
          <c:orientation val="minMax"/>
          <c:max val="100"/>
          <c:min val="80"/>
        </c:scaling>
        <c:delete val="0"/>
        <c:axPos val="l"/>
        <c:majorGridlines>
          <c:spPr>
            <a:ln w="12700" cap="flat">
              <a:solidFill>
                <a:srgbClr val="DDE7E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F7178"/>
                </a:solidFill>
                <a:latin typeface="Calibri"/>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sv-SE"/>
  <c:roundedCorners val="1"/>
  <c:style val="2"/>
  <c:chart>
    <c:title>
      <c:tx>
        <c:rich>
          <a:bodyPr/>
          <a:lstStyle/>
          <a:p>
            <a:pPr>
              <a:defRPr sz="1150" b="0" i="0" u="none" strike="noStrike">
                <a:solidFill>
                  <a:srgbClr val="16262B"/>
                </a:solidFill>
                <a:latin typeface="Calibri"/>
              </a:defRPr>
            </a:pPr>
            <a:r>
              <a:rPr lang="sv-SE" sz="1150" b="0" i="0" u="none" strike="noStrike">
                <a:solidFill>
                  <a:srgbClr val="16262B"/>
                </a:solidFill>
                <a:latin typeface="Calibri"/>
              </a:rPr>
              <a:t>Mean deviation from design, per parameter (illustrative)</a:t>
            </a:r>
          </a:p>
        </c:rich>
      </c:tx>
      <c:overlay val="0"/>
    </c:title>
    <c:autoTitleDeleted val="0"/>
    <c:plotArea>
      <c:layout/>
      <c:barChart>
        <c:barDir val="col"/>
        <c:grouping val="clustered"/>
        <c:varyColors val="0"/>
        <c:ser>
          <c:idx val="0"/>
          <c:order val="0"/>
          <c:tx>
            <c:strRef>
              <c:f>Sheet1!$B$1</c:f>
              <c:strCache>
                <c:ptCount val="1"/>
                <c:pt idx="0">
                  <c:v>Gauge-dominant</c:v>
                </c:pt>
              </c:strCache>
            </c:strRef>
          </c:tx>
          <c:spPr>
            <a:solidFill>
              <a:srgbClr val="0095AD"/>
            </a:solidFill>
            <a:effectLst/>
          </c:spPr>
          <c:invertIfNegative val="0"/>
          <c:cat>
            <c:strRef>
              <c:f>Sheet1!$A$2:$A$6</c:f>
              <c:strCache>
                <c:ptCount val="5"/>
                <c:pt idx="0">
                  <c:v>gauge</c:v>
                </c:pt>
                <c:pt idx="1">
                  <c:v>cross-level</c:v>
                </c:pt>
                <c:pt idx="2">
                  <c:v>cant</c:v>
                </c:pt>
                <c:pt idx="3">
                  <c:v>twist</c:v>
                </c:pt>
                <c:pt idx="4">
                  <c:v>surface</c:v>
                </c:pt>
              </c:strCache>
            </c:strRef>
          </c:cat>
          <c:val>
            <c:numRef>
              <c:f>Sheet1!$B$2:$B$6</c:f>
              <c:numCache>
                <c:formatCode>General</c:formatCode>
                <c:ptCount val="5"/>
                <c:pt idx="0">
                  <c:v>4.5999999999999996</c:v>
                </c:pt>
                <c:pt idx="1">
                  <c:v>1.1000000000000001</c:v>
                </c:pt>
                <c:pt idx="2">
                  <c:v>0.8</c:v>
                </c:pt>
                <c:pt idx="3">
                  <c:v>1.2</c:v>
                </c:pt>
                <c:pt idx="4">
                  <c:v>1</c:v>
                </c:pt>
              </c:numCache>
            </c:numRef>
          </c:val>
          <c:extLst>
            <c:ext xmlns:c16="http://schemas.microsoft.com/office/drawing/2014/chart" uri="{C3380CC4-5D6E-409C-BE32-E72D297353CC}">
              <c16:uniqueId val="{00000000-8027-4FF7-B7F9-DC91F956B89C}"/>
            </c:ext>
          </c:extLst>
        </c:ser>
        <c:ser>
          <c:idx val="1"/>
          <c:order val="1"/>
          <c:tx>
            <c:strRef>
              <c:f>Sheet1!$C$1</c:f>
              <c:strCache>
                <c:ptCount val="1"/>
                <c:pt idx="0">
                  <c:v>Twist-dominant</c:v>
                </c:pt>
              </c:strCache>
            </c:strRef>
          </c:tx>
          <c:spPr>
            <a:solidFill>
              <a:srgbClr val="E8604C"/>
            </a:solidFill>
            <a:effectLst/>
          </c:spPr>
          <c:invertIfNegative val="0"/>
          <c:cat>
            <c:strRef>
              <c:f>Sheet1!$A$2:$A$6</c:f>
              <c:strCache>
                <c:ptCount val="5"/>
                <c:pt idx="0">
                  <c:v>gauge</c:v>
                </c:pt>
                <c:pt idx="1">
                  <c:v>cross-level</c:v>
                </c:pt>
                <c:pt idx="2">
                  <c:v>cant</c:v>
                </c:pt>
                <c:pt idx="3">
                  <c:v>twist</c:v>
                </c:pt>
                <c:pt idx="4">
                  <c:v>surface</c:v>
                </c:pt>
              </c:strCache>
            </c:strRef>
          </c:cat>
          <c:val>
            <c:numRef>
              <c:f>Sheet1!$C$2:$C$6</c:f>
              <c:numCache>
                <c:formatCode>General</c:formatCode>
                <c:ptCount val="5"/>
                <c:pt idx="0">
                  <c:v>1</c:v>
                </c:pt>
                <c:pt idx="1">
                  <c:v>2.4</c:v>
                </c:pt>
                <c:pt idx="2">
                  <c:v>0.9</c:v>
                </c:pt>
                <c:pt idx="3">
                  <c:v>5.0999999999999996</c:v>
                </c:pt>
                <c:pt idx="4">
                  <c:v>1.3</c:v>
                </c:pt>
              </c:numCache>
            </c:numRef>
          </c:val>
          <c:extLst>
            <c:ext xmlns:c16="http://schemas.microsoft.com/office/drawing/2014/chart" uri="{C3380CC4-5D6E-409C-BE32-E72D297353CC}">
              <c16:uniqueId val="{00000001-8027-4FF7-B7F9-DC91F956B89C}"/>
            </c:ext>
          </c:extLst>
        </c:ser>
        <c:ser>
          <c:idx val="2"/>
          <c:order val="2"/>
          <c:tx>
            <c:strRef>
              <c:f>Sheet1!$D$1</c:f>
              <c:strCache>
                <c:ptCount val="1"/>
                <c:pt idx="0">
                  <c:v>Surface-dominant</c:v>
                </c:pt>
              </c:strCache>
            </c:strRef>
          </c:tx>
          <c:spPr>
            <a:solidFill>
              <a:srgbClr val="4A3AA7"/>
            </a:solidFill>
            <a:effectLst/>
          </c:spPr>
          <c:invertIfNegative val="0"/>
          <c:cat>
            <c:strRef>
              <c:f>Sheet1!$A$2:$A$6</c:f>
              <c:strCache>
                <c:ptCount val="5"/>
                <c:pt idx="0">
                  <c:v>gauge</c:v>
                </c:pt>
                <c:pt idx="1">
                  <c:v>cross-level</c:v>
                </c:pt>
                <c:pt idx="2">
                  <c:v>cant</c:v>
                </c:pt>
                <c:pt idx="3">
                  <c:v>twist</c:v>
                </c:pt>
                <c:pt idx="4">
                  <c:v>surface</c:v>
                </c:pt>
              </c:strCache>
            </c:strRef>
          </c:cat>
          <c:val>
            <c:numRef>
              <c:f>Sheet1!$D$2:$D$6</c:f>
              <c:numCache>
                <c:formatCode>General</c:formatCode>
                <c:ptCount val="5"/>
                <c:pt idx="0">
                  <c:v>1.2</c:v>
                </c:pt>
                <c:pt idx="1">
                  <c:v>1</c:v>
                </c:pt>
                <c:pt idx="2">
                  <c:v>0.7</c:v>
                </c:pt>
                <c:pt idx="3">
                  <c:v>1.4</c:v>
                </c:pt>
                <c:pt idx="4">
                  <c:v>4.4000000000000004</c:v>
                </c:pt>
              </c:numCache>
            </c:numRef>
          </c:val>
          <c:extLst>
            <c:ext xmlns:c16="http://schemas.microsoft.com/office/drawing/2014/chart" uri="{C3380CC4-5D6E-409C-BE32-E72D297353CC}">
              <c16:uniqueId val="{00000002-8027-4FF7-B7F9-DC91F956B89C}"/>
            </c:ext>
          </c:extLst>
        </c:ser>
        <c:dLbls>
          <c:showLegendKey val="0"/>
          <c:showVal val="0"/>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F7178"/>
                </a:solidFill>
                <a:latin typeface="Calibri"/>
              </a:defRPr>
            </a:pPr>
            <a:endParaRPr lang="en-US"/>
          </a:p>
        </c:txPr>
        <c:crossAx val="2094734552"/>
        <c:crosses val="autoZero"/>
        <c:auto val="1"/>
        <c:lblAlgn val="ctr"/>
        <c:lblOffset val="100"/>
        <c:noMultiLvlLbl val="1"/>
      </c:catAx>
      <c:valAx>
        <c:axId val="2094734552"/>
        <c:scaling>
          <c:orientation val="minMax"/>
          <c:max val="6"/>
          <c:min val="0"/>
        </c:scaling>
        <c:delete val="0"/>
        <c:axPos val="l"/>
        <c:majorGridlines>
          <c:spPr>
            <a:ln w="12700" cap="flat">
              <a:solidFill>
                <a:srgbClr val="DDE7E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F7178"/>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100">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sv-SE"/>
  <c:roundedCorners val="1"/>
  <c:style val="2"/>
  <c:chart>
    <c:title>
      <c:tx>
        <c:rich>
          <a:bodyPr/>
          <a:lstStyle/>
          <a:p>
            <a:r>
              <a:rPr sz="1000" b="1">
                <a:solidFill>
                  <a:srgbClr val="16262B"/>
                </a:solidFill>
                <a:latin typeface="Calibri"/>
              </a:rPr>
              <a:t>Lateral deviation from the slab measurements (mm, RMS)</a:t>
            </a:r>
          </a:p>
        </c:rich>
      </c:tx>
      <c:overlay val="0"/>
    </c:title>
    <c:autoTitleDeleted val="0"/>
    <c:plotArea>
      <c:layout/>
      <c:barChart>
        <c:barDir val="col"/>
        <c:grouping val="clustered"/>
        <c:varyColors val="1"/>
        <c:ser>
          <c:idx val="0"/>
          <c:order val="0"/>
          <c:tx>
            <c:strRef>
              <c:f>Sheet1!$B$1</c:f>
              <c:strCache>
                <c:ptCount val="1"/>
                <c:pt idx="0">
                  <c:v>Lateral deviation (mm)</c:v>
                </c:pt>
              </c:strCache>
            </c:strRef>
          </c:tx>
          <c:spPr>
            <a:solidFill>
              <a:srgbClr val="6FBAC3"/>
            </a:solidFill>
          </c:spPr>
          <c:invertIfNegative val="1"/>
          <c:dPt>
            <c:idx val="0"/>
            <c:invertIfNegative val="1"/>
            <c:bubble3D val="0"/>
            <c:spPr>
              <a:solidFill>
                <a:srgbClr val="028090"/>
              </a:solidFill>
            </c:spPr>
            <c:extLst>
              <c:ext xmlns:c16="http://schemas.microsoft.com/office/drawing/2014/chart" uri="{C3380CC4-5D6E-409C-BE32-E72D297353CC}">
                <c16:uniqueId val="{00000001-CEA8-4C42-BB11-46A3B147655D}"/>
              </c:ext>
            </c:extLst>
          </c:dPt>
          <c:dLbls>
            <c:numFmt formatCode="0.0" sourceLinked="0"/>
            <c:spPr>
              <a:noFill/>
              <a:ln>
                <a:noFill/>
              </a:ln>
              <a:effectLst/>
            </c:spPr>
            <c:txPr>
              <a:bodyPr/>
              <a:lstStyle/>
              <a:p>
                <a:pPr>
                  <a:defRPr sz="900"/>
                </a:pPr>
                <a:endParaRPr lang="sv-S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1 m · 261 pts</c:v>
                </c:pt>
                <c:pt idx="1">
                  <c:v>2 m · 131 pts</c:v>
                </c:pt>
                <c:pt idx="2">
                  <c:v>5 m · 52 pts</c:v>
                </c:pt>
                <c:pt idx="3">
                  <c:v>10 m · 26 pts</c:v>
                </c:pt>
              </c:strCache>
            </c:strRef>
          </c:cat>
          <c:val>
            <c:numRef>
              <c:f>Sheet1!$B$2:$B$5</c:f>
              <c:numCache>
                <c:formatCode>General</c:formatCode>
                <c:ptCount val="4"/>
                <c:pt idx="0">
                  <c:v>1.35</c:v>
                </c:pt>
                <c:pt idx="1">
                  <c:v>2.06</c:v>
                </c:pt>
                <c:pt idx="2">
                  <c:v>2.67</c:v>
                </c:pt>
                <c:pt idx="3">
                  <c:v>3.3</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2-CEA8-4C42-BB11-46A3B147655D}"/>
            </c:ext>
          </c:extLst>
        </c:ser>
        <c:dLbls>
          <c:dLblPos val="outEnd"/>
          <c:showLegendKey val="0"/>
          <c:showVal val="1"/>
          <c:showCatName val="0"/>
          <c:showSerName val="0"/>
          <c:showPercent val="0"/>
          <c:showBubbleSize val="0"/>
        </c:dLbls>
        <c:gapWidth val="55"/>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B8C7CA"/>
            </a:solidFill>
          </a:ln>
        </c:spPr>
        <c:txPr>
          <a:bodyPr/>
          <a:lstStyle/>
          <a:p>
            <a:pPr>
              <a:defRPr sz="900"/>
            </a:pPr>
            <a:endParaRPr lang="sv-SE"/>
          </a:p>
        </c:txPr>
        <c:crossAx val="-2113994440"/>
        <c:crosses val="autoZero"/>
        <c:auto val="1"/>
        <c:lblAlgn val="ctr"/>
        <c:lblOffset val="100"/>
        <c:noMultiLvlLbl val="0"/>
      </c:catAx>
      <c:valAx>
        <c:axId val="-2113994440"/>
        <c:scaling>
          <c:orientation val="minMax"/>
          <c:max val="4"/>
          <c:min val="0"/>
        </c:scaling>
        <c:delete val="0"/>
        <c:axPos val="l"/>
        <c:majorGridlines>
          <c:spPr>
            <a:ln>
              <a:solidFill>
                <a:srgbClr val="E3ECEC"/>
              </a:solidFill>
            </a:ln>
          </c:spPr>
        </c:majorGridlines>
        <c:numFmt formatCode="General" sourceLinked="1"/>
        <c:majorTickMark val="out"/>
        <c:minorTickMark val="none"/>
        <c:tickLblPos val="nextTo"/>
        <c:spPr>
          <a:ln>
            <a:noFill/>
          </a:ln>
        </c:spPr>
        <c:txPr>
          <a:bodyPr/>
          <a:lstStyle/>
          <a:p>
            <a:pPr>
              <a:defRPr sz="900"/>
            </a:pPr>
            <a:endParaRPr lang="sv-SE"/>
          </a:p>
        </c:txPr>
        <c:crossAx val="-2068027336"/>
        <c:crosses val="autoZero"/>
        <c:crossBetween val="between"/>
        <c:majorUnit val="1"/>
      </c:valAx>
    </c:plotArea>
    <c:plotVisOnly val="1"/>
    <c:dispBlanksAs val="gap"/>
    <c:showDLblsOverMax val="1"/>
  </c:chart>
  <c:txPr>
    <a:bodyPr/>
    <a:lstStyle/>
    <a:p>
      <a:pPr>
        <a:defRPr sz="900">
          <a:solidFill>
            <a:srgbClr val="5F7178"/>
          </a:solidFill>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700803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sentence: I want to measure the shape of the track from a 3D laser scan, and check it against the abnormal vibration events I already found in the previous course. Mention that Amit has agreed to have data collected for it.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short. Sensors measured how hard the wheels hit the track. Each event was summarised into 16 numbers describing the shape of the vibration signal, and an SVM learned to separate normal from abnormal. Four selection methods were compared - Pearson correlation, mutual information, recursive feature elimination and Lasso. RFE was best: 9 of the 16 features matched the full 96.7 per cent cross-validated accuracy, and 6 features reached 95.3 per cent. The six it kept are physically sensible - two measures of how sharp the impact is, one of how big it is, and three of its frequency character. The point of the slide: the model is good at saying THAT something is wrong.</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motivation. For a maintenance planner, knowing something is wrong at km 42.3 is much less useful than knowing the gauge there is 8 mm too wide.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table I already built, with geometry columns added. The vibration is a symptom; the 3D data measures the thing causing it.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five come from the paper Amit sent (Sharma et al. 2018), and all five can be measured from a point cloud. Cant is the odd one out: it is the cross-level a curve is meant to have, because the outer rail is deliberately raised so trains can take the curve. So on a curve the quantity that matters is measured cross-level minus design cant. Twist then follows from cross-level measured at two points a fixed distance apart.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it in three sentences: each section gives a series of measurements, not one number. If the track were perfect, plotting them would give a straight line exactly as long as the section. Every wobble makes that line longer, and TQI is the extra length. The x10^6 is only cosmetic - it turns 0.000002 into 2. The formula is applied to each parameter separately, because gauge is in millimetres and cant is an angle and they cannot be added; each column is normalised by its own 95th percentile and averaged into the TQI column. Keep the individual columns as well as the TQI - if one fault type drives the abnormal events, averaging them together would hide it. Say clearly that these numbers are illustrative.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Steps 1 to 3 are the point cloud processing - the bulk of the project and what the course brief asks for. Step 3 is where the condition table and the TQI come from. Step 4 is the join, and it is the step that depends on there being position information in the vibration data. Steps 5 and 6 are the analysis, and the next slide expands them. Flag that the centreline inside step 1 is what makes everything else possible: gauge has to be measured perpendicular to the track, and on a curve that direction changes constantly.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one-slide version of where the project is heading; the three backup slides at the end expand each step. Step 1: standardise the five geometry parameters, reduce them with PCA and group the abnormal events with k-means, choosing the number of clusters by silhouette score. Strictly the clustering can be done in the full five-dimensional space with PCA used only to plot it - say that if asked, it is the more careful version. Step 2: for each cluster, look at which parameter sits furthest from design, and name the cluster after it. Step 3: train the classifier on the vibration features only. The headline is the two rows at the bottom: today two classes, the aim is one normal class plus three or four named fault types. If asked whether that is circular - it is not. Geometry defines the types once; the classifier never sees geometry, so after one survey the onboard sensor can diagnose on its own.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time plan quickly rather than reading it out. Phase 1 is essentially done: the scope is agreed, the plan is submitted, the paper is read and the introduction is drafted. The red cells are the tasks still open today. Point out that the pipeline is being built on a public railway dataset so the work is not blocked while LTU collects the data, and that if the two datasets cannot be matched in the end, steps 1 to 3 still make a complete project.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position-log question out loud here: do the vibration runs have a speed or position log? Whether that exists decides whether the two datasets can be matched at all, and someone in the room may simply know. Two other things worth raising if there is time: whether 25 m is a sensible section length, and which TQI formulation they would use.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the goal plainly: today the model has two classes, and the aim is to end with one normal class plus three or four named fault types. The geometry is what defines those types - take only the events already flagged abnormal, describe each by the geometry measured at that location, and cluster them with k-means. No hand labelling is needed. Choose the number of clusters with a silhouette score rather than by eye, and if the clusters turn out weak, say so - it would mean the vibration signature is driven by something the scanner cannot see, which is itself a finding. If asked about the axes: they are the first two principal components, so each axis is a mixture of all five geometry parameters and has no physical unit. The projection only shows that groups exist; the next slide is what says what each group is made of, in real units. This figure is illustrative; there is no data yet.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what makes the clusters mean something. Each group is described by which parameter is furthest from design, so cluster 1 becomes a gauge fault, cluster 2 a twist fault, and so on. That is the diagnosis: not just that the track is bad here, but what is wrong with it. Normalise each parameter before comparing, since they are in different units.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ready for the obvious challenge: is this circular? No - and this is the important point. The fault types are defined from the geometry, but the classifier is trained on the vibration features only. So geometry supplies the ground truth once, and after that the cheap onboard sensor can diagnose on its own. That is what would make the method deployable: you do not need to laser scan the network every time you want a diagnosis. Compare against the two-class baseline from Assignment 3 and use the same cross-validation, and read the off-diagonal cells as well as the accuracy - confusing twist with surface matters less than missing a fault entirely. With only 150 events and four classes the per-class counts are small, so report cross-validated figures rather than a single split.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slide for reference rather than presenting it. Two traps worth remembering. First, gauge and the spacing must be in the same unit - gauge in millimetres against a spacing in metres gives nonsense. Second, only the differences between neighbouring measurements enter the formula, so a section that is uniformly 10 mm too wide but perfectly smooth scores TQI = 0. TQI measures roughness, not offset, which is why the fault-signature analysis uses mean deviation from design instead.</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027"/>
        </a:solidFill>
        <a:effectLst/>
      </p:bgPr>
    </p:bg>
    <p:spTree>
      <p:nvGrpSpPr>
        <p:cNvPr id="1" name=""/>
        <p:cNvGrpSpPr/>
        <p:nvPr/>
      </p:nvGrpSpPr>
      <p:grpSpPr>
        <a:xfrm>
          <a:off x="0" y="0"/>
          <a:ext cx="0" cy="0"/>
          <a:chOff x="0" y="0"/>
          <a:chExt cx="0" cy="0"/>
        </a:xfrm>
      </p:grpSpPr>
      <p:sp>
        <p:nvSpPr>
          <p:cNvPr id="2" name="Shape 0"/>
          <p:cNvSpPr/>
          <p:nvPr/>
        </p:nvSpPr>
        <p:spPr>
          <a:xfrm>
            <a:off x="6675120" y="-1005840"/>
            <a:ext cx="3840480" cy="3840480"/>
          </a:xfrm>
          <a:prstGeom prst="ellipse">
            <a:avLst/>
          </a:prstGeom>
          <a:solidFill>
            <a:srgbClr val="028090">
              <a:alpha val="22000"/>
            </a:srgbClr>
          </a:solidFill>
          <a:ln w="12700">
            <a:solidFill>
              <a:srgbClr val="333333"/>
            </a:solidFill>
            <a:prstDash val="solid"/>
          </a:ln>
        </p:spPr>
        <p:txBody>
          <a:bodyPr/>
          <a:lstStyle/>
          <a:p>
            <a:endParaRPr lang="sv-SE"/>
          </a:p>
        </p:txBody>
      </p:sp>
      <p:sp>
        <p:nvSpPr>
          <p:cNvPr id="3" name="Shape 1"/>
          <p:cNvSpPr/>
          <p:nvPr/>
        </p:nvSpPr>
        <p:spPr>
          <a:xfrm>
            <a:off x="7680960" y="2651760"/>
            <a:ext cx="2377440" cy="2377440"/>
          </a:xfrm>
          <a:prstGeom prst="ellipse">
            <a:avLst/>
          </a:prstGeom>
          <a:solidFill>
            <a:srgbClr val="00A896">
              <a:alpha val="15000"/>
            </a:srgbClr>
          </a:solidFill>
          <a:ln w="12700">
            <a:solidFill>
              <a:srgbClr val="333333"/>
            </a:solidFill>
            <a:prstDash val="solid"/>
          </a:ln>
        </p:spPr>
        <p:txBody>
          <a:bodyPr/>
          <a:lstStyle/>
          <a:p>
            <a:endParaRPr lang="sv-SE"/>
          </a:p>
        </p:txBody>
      </p:sp>
      <p:sp>
        <p:nvSpPr>
          <p:cNvPr id="4" name="Text 2"/>
          <p:cNvSpPr txBox="1"/>
          <p:nvPr/>
        </p:nvSpPr>
        <p:spPr>
          <a:xfrm>
            <a:off x="457200" y="1097280"/>
            <a:ext cx="6766560" cy="256032"/>
          </a:xfrm>
          <a:prstGeom prst="rect">
            <a:avLst/>
          </a:prstGeom>
          <a:noFill/>
          <a:ln/>
        </p:spPr>
        <p:txBody>
          <a:bodyPr wrap="square" lIns="0" tIns="0" rIns="0" bIns="0" rtlCol="0" anchor="ctr"/>
          <a:lstStyle/>
          <a:p>
            <a:pPr marL="0" indent="0">
              <a:buNone/>
            </a:pPr>
            <a:r>
              <a:rPr lang="en-US" sz="1150" b="1" kern="0" spc="200" dirty="0">
                <a:solidFill>
                  <a:srgbClr val="00A896"/>
                </a:solidFill>
                <a:latin typeface="Calibri" pitchFamily="34" charset="0"/>
                <a:ea typeface="Calibri" pitchFamily="34" charset="-122"/>
                <a:cs typeface="Calibri" pitchFamily="34" charset="-120"/>
              </a:rPr>
              <a:t>D7016B · PROJECT DEMONSTRATION 1</a:t>
            </a:r>
            <a:endParaRPr lang="en-US" sz="1150" dirty="0"/>
          </a:p>
        </p:txBody>
      </p:sp>
      <p:sp>
        <p:nvSpPr>
          <p:cNvPr id="5" name="Text 3"/>
          <p:cNvSpPr txBox="1"/>
          <p:nvPr/>
        </p:nvSpPr>
        <p:spPr>
          <a:xfrm>
            <a:off x="457200" y="1417320"/>
            <a:ext cx="6858000" cy="1097280"/>
          </a:xfrm>
          <a:prstGeom prst="rect">
            <a:avLst/>
          </a:prstGeom>
          <a:noFill/>
          <a:ln/>
        </p:spPr>
        <p:txBody>
          <a:bodyPr wrap="square" lIns="0" tIns="0" rIns="0" bIns="0" rtlCol="0" anchor="ctr"/>
          <a:lstStyle/>
          <a:p>
            <a:pPr marL="0" indent="0">
              <a:buNone/>
            </a:pPr>
            <a:r>
              <a:rPr lang="en-US" sz="3100" b="1" dirty="0">
                <a:solidFill>
                  <a:srgbClr val="FFFFFF"/>
                </a:solidFill>
                <a:latin typeface="Cambria" pitchFamily="34" charset="0"/>
                <a:ea typeface="Cambria" pitchFamily="34" charset="-122"/>
                <a:cs typeface="Cambria" pitchFamily="34" charset="-120"/>
              </a:rPr>
              <a:t>Railway track geometry from point cloud data</a:t>
            </a:r>
            <a:endParaRPr lang="en-US" sz="3100" dirty="0"/>
          </a:p>
        </p:txBody>
      </p:sp>
      <p:sp>
        <p:nvSpPr>
          <p:cNvPr id="6" name="Text 4"/>
          <p:cNvSpPr txBox="1"/>
          <p:nvPr/>
        </p:nvSpPr>
        <p:spPr>
          <a:xfrm>
            <a:off x="457200" y="2560320"/>
            <a:ext cx="6583680" cy="365760"/>
          </a:xfrm>
          <a:prstGeom prst="rect">
            <a:avLst/>
          </a:prstGeom>
          <a:noFill/>
          <a:ln/>
        </p:spPr>
        <p:txBody>
          <a:bodyPr wrap="square" lIns="0" tIns="0" rIns="0" bIns="0" rtlCol="0" anchor="ctr"/>
          <a:lstStyle/>
          <a:p>
            <a:pPr marL="0" indent="0">
              <a:buNone/>
            </a:pPr>
            <a:r>
              <a:rPr lang="en-US" sz="1600" i="1" dirty="0">
                <a:solidFill>
                  <a:srgbClr val="00A896"/>
                </a:solidFill>
                <a:latin typeface="Calibri" pitchFamily="34" charset="0"/>
                <a:ea typeface="Calibri" pitchFamily="34" charset="-122"/>
                <a:cs typeface="Calibri" pitchFamily="34" charset="-120"/>
              </a:rPr>
              <a:t>…and how it relates to abnormal vibration events</a:t>
            </a:r>
            <a:endParaRPr lang="en-US" sz="1600" dirty="0"/>
          </a:p>
        </p:txBody>
      </p:sp>
      <p:sp>
        <p:nvSpPr>
          <p:cNvPr id="7" name="Text 5"/>
          <p:cNvSpPr txBox="1"/>
          <p:nvPr/>
        </p:nvSpPr>
        <p:spPr>
          <a:xfrm>
            <a:off x="457200" y="3703320"/>
            <a:ext cx="5943600" cy="914400"/>
          </a:xfrm>
          <a:prstGeom prst="rect">
            <a:avLst/>
          </a:prstGeom>
          <a:noFill/>
          <a:ln/>
        </p:spPr>
        <p:txBody>
          <a:bodyPr wrap="square" lIns="0" tIns="0" rIns="0" bIns="0" rtlCol="0" anchor="ctr"/>
          <a:lstStyle/>
          <a:p>
            <a:pPr marL="0" indent="0">
              <a:lnSpc>
                <a:spcPts val="1800"/>
              </a:lnSpc>
              <a:buNone/>
            </a:pPr>
            <a:r>
              <a:rPr lang="en-US" sz="1250" b="1" dirty="0">
                <a:solidFill>
                  <a:srgbClr val="C7D8DB"/>
                </a:solidFill>
                <a:latin typeface="Calibri" pitchFamily="34" charset="0"/>
                <a:ea typeface="Calibri" pitchFamily="34" charset="-122"/>
                <a:cs typeface="Calibri" pitchFamily="34" charset="-120"/>
              </a:rPr>
              <a:t>Viktor Lindberg</a:t>
            </a:r>
            <a:endParaRPr lang="en-US" sz="1250" dirty="0"/>
          </a:p>
          <a:p>
            <a:pPr marL="0" indent="0">
              <a:lnSpc>
                <a:spcPts val="1800"/>
              </a:lnSpc>
              <a:buNone/>
            </a:pPr>
            <a:r>
              <a:rPr lang="en-US" sz="1250" dirty="0">
                <a:solidFill>
                  <a:srgbClr val="C7D8DB"/>
                </a:solidFill>
                <a:latin typeface="Calibri" pitchFamily="34" charset="0"/>
                <a:ea typeface="Calibri" pitchFamily="34" charset="-122"/>
                <a:cs typeface="Calibri" pitchFamily="34" charset="-120"/>
              </a:rPr>
              <a:t>Supervisor: Amit Patwardhan</a:t>
            </a:r>
            <a:endParaRPr lang="en-US" sz="1250" dirty="0"/>
          </a:p>
          <a:p>
            <a:pPr marL="0" indent="0">
              <a:lnSpc>
                <a:spcPts val="1800"/>
              </a:lnSpc>
              <a:buNone/>
            </a:pPr>
            <a:r>
              <a:rPr lang="en-US" sz="1250" dirty="0">
                <a:solidFill>
                  <a:srgbClr val="C7D8DB"/>
                </a:solidFill>
                <a:latin typeface="Calibri" pitchFamily="34" charset="0"/>
                <a:ea typeface="Calibri" pitchFamily="34" charset="-122"/>
                <a:cs typeface="Calibri" pitchFamily="34" charset="-120"/>
              </a:rPr>
              <a:t>Luleå University of Technology · D7016B – Industrial AI and </a:t>
            </a:r>
            <a:r>
              <a:rPr lang="en-US" sz="1250" dirty="0" err="1">
                <a:solidFill>
                  <a:srgbClr val="C7D8DB"/>
                </a:solidFill>
                <a:latin typeface="Calibri" pitchFamily="34" charset="0"/>
                <a:ea typeface="Calibri" pitchFamily="34" charset="-122"/>
                <a:cs typeface="Calibri" pitchFamily="34" charset="-120"/>
              </a:rPr>
              <a:t>eMaintenance</a:t>
            </a:r>
            <a:r>
              <a:rPr lang="en-US" sz="1250" dirty="0">
                <a:solidFill>
                  <a:srgbClr val="C7D8DB"/>
                </a:solidFill>
                <a:latin typeface="Calibri" pitchFamily="34" charset="0"/>
                <a:ea typeface="Calibri" pitchFamily="34" charset="-122"/>
                <a:cs typeface="Calibri" pitchFamily="34" charset="-120"/>
              </a:rPr>
              <a:t>: Part II</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ctr"/>
          <a:lstStyle/>
          <a:p>
            <a:pPr marL="0" indent="0">
              <a:buNone/>
            </a:pPr>
            <a:r>
              <a:rPr lang="en-US" sz="1100" b="1" kern="0" spc="200" dirty="0">
                <a:solidFill>
                  <a:srgbClr val="028090"/>
                </a:solidFill>
                <a:latin typeface="Calibri" pitchFamily="34" charset="0"/>
                <a:ea typeface="Calibri" pitchFamily="34" charset="-122"/>
                <a:cs typeface="Calibri" pitchFamily="34" charset="-120"/>
              </a:rPr>
              <a:t>WHERE THIS STARTS</a:t>
            </a:r>
            <a:endParaRPr lang="en-US" sz="11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marL="0" indent="0">
              <a:buNone/>
            </a:pPr>
            <a:r>
              <a:rPr lang="en-US" sz="2700" b="1" dirty="0">
                <a:solidFill>
                  <a:srgbClr val="16262B"/>
                </a:solidFill>
                <a:latin typeface="Cambria" pitchFamily="34" charset="0"/>
                <a:ea typeface="Cambria" pitchFamily="34" charset="-122"/>
                <a:cs typeface="Cambria" pitchFamily="34" charset="-120"/>
              </a:rPr>
              <a:t>From the previous course</a:t>
            </a:r>
            <a:endParaRPr lang="en-US" sz="2700" dirty="0"/>
          </a:p>
        </p:txBody>
      </p:sp>
      <p:sp>
        <p:nvSpPr>
          <p:cNvPr id="4" name="Shape 2"/>
          <p:cNvSpPr/>
          <p:nvPr/>
        </p:nvSpPr>
        <p:spPr>
          <a:xfrm>
            <a:off x="457200" y="1261872"/>
            <a:ext cx="3931920" cy="658368"/>
          </a:xfrm>
          <a:prstGeom prst="roundRect">
            <a:avLst>
              <a:gd name="adj" fmla="val 8333"/>
            </a:avLst>
          </a:prstGeom>
          <a:solidFill>
            <a:srgbClr val="EDF5F5"/>
          </a:solidFill>
          <a:ln w="12700">
            <a:solidFill>
              <a:srgbClr val="EDF5F5"/>
            </a:solidFill>
            <a:prstDash val="solid"/>
          </a:ln>
        </p:spPr>
        <p:txBody>
          <a:bodyPr/>
          <a:lstStyle/>
          <a:p>
            <a:endParaRPr lang="sv-SE"/>
          </a:p>
        </p:txBody>
      </p:sp>
      <p:sp>
        <p:nvSpPr>
          <p:cNvPr id="5" name="Text 3"/>
          <p:cNvSpPr txBox="1"/>
          <p:nvPr/>
        </p:nvSpPr>
        <p:spPr>
          <a:xfrm>
            <a:off x="594360" y="1261872"/>
            <a:ext cx="1051560" cy="658368"/>
          </a:xfrm>
          <a:prstGeom prst="rect">
            <a:avLst/>
          </a:prstGeom>
          <a:noFill/>
          <a:ln/>
        </p:spPr>
        <p:txBody>
          <a:bodyPr wrap="square" lIns="0" tIns="0" rIns="0" bIns="0" rtlCol="0" anchor="ctr"/>
          <a:lstStyle/>
          <a:p>
            <a:pPr marL="0" indent="0" algn="ctr">
              <a:buNone/>
            </a:pPr>
            <a:r>
              <a:rPr lang="en-US" sz="2400" b="1" dirty="0">
                <a:solidFill>
                  <a:srgbClr val="028090"/>
                </a:solidFill>
                <a:latin typeface="Cambria" pitchFamily="34" charset="0"/>
                <a:ea typeface="Cambria" pitchFamily="34" charset="-122"/>
                <a:cs typeface="Cambria" pitchFamily="34" charset="-120"/>
              </a:rPr>
              <a:t>150</a:t>
            </a:r>
            <a:endParaRPr lang="en-US" sz="2400" dirty="0"/>
          </a:p>
        </p:txBody>
      </p:sp>
      <p:sp>
        <p:nvSpPr>
          <p:cNvPr id="6" name="Text 4"/>
          <p:cNvSpPr txBox="1"/>
          <p:nvPr/>
        </p:nvSpPr>
        <p:spPr>
          <a:xfrm>
            <a:off x="1691640" y="1316736"/>
            <a:ext cx="2606040" cy="256032"/>
          </a:xfrm>
          <a:prstGeom prst="rect">
            <a:avLst/>
          </a:prstGeom>
          <a:noFill/>
          <a:ln/>
        </p:spPr>
        <p:txBody>
          <a:bodyPr wrap="square" lIns="0" tIns="0" rIns="0" bIns="0" rtlCol="0" anchor="ctr"/>
          <a:lstStyle/>
          <a:p>
            <a:pPr marL="0" indent="0">
              <a:buNone/>
            </a:pPr>
            <a:r>
              <a:rPr lang="en-US" sz="1250" b="1" dirty="0">
                <a:solidFill>
                  <a:srgbClr val="16262B"/>
                </a:solidFill>
                <a:latin typeface="Calibri" pitchFamily="34" charset="0"/>
                <a:ea typeface="Calibri" pitchFamily="34" charset="-122"/>
                <a:cs typeface="Calibri" pitchFamily="34" charset="-120"/>
              </a:rPr>
              <a:t>vibration events</a:t>
            </a:r>
            <a:endParaRPr lang="en-US" sz="1250" dirty="0"/>
          </a:p>
        </p:txBody>
      </p:sp>
      <p:sp>
        <p:nvSpPr>
          <p:cNvPr id="7" name="Text 5"/>
          <p:cNvSpPr txBox="1"/>
          <p:nvPr/>
        </p:nvSpPr>
        <p:spPr>
          <a:xfrm>
            <a:off x="1691640" y="1572768"/>
            <a:ext cx="2633472" cy="310896"/>
          </a:xfrm>
          <a:prstGeom prst="rect">
            <a:avLst/>
          </a:prstGeom>
          <a:noFill/>
          <a:ln/>
        </p:spPr>
        <p:txBody>
          <a:bodyPr wrap="square" lIns="0" tIns="0" rIns="0" bIns="0" rtlCol="0" anchor="ctr"/>
          <a:lstStyle/>
          <a:p>
            <a:pPr marL="0" indent="0">
              <a:buNone/>
            </a:pPr>
            <a:r>
              <a:rPr lang="en-US" sz="950" dirty="0">
                <a:solidFill>
                  <a:srgbClr val="5F7178"/>
                </a:solidFill>
                <a:latin typeface="Calibri" pitchFamily="34" charset="0"/>
                <a:ea typeface="Calibri" pitchFamily="34" charset="-122"/>
                <a:cs typeface="Calibri" pitchFamily="34" charset="-120"/>
              </a:rPr>
              <a:t>three measurement trials at switches</a:t>
            </a:r>
            <a:endParaRPr lang="en-US" sz="950" dirty="0"/>
          </a:p>
        </p:txBody>
      </p:sp>
      <p:sp>
        <p:nvSpPr>
          <p:cNvPr id="8" name="Shape 6"/>
          <p:cNvSpPr/>
          <p:nvPr/>
        </p:nvSpPr>
        <p:spPr>
          <a:xfrm>
            <a:off x="457200" y="1993392"/>
            <a:ext cx="3931920" cy="658368"/>
          </a:xfrm>
          <a:prstGeom prst="roundRect">
            <a:avLst>
              <a:gd name="adj" fmla="val 8333"/>
            </a:avLst>
          </a:prstGeom>
          <a:solidFill>
            <a:srgbClr val="EDF5F5"/>
          </a:solidFill>
          <a:ln w="12700">
            <a:solidFill>
              <a:srgbClr val="EDF5F5"/>
            </a:solidFill>
            <a:prstDash val="solid"/>
          </a:ln>
        </p:spPr>
        <p:txBody>
          <a:bodyPr/>
          <a:lstStyle/>
          <a:p>
            <a:endParaRPr lang="sv-SE"/>
          </a:p>
        </p:txBody>
      </p:sp>
      <p:sp>
        <p:nvSpPr>
          <p:cNvPr id="9" name="Text 7"/>
          <p:cNvSpPr txBox="1"/>
          <p:nvPr/>
        </p:nvSpPr>
        <p:spPr>
          <a:xfrm>
            <a:off x="594360" y="1993392"/>
            <a:ext cx="1051560" cy="658368"/>
          </a:xfrm>
          <a:prstGeom prst="rect">
            <a:avLst/>
          </a:prstGeom>
          <a:noFill/>
          <a:ln/>
        </p:spPr>
        <p:txBody>
          <a:bodyPr wrap="square" lIns="0" tIns="0" rIns="0" bIns="0" rtlCol="0" anchor="ctr"/>
          <a:lstStyle/>
          <a:p>
            <a:pPr marL="0" indent="0" algn="ctr">
              <a:buNone/>
            </a:pPr>
            <a:r>
              <a:rPr lang="en-US" sz="2400" b="1" dirty="0">
                <a:solidFill>
                  <a:srgbClr val="028090"/>
                </a:solidFill>
                <a:latin typeface="Cambria" pitchFamily="34" charset="0"/>
                <a:ea typeface="Cambria" pitchFamily="34" charset="-122"/>
                <a:cs typeface="Cambria" pitchFamily="34" charset="-120"/>
              </a:rPr>
              <a:t>16</a:t>
            </a:r>
            <a:endParaRPr lang="en-US" sz="2400" dirty="0"/>
          </a:p>
        </p:txBody>
      </p:sp>
      <p:sp>
        <p:nvSpPr>
          <p:cNvPr id="10" name="Text 8"/>
          <p:cNvSpPr txBox="1"/>
          <p:nvPr/>
        </p:nvSpPr>
        <p:spPr>
          <a:xfrm>
            <a:off x="1691640" y="2048256"/>
            <a:ext cx="2606040" cy="256032"/>
          </a:xfrm>
          <a:prstGeom prst="rect">
            <a:avLst/>
          </a:prstGeom>
          <a:noFill/>
          <a:ln/>
        </p:spPr>
        <p:txBody>
          <a:bodyPr wrap="square" lIns="0" tIns="0" rIns="0" bIns="0" rtlCol="0" anchor="ctr"/>
          <a:lstStyle/>
          <a:p>
            <a:pPr marL="0" indent="0">
              <a:buNone/>
            </a:pPr>
            <a:r>
              <a:rPr lang="en-US" sz="1250" b="1" dirty="0">
                <a:solidFill>
                  <a:srgbClr val="16262B"/>
                </a:solidFill>
                <a:latin typeface="Calibri" pitchFamily="34" charset="0"/>
                <a:ea typeface="Calibri" pitchFamily="34" charset="-122"/>
                <a:cs typeface="Calibri" pitchFamily="34" charset="-120"/>
              </a:rPr>
              <a:t>features per event</a:t>
            </a:r>
            <a:endParaRPr lang="en-US" sz="1250" dirty="0"/>
          </a:p>
        </p:txBody>
      </p:sp>
      <p:sp>
        <p:nvSpPr>
          <p:cNvPr id="11" name="Text 9"/>
          <p:cNvSpPr txBox="1"/>
          <p:nvPr/>
        </p:nvSpPr>
        <p:spPr>
          <a:xfrm>
            <a:off x="1691640" y="2304288"/>
            <a:ext cx="2633472" cy="310896"/>
          </a:xfrm>
          <a:prstGeom prst="rect">
            <a:avLst/>
          </a:prstGeom>
          <a:noFill/>
          <a:ln/>
        </p:spPr>
        <p:txBody>
          <a:bodyPr wrap="square" lIns="0" tIns="0" rIns="0" bIns="0" rtlCol="0" anchor="ctr"/>
          <a:lstStyle/>
          <a:p>
            <a:pPr marL="0" indent="0">
              <a:buNone/>
            </a:pPr>
            <a:r>
              <a:rPr lang="en-US" sz="950" dirty="0">
                <a:solidFill>
                  <a:srgbClr val="5F7178"/>
                </a:solidFill>
                <a:latin typeface="Calibri" pitchFamily="34" charset="0"/>
                <a:ea typeface="Calibri" pitchFamily="34" charset="-122"/>
                <a:cs typeface="Calibri" pitchFamily="34" charset="-120"/>
              </a:rPr>
              <a:t>time and frequency statistics of the signal</a:t>
            </a:r>
            <a:endParaRPr lang="en-US" sz="950" dirty="0"/>
          </a:p>
        </p:txBody>
      </p:sp>
      <p:sp>
        <p:nvSpPr>
          <p:cNvPr id="12" name="Shape 10"/>
          <p:cNvSpPr/>
          <p:nvPr/>
        </p:nvSpPr>
        <p:spPr>
          <a:xfrm>
            <a:off x="457200" y="2724912"/>
            <a:ext cx="3931920" cy="658368"/>
          </a:xfrm>
          <a:prstGeom prst="roundRect">
            <a:avLst>
              <a:gd name="adj" fmla="val 8333"/>
            </a:avLst>
          </a:prstGeom>
          <a:solidFill>
            <a:srgbClr val="EDF5F5"/>
          </a:solidFill>
          <a:ln w="12700">
            <a:solidFill>
              <a:srgbClr val="EDF5F5"/>
            </a:solidFill>
            <a:prstDash val="solid"/>
          </a:ln>
        </p:spPr>
        <p:txBody>
          <a:bodyPr/>
          <a:lstStyle/>
          <a:p>
            <a:endParaRPr lang="sv-SE"/>
          </a:p>
        </p:txBody>
      </p:sp>
      <p:sp>
        <p:nvSpPr>
          <p:cNvPr id="13" name="Text 11"/>
          <p:cNvSpPr txBox="1"/>
          <p:nvPr/>
        </p:nvSpPr>
        <p:spPr>
          <a:xfrm>
            <a:off x="594360" y="2724912"/>
            <a:ext cx="1051560" cy="658368"/>
          </a:xfrm>
          <a:prstGeom prst="rect">
            <a:avLst/>
          </a:prstGeom>
          <a:noFill/>
          <a:ln/>
        </p:spPr>
        <p:txBody>
          <a:bodyPr wrap="square" lIns="0" tIns="0" rIns="0" bIns="0" rtlCol="0" anchor="ctr"/>
          <a:lstStyle/>
          <a:p>
            <a:pPr marL="0" indent="0" algn="ctr">
              <a:buNone/>
            </a:pPr>
            <a:r>
              <a:rPr lang="en-US" sz="2400" b="1" dirty="0">
                <a:solidFill>
                  <a:srgbClr val="028090"/>
                </a:solidFill>
                <a:latin typeface="Cambria" pitchFamily="34" charset="0"/>
                <a:ea typeface="Cambria" pitchFamily="34" charset="-122"/>
                <a:cs typeface="Cambria" pitchFamily="34" charset="-120"/>
              </a:rPr>
              <a:t>6</a:t>
            </a:r>
            <a:endParaRPr lang="en-US" sz="2400" dirty="0"/>
          </a:p>
        </p:txBody>
      </p:sp>
      <p:sp>
        <p:nvSpPr>
          <p:cNvPr id="14" name="Text 12"/>
          <p:cNvSpPr txBox="1"/>
          <p:nvPr/>
        </p:nvSpPr>
        <p:spPr>
          <a:xfrm>
            <a:off x="1691640" y="2779776"/>
            <a:ext cx="2606040" cy="256032"/>
          </a:xfrm>
          <a:prstGeom prst="rect">
            <a:avLst/>
          </a:prstGeom>
          <a:noFill/>
          <a:ln/>
        </p:spPr>
        <p:txBody>
          <a:bodyPr wrap="square" lIns="0" tIns="0" rIns="0" bIns="0" rtlCol="0" anchor="ctr"/>
          <a:lstStyle/>
          <a:p>
            <a:pPr marL="0" indent="0">
              <a:buNone/>
            </a:pPr>
            <a:r>
              <a:rPr lang="en-US" sz="1250" b="1" dirty="0">
                <a:solidFill>
                  <a:srgbClr val="16262B"/>
                </a:solidFill>
                <a:latin typeface="Calibri" pitchFamily="34" charset="0"/>
                <a:ea typeface="Calibri" pitchFamily="34" charset="-122"/>
                <a:cs typeface="Calibri" pitchFamily="34" charset="-120"/>
              </a:rPr>
              <a:t>features after selection</a:t>
            </a:r>
            <a:endParaRPr lang="en-US" sz="1250" dirty="0"/>
          </a:p>
        </p:txBody>
      </p:sp>
      <p:sp>
        <p:nvSpPr>
          <p:cNvPr id="15" name="Text 13"/>
          <p:cNvSpPr txBox="1"/>
          <p:nvPr/>
        </p:nvSpPr>
        <p:spPr>
          <a:xfrm>
            <a:off x="1691640" y="3035808"/>
            <a:ext cx="2633472" cy="310896"/>
          </a:xfrm>
          <a:prstGeom prst="rect">
            <a:avLst/>
          </a:prstGeom>
          <a:noFill/>
          <a:ln/>
        </p:spPr>
        <p:txBody>
          <a:bodyPr wrap="square" lIns="0" tIns="0" rIns="0" bIns="0" rtlCol="0" anchor="ctr"/>
          <a:lstStyle/>
          <a:p>
            <a:pPr marL="0" indent="0">
              <a:buNone/>
            </a:pPr>
            <a:r>
              <a:rPr lang="en-US" sz="950" dirty="0">
                <a:solidFill>
                  <a:srgbClr val="5F7178"/>
                </a:solidFill>
                <a:latin typeface="Calibri" pitchFamily="34" charset="0"/>
                <a:ea typeface="Calibri" pitchFamily="34" charset="-122"/>
                <a:cs typeface="Calibri" pitchFamily="34" charset="-120"/>
              </a:rPr>
              <a:t>kurtosis, crest factor, zero crossings, and three more</a:t>
            </a:r>
            <a:endParaRPr lang="en-US" sz="950" dirty="0"/>
          </a:p>
        </p:txBody>
      </p:sp>
      <p:sp>
        <p:nvSpPr>
          <p:cNvPr id="16" name="Shape 14"/>
          <p:cNvSpPr/>
          <p:nvPr/>
        </p:nvSpPr>
        <p:spPr>
          <a:xfrm>
            <a:off x="457200" y="3456432"/>
            <a:ext cx="3931920" cy="658368"/>
          </a:xfrm>
          <a:prstGeom prst="roundRect">
            <a:avLst>
              <a:gd name="adj" fmla="val 8333"/>
            </a:avLst>
          </a:prstGeom>
          <a:solidFill>
            <a:srgbClr val="EDF5F5"/>
          </a:solidFill>
          <a:ln w="12700">
            <a:solidFill>
              <a:srgbClr val="EDF5F5"/>
            </a:solidFill>
            <a:prstDash val="solid"/>
          </a:ln>
        </p:spPr>
        <p:txBody>
          <a:bodyPr/>
          <a:lstStyle/>
          <a:p>
            <a:endParaRPr lang="sv-SE"/>
          </a:p>
        </p:txBody>
      </p:sp>
      <p:sp>
        <p:nvSpPr>
          <p:cNvPr id="17" name="Text 15"/>
          <p:cNvSpPr txBox="1"/>
          <p:nvPr/>
        </p:nvSpPr>
        <p:spPr>
          <a:xfrm>
            <a:off x="594360" y="3456432"/>
            <a:ext cx="1051560" cy="658368"/>
          </a:xfrm>
          <a:prstGeom prst="rect">
            <a:avLst/>
          </a:prstGeom>
          <a:noFill/>
          <a:ln/>
        </p:spPr>
        <p:txBody>
          <a:bodyPr wrap="square" lIns="0" tIns="0" rIns="0" bIns="0" rtlCol="0" anchor="ctr"/>
          <a:lstStyle/>
          <a:p>
            <a:pPr marL="0" indent="0" algn="ctr">
              <a:buNone/>
            </a:pPr>
            <a:r>
              <a:rPr lang="en-US" sz="2400" b="1" dirty="0">
                <a:solidFill>
                  <a:srgbClr val="028090"/>
                </a:solidFill>
                <a:latin typeface="Cambria" pitchFamily="34" charset="0"/>
                <a:ea typeface="Cambria" pitchFamily="34" charset="-122"/>
                <a:cs typeface="Cambria" pitchFamily="34" charset="-120"/>
              </a:rPr>
              <a:t>93 %</a:t>
            </a:r>
            <a:endParaRPr lang="en-US" sz="2400" dirty="0"/>
          </a:p>
        </p:txBody>
      </p:sp>
      <p:sp>
        <p:nvSpPr>
          <p:cNvPr id="18" name="Text 16"/>
          <p:cNvSpPr txBox="1"/>
          <p:nvPr/>
        </p:nvSpPr>
        <p:spPr>
          <a:xfrm>
            <a:off x="1691640" y="3511296"/>
            <a:ext cx="2606040" cy="256032"/>
          </a:xfrm>
          <a:prstGeom prst="rect">
            <a:avLst/>
          </a:prstGeom>
          <a:noFill/>
          <a:ln/>
        </p:spPr>
        <p:txBody>
          <a:bodyPr wrap="square" lIns="0" tIns="0" rIns="0" bIns="0" rtlCol="0" anchor="ctr"/>
          <a:lstStyle/>
          <a:p>
            <a:pPr marL="0" indent="0">
              <a:buNone/>
            </a:pPr>
            <a:r>
              <a:rPr lang="en-US" sz="1250" b="1" dirty="0">
                <a:solidFill>
                  <a:srgbClr val="16262B"/>
                </a:solidFill>
                <a:latin typeface="Calibri" pitchFamily="34" charset="0"/>
                <a:ea typeface="Calibri" pitchFamily="34" charset="-122"/>
                <a:cs typeface="Calibri" pitchFamily="34" charset="-120"/>
              </a:rPr>
              <a:t>classified correctly</a:t>
            </a:r>
            <a:endParaRPr lang="en-US" sz="1250" dirty="0"/>
          </a:p>
        </p:txBody>
      </p:sp>
      <p:sp>
        <p:nvSpPr>
          <p:cNvPr id="19" name="Text 17"/>
          <p:cNvSpPr txBox="1"/>
          <p:nvPr/>
        </p:nvSpPr>
        <p:spPr>
          <a:xfrm>
            <a:off x="1691640" y="3767328"/>
            <a:ext cx="2633472" cy="310896"/>
          </a:xfrm>
          <a:prstGeom prst="rect">
            <a:avLst/>
          </a:prstGeom>
          <a:noFill/>
          <a:ln/>
        </p:spPr>
        <p:txBody>
          <a:bodyPr wrap="square" lIns="0" tIns="0" rIns="0" bIns="0" rtlCol="0" anchor="ctr"/>
          <a:lstStyle/>
          <a:p>
            <a:pPr marL="0" indent="0">
              <a:buNone/>
            </a:pPr>
            <a:r>
              <a:rPr lang="en-US" sz="950" dirty="0">
                <a:solidFill>
                  <a:srgbClr val="5F7178"/>
                </a:solidFill>
                <a:latin typeface="Calibri" pitchFamily="34" charset="0"/>
                <a:ea typeface="Calibri" pitchFamily="34" charset="-122"/>
                <a:cs typeface="Calibri" pitchFamily="34" charset="-120"/>
              </a:rPr>
              <a:t>SVM on a held-out test set</a:t>
            </a:r>
            <a:endParaRPr lang="en-US" sz="950" dirty="0"/>
          </a:p>
        </p:txBody>
      </p:sp>
      <p:graphicFrame>
        <p:nvGraphicFramePr>
          <p:cNvPr id="20" name="Chart 0"/>
          <p:cNvGraphicFramePr/>
          <p:nvPr/>
        </p:nvGraphicFramePr>
        <p:xfrm>
          <a:off x="4709160" y="1280160"/>
          <a:ext cx="3977640" cy="2834640"/>
        </p:xfrm>
        <a:graphic>
          <a:graphicData uri="http://schemas.openxmlformats.org/drawingml/2006/chart">
            <c:chart xmlns:c="http://schemas.openxmlformats.org/drawingml/2006/chart" xmlns:r="http://schemas.openxmlformats.org/officeDocument/2006/relationships" r:id="rId3"/>
          </a:graphicData>
        </a:graphic>
      </p:graphicFrame>
      <p:sp>
        <p:nvSpPr>
          <p:cNvPr id="21" name="Text 18"/>
          <p:cNvSpPr txBox="1"/>
          <p:nvPr/>
        </p:nvSpPr>
        <p:spPr>
          <a:xfrm>
            <a:off x="457200" y="4279392"/>
            <a:ext cx="8229600" cy="320040"/>
          </a:xfrm>
          <a:prstGeom prst="rect">
            <a:avLst/>
          </a:prstGeom>
          <a:noFill/>
          <a:ln/>
        </p:spPr>
        <p:txBody>
          <a:bodyPr wrap="square" lIns="0" tIns="0" rIns="0" bIns="0" rtlCol="0" anchor="ctr"/>
          <a:lstStyle/>
          <a:p>
            <a:pPr marL="0" indent="0" algn="ctr">
              <a:buNone/>
            </a:pPr>
            <a:r>
              <a:rPr lang="en-US" sz="1200" i="1" dirty="0">
                <a:solidFill>
                  <a:srgbClr val="5F7178"/>
                </a:solidFill>
                <a:latin typeface="Calibri" pitchFamily="34" charset="0"/>
                <a:ea typeface="Calibri" pitchFamily="34" charset="-122"/>
                <a:cs typeface="Calibri" pitchFamily="34" charset="-120"/>
              </a:rPr>
              <a:t>Feature selection showed most of the 16 were redundant: 9 matched the best accuracy, 6 came close.</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ctr"/>
          <a:lstStyle/>
          <a:p>
            <a:pPr marL="0" indent="0">
              <a:buNone/>
            </a:pPr>
            <a:r>
              <a:rPr lang="en-US" sz="1100" b="1" kern="0" spc="200" dirty="0">
                <a:solidFill>
                  <a:srgbClr val="028090"/>
                </a:solidFill>
                <a:latin typeface="Calibri" pitchFamily="34" charset="0"/>
                <a:ea typeface="Calibri" pitchFamily="34" charset="-122"/>
                <a:cs typeface="Calibri" pitchFamily="34" charset="-120"/>
              </a:rPr>
              <a:t>THE PROBLEM</a:t>
            </a:r>
            <a:endParaRPr lang="en-US" sz="11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marL="0" indent="0">
              <a:buNone/>
            </a:pPr>
            <a:r>
              <a:rPr lang="en-US" sz="2700" b="1" dirty="0">
                <a:solidFill>
                  <a:srgbClr val="16262B"/>
                </a:solidFill>
                <a:latin typeface="Cambria" pitchFamily="34" charset="0"/>
                <a:ea typeface="Cambria" pitchFamily="34" charset="-122"/>
                <a:cs typeface="Cambria" pitchFamily="34" charset="-120"/>
              </a:rPr>
              <a:t>Detection is not diagnosis</a:t>
            </a:r>
            <a:endParaRPr lang="en-US" sz="2700" dirty="0"/>
          </a:p>
        </p:txBody>
      </p:sp>
      <p:sp>
        <p:nvSpPr>
          <p:cNvPr id="4" name="Shape 2"/>
          <p:cNvSpPr/>
          <p:nvPr/>
        </p:nvSpPr>
        <p:spPr>
          <a:xfrm>
            <a:off x="457200" y="1280160"/>
            <a:ext cx="3931920" cy="2743200"/>
          </a:xfrm>
          <a:prstGeom prst="roundRect">
            <a:avLst>
              <a:gd name="adj" fmla="val 2000"/>
            </a:avLst>
          </a:prstGeom>
          <a:solidFill>
            <a:srgbClr val="EDF5F5"/>
          </a:solidFill>
          <a:ln w="12700">
            <a:solidFill>
              <a:srgbClr val="EDF5F5"/>
            </a:solidFill>
            <a:prstDash val="solid"/>
          </a:ln>
        </p:spPr>
        <p:txBody>
          <a:bodyPr/>
          <a:lstStyle/>
          <a:p>
            <a:endParaRPr lang="sv-SE"/>
          </a:p>
        </p:txBody>
      </p:sp>
      <p:sp>
        <p:nvSpPr>
          <p:cNvPr id="5" name="Text 3"/>
          <p:cNvSpPr txBox="1"/>
          <p:nvPr/>
        </p:nvSpPr>
        <p:spPr>
          <a:xfrm>
            <a:off x="713232" y="1463040"/>
            <a:ext cx="3383280" cy="274320"/>
          </a:xfrm>
          <a:prstGeom prst="rect">
            <a:avLst/>
          </a:prstGeom>
          <a:noFill/>
          <a:ln/>
        </p:spPr>
        <p:txBody>
          <a:bodyPr wrap="square" lIns="0" tIns="0" rIns="0" bIns="0" rtlCol="0" anchor="ctr"/>
          <a:lstStyle/>
          <a:p>
            <a:pPr marL="0" indent="0">
              <a:buNone/>
            </a:pPr>
            <a:r>
              <a:rPr lang="en-US" sz="1300" b="1" dirty="0">
                <a:solidFill>
                  <a:srgbClr val="028090"/>
                </a:solidFill>
                <a:latin typeface="Calibri" pitchFamily="34" charset="0"/>
                <a:ea typeface="Calibri" pitchFamily="34" charset="-122"/>
                <a:cs typeface="Calibri" pitchFamily="34" charset="-120"/>
              </a:rPr>
              <a:t>What the vibration data shows</a:t>
            </a:r>
            <a:endParaRPr lang="en-US" sz="1300" dirty="0"/>
          </a:p>
        </p:txBody>
      </p:sp>
      <p:sp>
        <p:nvSpPr>
          <p:cNvPr id="6" name="Text 4"/>
          <p:cNvSpPr txBox="1"/>
          <p:nvPr/>
        </p:nvSpPr>
        <p:spPr>
          <a:xfrm>
            <a:off x="713232" y="1874520"/>
            <a:ext cx="3383280" cy="868680"/>
          </a:xfrm>
          <a:prstGeom prst="rect">
            <a:avLst/>
          </a:prstGeom>
          <a:noFill/>
          <a:ln/>
        </p:spPr>
        <p:txBody>
          <a:bodyPr wrap="square" lIns="0" tIns="0" rIns="0" bIns="0" rtlCol="0" anchor="ctr"/>
          <a:lstStyle/>
          <a:p>
            <a:pPr marL="0" indent="0">
              <a:lnSpc>
                <a:spcPts val="2600"/>
              </a:lnSpc>
              <a:buNone/>
            </a:pPr>
            <a:r>
              <a:rPr lang="en-US" sz="2000" i="1" dirty="0">
                <a:solidFill>
                  <a:srgbClr val="16262B"/>
                </a:solidFill>
                <a:latin typeface="Cambria" pitchFamily="34" charset="0"/>
                <a:ea typeface="Cambria" pitchFamily="34" charset="-122"/>
                <a:cs typeface="Cambria" pitchFamily="34" charset="-120"/>
              </a:rPr>
              <a:t>“Something is wrong</a:t>
            </a:r>
            <a:endParaRPr lang="en-US" sz="2000" dirty="0"/>
          </a:p>
          <a:p>
            <a:pPr marL="0" indent="0">
              <a:lnSpc>
                <a:spcPts val="2600"/>
              </a:lnSpc>
              <a:buNone/>
            </a:pPr>
            <a:r>
              <a:rPr lang="en-US" sz="2000" i="1" dirty="0">
                <a:solidFill>
                  <a:srgbClr val="16262B"/>
                </a:solidFill>
                <a:latin typeface="Cambria" pitchFamily="34" charset="0"/>
                <a:ea typeface="Cambria" pitchFamily="34" charset="-122"/>
                <a:cs typeface="Cambria" pitchFamily="34" charset="-120"/>
              </a:rPr>
              <a:t>here.”</a:t>
            </a:r>
            <a:endParaRPr lang="en-US" sz="2000" dirty="0"/>
          </a:p>
        </p:txBody>
      </p:sp>
      <p:sp>
        <p:nvSpPr>
          <p:cNvPr id="7" name="Text 5"/>
          <p:cNvSpPr txBox="1"/>
          <p:nvPr/>
        </p:nvSpPr>
        <p:spPr>
          <a:xfrm>
            <a:off x="713232" y="2880360"/>
            <a:ext cx="3383280" cy="914400"/>
          </a:xfrm>
          <a:prstGeom prst="rect">
            <a:avLst/>
          </a:prstGeom>
          <a:noFill/>
          <a:ln/>
        </p:spPr>
        <p:txBody>
          <a:bodyPr wrap="square" lIns="0" tIns="0" rIns="0" bIns="0" rtlCol="0" anchor="ctr"/>
          <a:lstStyle/>
          <a:p>
            <a:pPr marL="342900" indent="-342900">
              <a:spcAft>
                <a:spcPts val="800"/>
              </a:spcAft>
              <a:buSzPct val="100000"/>
              <a:buChar char="•"/>
            </a:pPr>
            <a:r>
              <a:rPr lang="en-US" sz="1300" dirty="0">
                <a:solidFill>
                  <a:srgbClr val="16262B"/>
                </a:solidFill>
                <a:latin typeface="Calibri" pitchFamily="34" charset="0"/>
                <a:ea typeface="Calibri" pitchFamily="34" charset="-122"/>
                <a:cs typeface="Calibri" pitchFamily="34" charset="-120"/>
              </a:rPr>
              <a:t>Where it happened</a:t>
            </a:r>
            <a:endParaRPr lang="en-US" sz="1300" dirty="0"/>
          </a:p>
          <a:p>
            <a:pPr marL="342900" indent="-342900">
              <a:spcAft>
                <a:spcPts val="800"/>
              </a:spcAft>
              <a:buSzPct val="100000"/>
              <a:buChar char="•"/>
            </a:pPr>
            <a:r>
              <a:rPr lang="en-US" sz="1300" dirty="0">
                <a:solidFill>
                  <a:srgbClr val="16262B"/>
                </a:solidFill>
                <a:latin typeface="Calibri" pitchFamily="34" charset="0"/>
                <a:ea typeface="Calibri" pitchFamily="34" charset="-122"/>
                <a:cs typeface="Calibri" pitchFamily="34" charset="-120"/>
              </a:rPr>
              <a:t>How hard the impact was</a:t>
            </a:r>
            <a:endParaRPr lang="en-US" sz="1300" dirty="0"/>
          </a:p>
        </p:txBody>
      </p:sp>
      <p:sp>
        <p:nvSpPr>
          <p:cNvPr id="8" name="Shape 6"/>
          <p:cNvSpPr/>
          <p:nvPr/>
        </p:nvSpPr>
        <p:spPr>
          <a:xfrm>
            <a:off x="4754880" y="1280160"/>
            <a:ext cx="3931920" cy="2743200"/>
          </a:xfrm>
          <a:prstGeom prst="roundRect">
            <a:avLst>
              <a:gd name="adj" fmla="val 2000"/>
            </a:avLst>
          </a:prstGeom>
          <a:solidFill>
            <a:srgbClr val="FBEDEA"/>
          </a:solidFill>
          <a:ln w="12700">
            <a:solidFill>
              <a:srgbClr val="FBEDEA"/>
            </a:solidFill>
            <a:prstDash val="solid"/>
          </a:ln>
        </p:spPr>
        <p:txBody>
          <a:bodyPr/>
          <a:lstStyle/>
          <a:p>
            <a:endParaRPr lang="sv-SE"/>
          </a:p>
        </p:txBody>
      </p:sp>
      <p:sp>
        <p:nvSpPr>
          <p:cNvPr id="9" name="Text 7"/>
          <p:cNvSpPr txBox="1"/>
          <p:nvPr/>
        </p:nvSpPr>
        <p:spPr>
          <a:xfrm>
            <a:off x="5010912" y="1463040"/>
            <a:ext cx="3383280" cy="274320"/>
          </a:xfrm>
          <a:prstGeom prst="rect">
            <a:avLst/>
          </a:prstGeom>
          <a:noFill/>
          <a:ln/>
        </p:spPr>
        <p:txBody>
          <a:bodyPr wrap="square" lIns="0" tIns="0" rIns="0" bIns="0" rtlCol="0" anchor="ctr"/>
          <a:lstStyle/>
          <a:p>
            <a:pPr marL="0" indent="0">
              <a:buNone/>
            </a:pPr>
            <a:r>
              <a:rPr lang="en-US" sz="1300" b="1" dirty="0">
                <a:solidFill>
                  <a:srgbClr val="E8604C"/>
                </a:solidFill>
                <a:latin typeface="Calibri" pitchFamily="34" charset="0"/>
                <a:ea typeface="Calibri" pitchFamily="34" charset="-122"/>
                <a:cs typeface="Calibri" pitchFamily="34" charset="-120"/>
              </a:rPr>
              <a:t>What it leaves unanswered</a:t>
            </a:r>
            <a:endParaRPr lang="en-US" sz="1300" dirty="0"/>
          </a:p>
        </p:txBody>
      </p:sp>
      <p:sp>
        <p:nvSpPr>
          <p:cNvPr id="10" name="Text 8"/>
          <p:cNvSpPr txBox="1"/>
          <p:nvPr/>
        </p:nvSpPr>
        <p:spPr>
          <a:xfrm>
            <a:off x="5010912" y="1874520"/>
            <a:ext cx="3474720" cy="868680"/>
          </a:xfrm>
          <a:prstGeom prst="rect">
            <a:avLst/>
          </a:prstGeom>
          <a:noFill/>
          <a:ln/>
        </p:spPr>
        <p:txBody>
          <a:bodyPr wrap="square" lIns="0" tIns="0" rIns="0" bIns="0" rtlCol="0" anchor="ctr"/>
          <a:lstStyle/>
          <a:p>
            <a:pPr marL="0" indent="0">
              <a:lnSpc>
                <a:spcPts val="2600"/>
              </a:lnSpc>
              <a:buNone/>
            </a:pPr>
            <a:r>
              <a:rPr lang="en-US" sz="2000" i="1" dirty="0">
                <a:solidFill>
                  <a:srgbClr val="16262B"/>
                </a:solidFill>
                <a:latin typeface="Cambria" pitchFamily="34" charset="0"/>
                <a:ea typeface="Cambria" pitchFamily="34" charset="-122"/>
                <a:cs typeface="Cambria" pitchFamily="34" charset="-120"/>
              </a:rPr>
              <a:t>“…but what is wrong</a:t>
            </a:r>
            <a:endParaRPr lang="en-US" sz="2000" dirty="0"/>
          </a:p>
          <a:p>
            <a:pPr marL="0" indent="0">
              <a:lnSpc>
                <a:spcPts val="2600"/>
              </a:lnSpc>
              <a:buNone/>
            </a:pPr>
            <a:r>
              <a:rPr lang="en-US" sz="2000" i="1" dirty="0">
                <a:solidFill>
                  <a:srgbClr val="16262B"/>
                </a:solidFill>
                <a:latin typeface="Cambria" pitchFamily="34" charset="0"/>
                <a:ea typeface="Cambria" pitchFamily="34" charset="-122"/>
                <a:cs typeface="Cambria" pitchFamily="34" charset="-120"/>
              </a:rPr>
              <a:t>with the track?”</a:t>
            </a:r>
            <a:endParaRPr lang="en-US" sz="2000" dirty="0"/>
          </a:p>
        </p:txBody>
      </p:sp>
      <p:sp>
        <p:nvSpPr>
          <p:cNvPr id="11" name="Text 9"/>
          <p:cNvSpPr txBox="1"/>
          <p:nvPr/>
        </p:nvSpPr>
        <p:spPr>
          <a:xfrm>
            <a:off x="5010912" y="2880360"/>
            <a:ext cx="3383280" cy="1005840"/>
          </a:xfrm>
          <a:prstGeom prst="rect">
            <a:avLst/>
          </a:prstGeom>
          <a:noFill/>
          <a:ln/>
        </p:spPr>
        <p:txBody>
          <a:bodyPr wrap="square" lIns="0" tIns="0" rIns="0" bIns="0" rtlCol="0" anchor="ctr"/>
          <a:lstStyle/>
          <a:p>
            <a:pPr marL="342900" indent="-342900">
              <a:spcAft>
                <a:spcPts val="800"/>
              </a:spcAft>
              <a:buSzPct val="100000"/>
              <a:buChar char="•"/>
            </a:pPr>
            <a:r>
              <a:rPr lang="en-US" sz="1300" dirty="0">
                <a:solidFill>
                  <a:srgbClr val="16262B"/>
                </a:solidFill>
                <a:latin typeface="Calibri" pitchFamily="34" charset="0"/>
                <a:ea typeface="Calibri" pitchFamily="34" charset="-122"/>
                <a:cs typeface="Calibri" pitchFamily="34" charset="-120"/>
              </a:rPr>
              <a:t>A widened gauge?</a:t>
            </a:r>
            <a:endParaRPr lang="en-US" sz="1300" dirty="0"/>
          </a:p>
          <a:p>
            <a:pPr marL="342900" indent="-342900">
              <a:spcAft>
                <a:spcPts val="800"/>
              </a:spcAft>
              <a:buSzPct val="100000"/>
              <a:buChar char="•"/>
            </a:pPr>
            <a:r>
              <a:rPr lang="en-US" sz="1300" dirty="0">
                <a:solidFill>
                  <a:srgbClr val="16262B"/>
                </a:solidFill>
                <a:latin typeface="Calibri" pitchFamily="34" charset="0"/>
                <a:ea typeface="Calibri" pitchFamily="34" charset="-122"/>
                <a:cs typeface="Calibri" pitchFamily="34" charset="-120"/>
              </a:rPr>
              <a:t>A worn crossing?</a:t>
            </a:r>
            <a:endParaRPr lang="en-US" sz="1300" dirty="0"/>
          </a:p>
          <a:p>
            <a:pPr marL="342900" indent="-342900">
              <a:spcAft>
                <a:spcPts val="800"/>
              </a:spcAft>
              <a:buSzPct val="100000"/>
              <a:buChar char="•"/>
            </a:pPr>
            <a:r>
              <a:rPr lang="en-US" sz="1300" dirty="0">
                <a:solidFill>
                  <a:srgbClr val="16262B"/>
                </a:solidFill>
                <a:latin typeface="Calibri" pitchFamily="34" charset="0"/>
                <a:ea typeface="Calibri" pitchFamily="34" charset="-122"/>
                <a:cs typeface="Calibri" pitchFamily="34" charset="-120"/>
              </a:rPr>
              <a:t>A settled sleeper?</a:t>
            </a:r>
            <a:endParaRPr lang="en-US" sz="1300" dirty="0"/>
          </a:p>
        </p:txBody>
      </p:sp>
      <p:sp>
        <p:nvSpPr>
          <p:cNvPr id="12" name="Text 10"/>
          <p:cNvSpPr txBox="1"/>
          <p:nvPr/>
        </p:nvSpPr>
        <p:spPr>
          <a:xfrm>
            <a:off x="457200" y="4224528"/>
            <a:ext cx="8229600" cy="320040"/>
          </a:xfrm>
          <a:prstGeom prst="rect">
            <a:avLst/>
          </a:prstGeom>
          <a:noFill/>
          <a:ln/>
        </p:spPr>
        <p:txBody>
          <a:bodyPr wrap="square" lIns="0" tIns="0" rIns="0" bIns="0" rtlCol="0" anchor="ctr"/>
          <a:lstStyle/>
          <a:p>
            <a:pPr marL="0" indent="0" algn="ctr">
              <a:buNone/>
            </a:pPr>
            <a:r>
              <a:rPr lang="en-US" sz="1300" b="1" i="1" dirty="0">
                <a:solidFill>
                  <a:srgbClr val="5F7178"/>
                </a:solidFill>
                <a:latin typeface="Calibri" pitchFamily="34" charset="0"/>
                <a:ea typeface="Calibri" pitchFamily="34" charset="-122"/>
                <a:cs typeface="Calibri" pitchFamily="34" charset="-120"/>
              </a:rPr>
              <a:t>The vibration looks the same — but each one needs a different repair.</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2027"/>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ctr"/>
          <a:lstStyle/>
          <a:p>
            <a:pPr marL="0" indent="0">
              <a:buNone/>
            </a:pPr>
            <a:r>
              <a:rPr lang="en-US" sz="1100" b="1" kern="0" spc="200" dirty="0">
                <a:solidFill>
                  <a:srgbClr val="00A896"/>
                </a:solidFill>
                <a:latin typeface="Calibri" pitchFamily="34" charset="0"/>
                <a:ea typeface="Calibri" pitchFamily="34" charset="-122"/>
                <a:cs typeface="Calibri" pitchFamily="34" charset="-120"/>
              </a:rPr>
              <a:t>THE IDEA</a:t>
            </a:r>
            <a:endParaRPr lang="en-US" sz="11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marL="0" indent="0">
              <a:buNone/>
            </a:pPr>
            <a:r>
              <a:rPr lang="en-US" sz="2700" b="1" dirty="0">
                <a:solidFill>
                  <a:srgbClr val="FFFFFF"/>
                </a:solidFill>
                <a:latin typeface="Cambria" pitchFamily="34" charset="0"/>
                <a:ea typeface="Cambria" pitchFamily="34" charset="-122"/>
                <a:cs typeface="Cambria" pitchFamily="34" charset="-120"/>
              </a:rPr>
              <a:t>Measure the track itself, at the same places</a:t>
            </a:r>
            <a:endParaRPr lang="en-US" sz="2700" dirty="0"/>
          </a:p>
        </p:txBody>
      </p:sp>
      <p:sp>
        <p:nvSpPr>
          <p:cNvPr id="4" name="Shape 2"/>
          <p:cNvSpPr/>
          <p:nvPr/>
        </p:nvSpPr>
        <p:spPr>
          <a:xfrm>
            <a:off x="457200" y="1280160"/>
            <a:ext cx="3931920" cy="1920240"/>
          </a:xfrm>
          <a:prstGeom prst="roundRect">
            <a:avLst>
              <a:gd name="adj" fmla="val 2857"/>
            </a:avLst>
          </a:prstGeom>
          <a:solidFill>
            <a:srgbClr val="FFFFFF">
              <a:alpha val="8000"/>
            </a:srgbClr>
          </a:solidFill>
          <a:ln w="19050">
            <a:solidFill>
              <a:srgbClr val="028090"/>
            </a:solidFill>
            <a:prstDash val="solid"/>
          </a:ln>
        </p:spPr>
        <p:txBody>
          <a:bodyPr/>
          <a:lstStyle/>
          <a:p>
            <a:endParaRPr lang="sv-SE"/>
          </a:p>
        </p:txBody>
      </p:sp>
      <p:sp>
        <p:nvSpPr>
          <p:cNvPr id="5" name="Text 3"/>
          <p:cNvSpPr txBox="1"/>
          <p:nvPr/>
        </p:nvSpPr>
        <p:spPr>
          <a:xfrm>
            <a:off x="731520" y="1463040"/>
            <a:ext cx="3383280" cy="256032"/>
          </a:xfrm>
          <a:prstGeom prst="rect">
            <a:avLst/>
          </a:prstGeom>
          <a:noFill/>
          <a:ln/>
        </p:spPr>
        <p:txBody>
          <a:bodyPr wrap="square" lIns="0" tIns="0" rIns="0" bIns="0" rtlCol="0" anchor="ctr"/>
          <a:lstStyle/>
          <a:p>
            <a:pPr marL="0" indent="0">
              <a:buNone/>
            </a:pPr>
            <a:r>
              <a:rPr lang="en-US" sz="1100" b="1" kern="0" spc="150" dirty="0">
                <a:solidFill>
                  <a:srgbClr val="028090"/>
                </a:solidFill>
                <a:latin typeface="Calibri" pitchFamily="34" charset="0"/>
                <a:ea typeface="Calibri" pitchFamily="34" charset="-122"/>
                <a:cs typeface="Calibri" pitchFamily="34" charset="-120"/>
              </a:rPr>
              <a:t>VIBRATION DATA</a:t>
            </a:r>
            <a:endParaRPr lang="en-US" sz="1100" dirty="0"/>
          </a:p>
        </p:txBody>
      </p:sp>
      <p:sp>
        <p:nvSpPr>
          <p:cNvPr id="6" name="Text 4"/>
          <p:cNvSpPr txBox="1"/>
          <p:nvPr/>
        </p:nvSpPr>
        <p:spPr>
          <a:xfrm>
            <a:off x="731520" y="1737360"/>
            <a:ext cx="3383280" cy="384048"/>
          </a:xfrm>
          <a:prstGeom prst="rect">
            <a:avLst/>
          </a:prstGeom>
          <a:noFill/>
          <a:ln/>
        </p:spPr>
        <p:txBody>
          <a:bodyPr wrap="square" lIns="0" tIns="0" rIns="0" bIns="0" rtlCol="0" anchor="ctr"/>
          <a:lstStyle/>
          <a:p>
            <a:pPr marL="0" indent="0">
              <a:buNone/>
            </a:pPr>
            <a:r>
              <a:rPr lang="en-US" sz="2100" b="1" dirty="0">
                <a:solidFill>
                  <a:srgbClr val="FFFFFF"/>
                </a:solidFill>
                <a:latin typeface="Cambria" pitchFamily="34" charset="0"/>
                <a:ea typeface="Cambria" pitchFamily="34" charset="-122"/>
                <a:cs typeface="Cambria" pitchFamily="34" charset="-120"/>
              </a:rPr>
              <a:t>the reaction</a:t>
            </a:r>
            <a:endParaRPr lang="en-US" sz="2100" dirty="0"/>
          </a:p>
        </p:txBody>
      </p:sp>
      <p:sp>
        <p:nvSpPr>
          <p:cNvPr id="7" name="Text 5"/>
          <p:cNvSpPr txBox="1"/>
          <p:nvPr/>
        </p:nvSpPr>
        <p:spPr>
          <a:xfrm>
            <a:off x="731520" y="2240280"/>
            <a:ext cx="3429000" cy="822960"/>
          </a:xfrm>
          <a:prstGeom prst="rect">
            <a:avLst/>
          </a:prstGeom>
          <a:noFill/>
          <a:ln/>
        </p:spPr>
        <p:txBody>
          <a:bodyPr wrap="square" lIns="0" tIns="0" rIns="0" bIns="0" rtlCol="0" anchor="ctr"/>
          <a:lstStyle/>
          <a:p>
            <a:pPr marL="0" indent="0">
              <a:lnSpc>
                <a:spcPts val="1800"/>
              </a:lnSpc>
              <a:buNone/>
            </a:pPr>
            <a:r>
              <a:rPr lang="en-US" sz="1250" dirty="0">
                <a:solidFill>
                  <a:srgbClr val="C7D8DB"/>
                </a:solidFill>
                <a:latin typeface="Calibri" pitchFamily="34" charset="0"/>
                <a:ea typeface="Calibri" pitchFamily="34" charset="-122"/>
                <a:cs typeface="Calibri" pitchFamily="34" charset="-120"/>
              </a:rPr>
              <a:t>How hard the wheel was hit.</a:t>
            </a:r>
            <a:endParaRPr lang="en-US" sz="1250" dirty="0"/>
          </a:p>
          <a:p>
            <a:pPr marL="0" indent="0">
              <a:lnSpc>
                <a:spcPts val="1800"/>
              </a:lnSpc>
              <a:buNone/>
            </a:pPr>
            <a:r>
              <a:rPr lang="en-US" sz="1250" dirty="0">
                <a:solidFill>
                  <a:srgbClr val="C7D8DB"/>
                </a:solidFill>
                <a:latin typeface="Calibri" pitchFamily="34" charset="0"/>
                <a:ea typeface="Calibri" pitchFamily="34" charset="-122"/>
                <a:cs typeface="Calibri" pitchFamily="34" charset="-120"/>
              </a:rPr>
              <a:t>Measured indirectly.</a:t>
            </a:r>
            <a:endParaRPr lang="en-US" sz="1250" dirty="0"/>
          </a:p>
        </p:txBody>
      </p:sp>
      <p:sp>
        <p:nvSpPr>
          <p:cNvPr id="8" name="Shape 6"/>
          <p:cNvSpPr/>
          <p:nvPr/>
        </p:nvSpPr>
        <p:spPr>
          <a:xfrm>
            <a:off x="4754880" y="1280160"/>
            <a:ext cx="3931920" cy="1920240"/>
          </a:xfrm>
          <a:prstGeom prst="roundRect">
            <a:avLst>
              <a:gd name="adj" fmla="val 2857"/>
            </a:avLst>
          </a:prstGeom>
          <a:solidFill>
            <a:srgbClr val="FFFFFF">
              <a:alpha val="8000"/>
            </a:srgbClr>
          </a:solidFill>
          <a:ln w="19050">
            <a:solidFill>
              <a:srgbClr val="00A896"/>
            </a:solidFill>
            <a:prstDash val="solid"/>
          </a:ln>
        </p:spPr>
        <p:txBody>
          <a:bodyPr/>
          <a:lstStyle/>
          <a:p>
            <a:endParaRPr lang="sv-SE"/>
          </a:p>
        </p:txBody>
      </p:sp>
      <p:sp>
        <p:nvSpPr>
          <p:cNvPr id="9" name="Text 7"/>
          <p:cNvSpPr txBox="1"/>
          <p:nvPr/>
        </p:nvSpPr>
        <p:spPr>
          <a:xfrm>
            <a:off x="5029200" y="1463040"/>
            <a:ext cx="3383280" cy="256032"/>
          </a:xfrm>
          <a:prstGeom prst="rect">
            <a:avLst/>
          </a:prstGeom>
          <a:noFill/>
          <a:ln/>
        </p:spPr>
        <p:txBody>
          <a:bodyPr wrap="square" lIns="0" tIns="0" rIns="0" bIns="0" rtlCol="0" anchor="ctr"/>
          <a:lstStyle/>
          <a:p>
            <a:pPr marL="0" indent="0">
              <a:buNone/>
            </a:pPr>
            <a:r>
              <a:rPr lang="en-US" sz="1100" b="1" kern="0" spc="150" dirty="0">
                <a:solidFill>
                  <a:srgbClr val="00A896"/>
                </a:solidFill>
                <a:latin typeface="Calibri" pitchFamily="34" charset="0"/>
                <a:ea typeface="Calibri" pitchFamily="34" charset="-122"/>
                <a:cs typeface="Calibri" pitchFamily="34" charset="-120"/>
              </a:rPr>
              <a:t>3D DATA</a:t>
            </a:r>
            <a:endParaRPr lang="en-US" sz="1100" dirty="0"/>
          </a:p>
        </p:txBody>
      </p:sp>
      <p:sp>
        <p:nvSpPr>
          <p:cNvPr id="10" name="Text 8"/>
          <p:cNvSpPr txBox="1"/>
          <p:nvPr/>
        </p:nvSpPr>
        <p:spPr>
          <a:xfrm>
            <a:off x="5029200" y="1737360"/>
            <a:ext cx="3383280" cy="384048"/>
          </a:xfrm>
          <a:prstGeom prst="rect">
            <a:avLst/>
          </a:prstGeom>
          <a:noFill/>
          <a:ln/>
        </p:spPr>
        <p:txBody>
          <a:bodyPr wrap="square" lIns="0" tIns="0" rIns="0" bIns="0" rtlCol="0" anchor="ctr"/>
          <a:lstStyle/>
          <a:p>
            <a:pPr marL="0" indent="0">
              <a:buNone/>
            </a:pPr>
            <a:r>
              <a:rPr lang="en-US" sz="2100" b="1" dirty="0">
                <a:solidFill>
                  <a:srgbClr val="FFFFFF"/>
                </a:solidFill>
                <a:latin typeface="Cambria" pitchFamily="34" charset="0"/>
                <a:ea typeface="Cambria" pitchFamily="34" charset="-122"/>
                <a:cs typeface="Cambria" pitchFamily="34" charset="-120"/>
              </a:rPr>
              <a:t>the track itself</a:t>
            </a:r>
            <a:endParaRPr lang="en-US" sz="2100" dirty="0"/>
          </a:p>
        </p:txBody>
      </p:sp>
      <p:sp>
        <p:nvSpPr>
          <p:cNvPr id="11" name="Text 9"/>
          <p:cNvSpPr txBox="1"/>
          <p:nvPr/>
        </p:nvSpPr>
        <p:spPr>
          <a:xfrm>
            <a:off x="5029200" y="2240280"/>
            <a:ext cx="3429000" cy="822960"/>
          </a:xfrm>
          <a:prstGeom prst="rect">
            <a:avLst/>
          </a:prstGeom>
          <a:noFill/>
          <a:ln/>
        </p:spPr>
        <p:txBody>
          <a:bodyPr wrap="square" lIns="0" tIns="0" rIns="0" bIns="0" rtlCol="0" anchor="ctr"/>
          <a:lstStyle/>
          <a:p>
            <a:pPr marL="0" indent="0">
              <a:lnSpc>
                <a:spcPts val="1800"/>
              </a:lnSpc>
              <a:buNone/>
            </a:pPr>
            <a:r>
              <a:rPr lang="en-US" sz="1250" dirty="0">
                <a:solidFill>
                  <a:srgbClr val="C7D8DB"/>
                </a:solidFill>
                <a:latin typeface="Calibri" pitchFamily="34" charset="0"/>
                <a:ea typeface="Calibri" pitchFamily="34" charset="-122"/>
                <a:cs typeface="Calibri" pitchFamily="34" charset="-120"/>
              </a:rPr>
              <a:t>The actual shape of the rails.</a:t>
            </a:r>
            <a:endParaRPr lang="en-US" sz="1250" dirty="0"/>
          </a:p>
          <a:p>
            <a:pPr marL="0" indent="0">
              <a:lnSpc>
                <a:spcPts val="1800"/>
              </a:lnSpc>
              <a:buNone/>
            </a:pPr>
            <a:r>
              <a:rPr lang="en-US" sz="1250" dirty="0">
                <a:solidFill>
                  <a:srgbClr val="C7D8DB"/>
                </a:solidFill>
                <a:latin typeface="Calibri" pitchFamily="34" charset="0"/>
                <a:ea typeface="Calibri" pitchFamily="34" charset="-122"/>
                <a:cs typeface="Calibri" pitchFamily="34" charset="-120"/>
              </a:rPr>
              <a:t>Measured directly, in metres.</a:t>
            </a:r>
            <a:endParaRPr lang="en-US" sz="1250" dirty="0"/>
          </a:p>
        </p:txBody>
      </p:sp>
      <p:sp>
        <p:nvSpPr>
          <p:cNvPr id="12" name="Shape 10"/>
          <p:cNvSpPr/>
          <p:nvPr/>
        </p:nvSpPr>
        <p:spPr>
          <a:xfrm>
            <a:off x="457200" y="3383280"/>
            <a:ext cx="8229600" cy="1280160"/>
          </a:xfrm>
          <a:prstGeom prst="roundRect">
            <a:avLst>
              <a:gd name="adj" fmla="val 4286"/>
            </a:avLst>
          </a:prstGeom>
          <a:solidFill>
            <a:srgbClr val="00A896">
              <a:alpha val="12000"/>
            </a:srgbClr>
          </a:solidFill>
          <a:ln w="12700">
            <a:solidFill>
              <a:srgbClr val="00A896"/>
            </a:solidFill>
            <a:prstDash val="solid"/>
          </a:ln>
        </p:spPr>
        <p:txBody>
          <a:bodyPr/>
          <a:lstStyle/>
          <a:p>
            <a:endParaRPr lang="sv-SE"/>
          </a:p>
        </p:txBody>
      </p:sp>
      <p:sp>
        <p:nvSpPr>
          <p:cNvPr id="13" name="Text 11"/>
          <p:cNvSpPr txBox="1"/>
          <p:nvPr/>
        </p:nvSpPr>
        <p:spPr>
          <a:xfrm>
            <a:off x="731520" y="3493008"/>
            <a:ext cx="7680960" cy="292608"/>
          </a:xfrm>
          <a:prstGeom prst="rect">
            <a:avLst/>
          </a:prstGeom>
          <a:noFill/>
          <a:ln/>
        </p:spPr>
        <p:txBody>
          <a:bodyPr wrap="square" lIns="0" tIns="0" rIns="0" bIns="0" rtlCol="0" anchor="ctr"/>
          <a:lstStyle/>
          <a:p>
            <a:pPr marL="0" indent="0">
              <a:buNone/>
            </a:pPr>
            <a:r>
              <a:rPr lang="en-US" sz="1400" b="1" dirty="0">
                <a:solidFill>
                  <a:srgbClr val="00A896"/>
                </a:solidFill>
                <a:latin typeface="Cambria" pitchFamily="34" charset="0"/>
                <a:ea typeface="Cambria" pitchFamily="34" charset="-122"/>
                <a:cs typeface="Cambria" pitchFamily="34" charset="-120"/>
              </a:rPr>
              <a:t>Today:  </a:t>
            </a:r>
            <a:r>
              <a:rPr lang="en-US" sz="1400" i="1" dirty="0">
                <a:solidFill>
                  <a:srgbClr val="FFFFFF"/>
                </a:solidFill>
                <a:latin typeface="Cambria" pitchFamily="34" charset="0"/>
                <a:ea typeface="Cambria" pitchFamily="34" charset="-122"/>
                <a:cs typeface="Cambria" pitchFamily="34" charset="-120"/>
              </a:rPr>
              <a:t>“Something is wrong here.”</a:t>
            </a:r>
            <a:endParaRPr lang="en-US" sz="1400" dirty="0"/>
          </a:p>
        </p:txBody>
      </p:sp>
      <p:sp>
        <p:nvSpPr>
          <p:cNvPr id="14" name="Text 12"/>
          <p:cNvSpPr txBox="1"/>
          <p:nvPr/>
        </p:nvSpPr>
        <p:spPr>
          <a:xfrm>
            <a:off x="731520" y="3822192"/>
            <a:ext cx="7680960" cy="292608"/>
          </a:xfrm>
          <a:prstGeom prst="rect">
            <a:avLst/>
          </a:prstGeom>
          <a:noFill/>
          <a:ln/>
        </p:spPr>
        <p:txBody>
          <a:bodyPr wrap="square" lIns="0" tIns="0" rIns="0" bIns="0" rtlCol="0" anchor="ctr"/>
          <a:lstStyle/>
          <a:p>
            <a:pPr marL="0" indent="0">
              <a:buNone/>
            </a:pPr>
            <a:r>
              <a:rPr lang="en-US" sz="1400" b="1" dirty="0">
                <a:solidFill>
                  <a:srgbClr val="00A896"/>
                </a:solidFill>
                <a:latin typeface="Cambria" pitchFamily="34" charset="0"/>
                <a:ea typeface="Cambria" pitchFamily="34" charset="-122"/>
                <a:cs typeface="Cambria" pitchFamily="34" charset="-120"/>
              </a:rPr>
              <a:t>With 3D data:  </a:t>
            </a:r>
            <a:r>
              <a:rPr lang="en-US" sz="1400" i="1" dirty="0">
                <a:solidFill>
                  <a:srgbClr val="FFFFFF"/>
                </a:solidFill>
                <a:latin typeface="Cambria" pitchFamily="34" charset="0"/>
                <a:ea typeface="Cambria" pitchFamily="34" charset="-122"/>
                <a:cs typeface="Cambria" pitchFamily="34" charset="-120"/>
              </a:rPr>
              <a:t>“Something is wrong here — and the rails are 8 mm too far apart.”</a:t>
            </a:r>
            <a:endParaRPr lang="en-US" sz="1400" dirty="0"/>
          </a:p>
        </p:txBody>
      </p:sp>
      <p:sp>
        <p:nvSpPr>
          <p:cNvPr id="15" name="Text 13"/>
          <p:cNvSpPr txBox="1"/>
          <p:nvPr/>
        </p:nvSpPr>
        <p:spPr>
          <a:xfrm>
            <a:off x="731520" y="4187952"/>
            <a:ext cx="7680960" cy="347472"/>
          </a:xfrm>
          <a:prstGeom prst="rect">
            <a:avLst/>
          </a:prstGeom>
          <a:noFill/>
          <a:ln/>
        </p:spPr>
        <p:txBody>
          <a:bodyPr wrap="square" lIns="0" tIns="0" rIns="0" bIns="0" rtlCol="0" anchor="ctr"/>
          <a:lstStyle/>
          <a:p>
            <a:pPr marL="0" indent="0">
              <a:buNone/>
            </a:pPr>
            <a:r>
              <a:rPr lang="en-US" sz="1200" dirty="0">
                <a:solidFill>
                  <a:srgbClr val="C7D8DB"/>
                </a:solidFill>
                <a:latin typeface="Calibri" pitchFamily="34" charset="0"/>
                <a:ea typeface="Calibri" pitchFamily="34" charset="-122"/>
                <a:cs typeface="Calibri" pitchFamily="34" charset="-120"/>
              </a:rPr>
              <a:t>Or one rail sits higher than the other, or the rail top is uneven — whatever the scan shows at that spot.</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ctr"/>
          <a:lstStyle/>
          <a:p>
            <a:pPr marL="0" indent="0">
              <a:buNone/>
            </a:pPr>
            <a:r>
              <a:rPr lang="en-US" sz="1100" b="1" kern="0" spc="200" dirty="0">
                <a:solidFill>
                  <a:srgbClr val="028090"/>
                </a:solidFill>
                <a:latin typeface="Calibri" pitchFamily="34" charset="0"/>
                <a:ea typeface="Calibri" pitchFamily="34" charset="-122"/>
                <a:cs typeface="Calibri" pitchFamily="34" charset="-120"/>
              </a:rPr>
              <a:t>MEASUREMENTS</a:t>
            </a:r>
            <a:endParaRPr lang="en-US" sz="11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marL="0" indent="0">
              <a:buNone/>
            </a:pPr>
            <a:r>
              <a:rPr lang="en-US" sz="2700" b="1" dirty="0">
                <a:solidFill>
                  <a:srgbClr val="16262B"/>
                </a:solidFill>
                <a:latin typeface="Cambria" pitchFamily="34" charset="0"/>
                <a:ea typeface="Cambria" pitchFamily="34" charset="-122"/>
                <a:cs typeface="Cambria" pitchFamily="34" charset="-120"/>
              </a:rPr>
              <a:t>Five geometry parameters per section of track</a:t>
            </a:r>
            <a:endParaRPr lang="en-US" sz="2700" dirty="0"/>
          </a:p>
        </p:txBody>
      </p:sp>
      <p:sp>
        <p:nvSpPr>
          <p:cNvPr id="4" name="Shape 2"/>
          <p:cNvSpPr/>
          <p:nvPr/>
        </p:nvSpPr>
        <p:spPr>
          <a:xfrm>
            <a:off x="457200" y="1325880"/>
            <a:ext cx="384048" cy="384048"/>
          </a:xfrm>
          <a:prstGeom prst="ellipse">
            <a:avLst/>
          </a:prstGeom>
          <a:solidFill>
            <a:srgbClr val="028090"/>
          </a:solidFill>
          <a:ln w="12700">
            <a:solidFill>
              <a:srgbClr val="028090"/>
            </a:solidFill>
            <a:prstDash val="solid"/>
          </a:ln>
        </p:spPr>
        <p:txBody>
          <a:bodyPr/>
          <a:lstStyle/>
          <a:p>
            <a:endParaRPr lang="sv-SE"/>
          </a:p>
        </p:txBody>
      </p:sp>
      <p:sp>
        <p:nvSpPr>
          <p:cNvPr id="5" name="Text 3"/>
          <p:cNvSpPr txBox="1"/>
          <p:nvPr/>
        </p:nvSpPr>
        <p:spPr>
          <a:xfrm>
            <a:off x="457200" y="132588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6" name="Text 4"/>
          <p:cNvSpPr txBox="1"/>
          <p:nvPr/>
        </p:nvSpPr>
        <p:spPr>
          <a:xfrm>
            <a:off x="1005840" y="1316736"/>
            <a:ext cx="1371600" cy="274320"/>
          </a:xfrm>
          <a:prstGeom prst="rect">
            <a:avLst/>
          </a:prstGeom>
          <a:noFill/>
          <a:ln/>
        </p:spPr>
        <p:txBody>
          <a:bodyPr wrap="square" lIns="0" tIns="0" rIns="0" bIns="0" rtlCol="0" anchor="ctr"/>
          <a:lstStyle/>
          <a:p>
            <a:pPr marL="0" indent="0">
              <a:buNone/>
            </a:pPr>
            <a:r>
              <a:rPr lang="en-US" sz="1400" b="1" dirty="0">
                <a:solidFill>
                  <a:srgbClr val="16262B"/>
                </a:solidFill>
                <a:latin typeface="Calibri" pitchFamily="34" charset="0"/>
                <a:ea typeface="Calibri" pitchFamily="34" charset="-122"/>
                <a:cs typeface="Calibri" pitchFamily="34" charset="-120"/>
              </a:rPr>
              <a:t>Gauge</a:t>
            </a:r>
            <a:endParaRPr lang="en-US" sz="1400" dirty="0"/>
          </a:p>
        </p:txBody>
      </p:sp>
      <p:sp>
        <p:nvSpPr>
          <p:cNvPr id="7" name="Text 5"/>
          <p:cNvSpPr txBox="1"/>
          <p:nvPr/>
        </p:nvSpPr>
        <p:spPr>
          <a:xfrm>
            <a:off x="2377440" y="1307592"/>
            <a:ext cx="2377440" cy="420624"/>
          </a:xfrm>
          <a:prstGeom prst="rect">
            <a:avLst/>
          </a:prstGeom>
          <a:noFill/>
          <a:ln/>
        </p:spPr>
        <p:txBody>
          <a:bodyPr wrap="square" lIns="0" tIns="0" rIns="0" bIns="0" rtlCol="0" anchor="ctr"/>
          <a:lstStyle/>
          <a:p>
            <a:pPr marL="0" indent="0">
              <a:buNone/>
            </a:pPr>
            <a:r>
              <a:rPr lang="en-US" sz="1100" dirty="0">
                <a:solidFill>
                  <a:srgbClr val="5F7178"/>
                </a:solidFill>
                <a:latin typeface="Calibri" pitchFamily="34" charset="0"/>
                <a:ea typeface="Calibri" pitchFamily="34" charset="-122"/>
                <a:cs typeface="Calibri" pitchFamily="34" charset="-120"/>
              </a:rPr>
              <a:t>how far apart the rails are</a:t>
            </a:r>
            <a:endParaRPr lang="en-US" sz="1100" dirty="0"/>
          </a:p>
        </p:txBody>
      </p:sp>
      <p:sp>
        <p:nvSpPr>
          <p:cNvPr id="8" name="Shape 6"/>
          <p:cNvSpPr/>
          <p:nvPr/>
        </p:nvSpPr>
        <p:spPr>
          <a:xfrm>
            <a:off x="457200" y="1929384"/>
            <a:ext cx="384048" cy="384048"/>
          </a:xfrm>
          <a:prstGeom prst="ellipse">
            <a:avLst/>
          </a:prstGeom>
          <a:solidFill>
            <a:srgbClr val="028090"/>
          </a:solidFill>
          <a:ln w="12700">
            <a:solidFill>
              <a:srgbClr val="028090"/>
            </a:solidFill>
            <a:prstDash val="solid"/>
          </a:ln>
        </p:spPr>
        <p:txBody>
          <a:bodyPr/>
          <a:lstStyle/>
          <a:p>
            <a:endParaRPr lang="sv-SE"/>
          </a:p>
        </p:txBody>
      </p:sp>
      <p:sp>
        <p:nvSpPr>
          <p:cNvPr id="9" name="Text 7"/>
          <p:cNvSpPr txBox="1"/>
          <p:nvPr/>
        </p:nvSpPr>
        <p:spPr>
          <a:xfrm>
            <a:off x="457200" y="1929384"/>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1005840" y="1920240"/>
            <a:ext cx="1371600" cy="274320"/>
          </a:xfrm>
          <a:prstGeom prst="rect">
            <a:avLst/>
          </a:prstGeom>
          <a:noFill/>
          <a:ln/>
        </p:spPr>
        <p:txBody>
          <a:bodyPr wrap="square" lIns="0" tIns="0" rIns="0" bIns="0" rtlCol="0" anchor="ctr"/>
          <a:lstStyle/>
          <a:p>
            <a:pPr marL="0" indent="0">
              <a:buNone/>
            </a:pPr>
            <a:r>
              <a:rPr lang="en-US" sz="1400" b="1" dirty="0">
                <a:solidFill>
                  <a:srgbClr val="16262B"/>
                </a:solidFill>
                <a:latin typeface="Calibri" pitchFamily="34" charset="0"/>
                <a:ea typeface="Calibri" pitchFamily="34" charset="-122"/>
                <a:cs typeface="Calibri" pitchFamily="34" charset="-120"/>
              </a:rPr>
              <a:t>Cross-level</a:t>
            </a:r>
            <a:endParaRPr lang="en-US" sz="1400" dirty="0"/>
          </a:p>
        </p:txBody>
      </p:sp>
      <p:sp>
        <p:nvSpPr>
          <p:cNvPr id="11" name="Text 9"/>
          <p:cNvSpPr txBox="1"/>
          <p:nvPr/>
        </p:nvSpPr>
        <p:spPr>
          <a:xfrm>
            <a:off x="2377440" y="1911096"/>
            <a:ext cx="2377440" cy="420624"/>
          </a:xfrm>
          <a:prstGeom prst="rect">
            <a:avLst/>
          </a:prstGeom>
          <a:noFill/>
          <a:ln/>
        </p:spPr>
        <p:txBody>
          <a:bodyPr wrap="square" lIns="0" tIns="0" rIns="0" bIns="0" rtlCol="0" anchor="ctr"/>
          <a:lstStyle/>
          <a:p>
            <a:pPr marL="0" indent="0">
              <a:buNone/>
            </a:pPr>
            <a:r>
              <a:rPr lang="en-US" sz="1100" dirty="0">
                <a:solidFill>
                  <a:srgbClr val="5F7178"/>
                </a:solidFill>
                <a:latin typeface="Calibri" pitchFamily="34" charset="0"/>
                <a:ea typeface="Calibri" pitchFamily="34" charset="-122"/>
                <a:cs typeface="Calibri" pitchFamily="34" charset="-120"/>
              </a:rPr>
              <a:t>how much one rail sits above the other</a:t>
            </a:r>
            <a:endParaRPr lang="en-US" sz="1100" dirty="0"/>
          </a:p>
        </p:txBody>
      </p:sp>
      <p:sp>
        <p:nvSpPr>
          <p:cNvPr id="12" name="Shape 10"/>
          <p:cNvSpPr/>
          <p:nvPr/>
        </p:nvSpPr>
        <p:spPr>
          <a:xfrm>
            <a:off x="457200" y="2532888"/>
            <a:ext cx="384048" cy="384048"/>
          </a:xfrm>
          <a:prstGeom prst="ellipse">
            <a:avLst/>
          </a:prstGeom>
          <a:solidFill>
            <a:srgbClr val="028090"/>
          </a:solidFill>
          <a:ln w="12700">
            <a:solidFill>
              <a:srgbClr val="028090"/>
            </a:solidFill>
            <a:prstDash val="solid"/>
          </a:ln>
        </p:spPr>
        <p:txBody>
          <a:bodyPr/>
          <a:lstStyle/>
          <a:p>
            <a:endParaRPr lang="sv-SE"/>
          </a:p>
        </p:txBody>
      </p:sp>
      <p:sp>
        <p:nvSpPr>
          <p:cNvPr id="13" name="Text 11"/>
          <p:cNvSpPr txBox="1"/>
          <p:nvPr/>
        </p:nvSpPr>
        <p:spPr>
          <a:xfrm>
            <a:off x="457200" y="2532888"/>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4" name="Text 12"/>
          <p:cNvSpPr txBox="1"/>
          <p:nvPr/>
        </p:nvSpPr>
        <p:spPr>
          <a:xfrm>
            <a:off x="1005840" y="2523744"/>
            <a:ext cx="1371600" cy="274320"/>
          </a:xfrm>
          <a:prstGeom prst="rect">
            <a:avLst/>
          </a:prstGeom>
          <a:noFill/>
          <a:ln/>
        </p:spPr>
        <p:txBody>
          <a:bodyPr wrap="square" lIns="0" tIns="0" rIns="0" bIns="0" rtlCol="0" anchor="ctr"/>
          <a:lstStyle/>
          <a:p>
            <a:pPr marL="0" indent="0">
              <a:buNone/>
            </a:pPr>
            <a:r>
              <a:rPr lang="en-US" sz="1400" b="1" dirty="0">
                <a:solidFill>
                  <a:srgbClr val="16262B"/>
                </a:solidFill>
                <a:latin typeface="Calibri" pitchFamily="34" charset="0"/>
                <a:ea typeface="Calibri" pitchFamily="34" charset="-122"/>
                <a:cs typeface="Calibri" pitchFamily="34" charset="-120"/>
              </a:rPr>
              <a:t>Cant</a:t>
            </a:r>
            <a:endParaRPr lang="en-US" sz="1400" dirty="0"/>
          </a:p>
        </p:txBody>
      </p:sp>
      <p:sp>
        <p:nvSpPr>
          <p:cNvPr id="15" name="Text 13"/>
          <p:cNvSpPr txBox="1"/>
          <p:nvPr/>
        </p:nvSpPr>
        <p:spPr>
          <a:xfrm>
            <a:off x="2377440" y="2514600"/>
            <a:ext cx="2377440" cy="420624"/>
          </a:xfrm>
          <a:prstGeom prst="rect">
            <a:avLst/>
          </a:prstGeom>
          <a:noFill/>
          <a:ln/>
        </p:spPr>
        <p:txBody>
          <a:bodyPr wrap="square" lIns="0" tIns="0" rIns="0" bIns="0" rtlCol="0" anchor="ctr"/>
          <a:lstStyle/>
          <a:p>
            <a:pPr marL="0" indent="0">
              <a:buNone/>
            </a:pPr>
            <a:r>
              <a:rPr lang="en-US" sz="1100" dirty="0">
                <a:solidFill>
                  <a:srgbClr val="5F7178"/>
                </a:solidFill>
                <a:latin typeface="Calibri" pitchFamily="34" charset="0"/>
                <a:ea typeface="Calibri" pitchFamily="34" charset="-122"/>
                <a:cs typeface="Calibri" pitchFamily="34" charset="-120"/>
              </a:rPr>
              <a:t>the cross-level a curve is designed to have</a:t>
            </a:r>
            <a:endParaRPr lang="en-US" sz="1100" dirty="0"/>
          </a:p>
        </p:txBody>
      </p:sp>
      <p:sp>
        <p:nvSpPr>
          <p:cNvPr id="16" name="Shape 14"/>
          <p:cNvSpPr/>
          <p:nvPr/>
        </p:nvSpPr>
        <p:spPr>
          <a:xfrm>
            <a:off x="457200" y="3136392"/>
            <a:ext cx="384048" cy="384048"/>
          </a:xfrm>
          <a:prstGeom prst="ellipse">
            <a:avLst/>
          </a:prstGeom>
          <a:solidFill>
            <a:srgbClr val="028090"/>
          </a:solidFill>
          <a:ln w="12700">
            <a:solidFill>
              <a:srgbClr val="028090"/>
            </a:solidFill>
            <a:prstDash val="solid"/>
          </a:ln>
        </p:spPr>
        <p:txBody>
          <a:bodyPr/>
          <a:lstStyle/>
          <a:p>
            <a:endParaRPr lang="sv-SE"/>
          </a:p>
        </p:txBody>
      </p:sp>
      <p:sp>
        <p:nvSpPr>
          <p:cNvPr id="17" name="Text 15"/>
          <p:cNvSpPr txBox="1"/>
          <p:nvPr/>
        </p:nvSpPr>
        <p:spPr>
          <a:xfrm>
            <a:off x="457200" y="3136392"/>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8" name="Text 16"/>
          <p:cNvSpPr txBox="1"/>
          <p:nvPr/>
        </p:nvSpPr>
        <p:spPr>
          <a:xfrm>
            <a:off x="1005840" y="3127248"/>
            <a:ext cx="1371600" cy="274320"/>
          </a:xfrm>
          <a:prstGeom prst="rect">
            <a:avLst/>
          </a:prstGeom>
          <a:noFill/>
          <a:ln/>
        </p:spPr>
        <p:txBody>
          <a:bodyPr wrap="square" lIns="0" tIns="0" rIns="0" bIns="0" rtlCol="0" anchor="ctr"/>
          <a:lstStyle/>
          <a:p>
            <a:pPr marL="0" indent="0">
              <a:buNone/>
            </a:pPr>
            <a:r>
              <a:rPr lang="en-US" sz="1400" b="1" dirty="0">
                <a:solidFill>
                  <a:srgbClr val="16262B"/>
                </a:solidFill>
                <a:latin typeface="Calibri" pitchFamily="34" charset="0"/>
                <a:ea typeface="Calibri" pitchFamily="34" charset="-122"/>
                <a:cs typeface="Calibri" pitchFamily="34" charset="-120"/>
              </a:rPr>
              <a:t>Twist</a:t>
            </a:r>
            <a:endParaRPr lang="en-US" sz="1400" dirty="0"/>
          </a:p>
        </p:txBody>
      </p:sp>
      <p:sp>
        <p:nvSpPr>
          <p:cNvPr id="19" name="Text 17"/>
          <p:cNvSpPr txBox="1"/>
          <p:nvPr/>
        </p:nvSpPr>
        <p:spPr>
          <a:xfrm>
            <a:off x="2377440" y="3118104"/>
            <a:ext cx="2377440" cy="420624"/>
          </a:xfrm>
          <a:prstGeom prst="rect">
            <a:avLst/>
          </a:prstGeom>
          <a:noFill/>
          <a:ln/>
        </p:spPr>
        <p:txBody>
          <a:bodyPr wrap="square" lIns="0" tIns="0" rIns="0" bIns="0" rtlCol="0" anchor="ctr"/>
          <a:lstStyle/>
          <a:p>
            <a:pPr marL="0" indent="0">
              <a:buNone/>
            </a:pPr>
            <a:r>
              <a:rPr lang="en-US" sz="1100" dirty="0">
                <a:solidFill>
                  <a:srgbClr val="5F7178"/>
                </a:solidFill>
                <a:latin typeface="Calibri" pitchFamily="34" charset="0"/>
                <a:ea typeface="Calibri" pitchFamily="34" charset="-122"/>
                <a:cs typeface="Calibri" pitchFamily="34" charset="-120"/>
              </a:rPr>
              <a:t>how much that tilt changes over a short distance</a:t>
            </a:r>
            <a:endParaRPr lang="en-US" sz="1100" dirty="0"/>
          </a:p>
        </p:txBody>
      </p:sp>
      <p:sp>
        <p:nvSpPr>
          <p:cNvPr id="20" name="Shape 18"/>
          <p:cNvSpPr/>
          <p:nvPr/>
        </p:nvSpPr>
        <p:spPr>
          <a:xfrm>
            <a:off x="457200" y="3739896"/>
            <a:ext cx="384048" cy="384048"/>
          </a:xfrm>
          <a:prstGeom prst="ellipse">
            <a:avLst/>
          </a:prstGeom>
          <a:solidFill>
            <a:srgbClr val="028090"/>
          </a:solidFill>
          <a:ln w="12700">
            <a:solidFill>
              <a:srgbClr val="028090"/>
            </a:solidFill>
            <a:prstDash val="solid"/>
          </a:ln>
        </p:spPr>
        <p:txBody>
          <a:bodyPr/>
          <a:lstStyle/>
          <a:p>
            <a:endParaRPr lang="sv-SE"/>
          </a:p>
        </p:txBody>
      </p:sp>
      <p:sp>
        <p:nvSpPr>
          <p:cNvPr id="21" name="Text 19"/>
          <p:cNvSpPr txBox="1"/>
          <p:nvPr/>
        </p:nvSpPr>
        <p:spPr>
          <a:xfrm>
            <a:off x="457200" y="3739896"/>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2" name="Text 20"/>
          <p:cNvSpPr txBox="1"/>
          <p:nvPr/>
        </p:nvSpPr>
        <p:spPr>
          <a:xfrm>
            <a:off x="1005840" y="3730752"/>
            <a:ext cx="1371600" cy="274320"/>
          </a:xfrm>
          <a:prstGeom prst="rect">
            <a:avLst/>
          </a:prstGeom>
          <a:noFill/>
          <a:ln/>
        </p:spPr>
        <p:txBody>
          <a:bodyPr wrap="square" lIns="0" tIns="0" rIns="0" bIns="0" rtlCol="0" anchor="ctr"/>
          <a:lstStyle/>
          <a:p>
            <a:pPr marL="0" indent="0">
              <a:buNone/>
            </a:pPr>
            <a:r>
              <a:rPr lang="en-US" sz="1400" b="1" dirty="0">
                <a:solidFill>
                  <a:srgbClr val="16262B"/>
                </a:solidFill>
                <a:latin typeface="Calibri" pitchFamily="34" charset="0"/>
                <a:ea typeface="Calibri" pitchFamily="34" charset="-122"/>
                <a:cs typeface="Calibri" pitchFamily="34" charset="-120"/>
              </a:rPr>
              <a:t>Surface</a:t>
            </a:r>
            <a:endParaRPr lang="en-US" sz="1400" dirty="0"/>
          </a:p>
        </p:txBody>
      </p:sp>
      <p:sp>
        <p:nvSpPr>
          <p:cNvPr id="23" name="Text 21"/>
          <p:cNvSpPr txBox="1"/>
          <p:nvPr/>
        </p:nvSpPr>
        <p:spPr>
          <a:xfrm>
            <a:off x="2377440" y="3721608"/>
            <a:ext cx="2377440" cy="420624"/>
          </a:xfrm>
          <a:prstGeom prst="rect">
            <a:avLst/>
          </a:prstGeom>
          <a:noFill/>
          <a:ln/>
        </p:spPr>
        <p:txBody>
          <a:bodyPr wrap="square" lIns="0" tIns="0" rIns="0" bIns="0" rtlCol="0" anchor="ctr"/>
          <a:lstStyle/>
          <a:p>
            <a:pPr marL="0" indent="0">
              <a:buNone/>
            </a:pPr>
            <a:r>
              <a:rPr lang="en-US" sz="1100" dirty="0">
                <a:solidFill>
                  <a:srgbClr val="5F7178"/>
                </a:solidFill>
                <a:latin typeface="Calibri" pitchFamily="34" charset="0"/>
                <a:ea typeface="Calibri" pitchFamily="34" charset="-122"/>
                <a:cs typeface="Calibri" pitchFamily="34" charset="-120"/>
              </a:rPr>
              <a:t>how even the top of the rail is</a:t>
            </a:r>
            <a:endParaRPr lang="en-US" sz="1100" dirty="0"/>
          </a:p>
        </p:txBody>
      </p:sp>
      <p:sp>
        <p:nvSpPr>
          <p:cNvPr id="31" name="Text 29"/>
          <p:cNvSpPr txBox="1"/>
          <p:nvPr/>
        </p:nvSpPr>
        <p:spPr>
          <a:xfrm>
            <a:off x="4932983" y="4053936"/>
            <a:ext cx="2788920" cy="256032"/>
          </a:xfrm>
          <a:prstGeom prst="rect">
            <a:avLst/>
          </a:prstGeom>
          <a:noFill/>
          <a:ln/>
        </p:spPr>
        <p:txBody>
          <a:bodyPr wrap="square" lIns="0" tIns="0" rIns="0" bIns="0" rtlCol="0" anchor="ctr"/>
          <a:lstStyle/>
          <a:p>
            <a:pPr algn="ctr"/>
            <a:r>
              <a:rPr lang="sv-SE" sz="1050" dirty="0" err="1"/>
              <a:t>Figure</a:t>
            </a:r>
            <a:r>
              <a:rPr lang="sv-SE" sz="1050" dirty="0"/>
              <a:t> 1: Track </a:t>
            </a:r>
            <a:r>
              <a:rPr lang="sv-SE" sz="1050" dirty="0" err="1"/>
              <a:t>geometry</a:t>
            </a:r>
            <a:r>
              <a:rPr lang="sv-SE" sz="1050" dirty="0"/>
              <a:t> </a:t>
            </a:r>
            <a:r>
              <a:rPr lang="sv-SE" sz="1050" dirty="0" err="1"/>
              <a:t>measurements</a:t>
            </a:r>
            <a:r>
              <a:rPr lang="sv-SE" sz="1050" dirty="0"/>
              <a:t>. </a:t>
            </a:r>
          </a:p>
          <a:p>
            <a:pPr algn="ctr"/>
            <a:r>
              <a:rPr lang="sv-SE" sz="1050" dirty="0"/>
              <a:t>From Sharma et al. (2018) </a:t>
            </a:r>
            <a:endParaRPr lang="en-US" sz="1050" dirty="0"/>
          </a:p>
        </p:txBody>
      </p:sp>
      <p:sp>
        <p:nvSpPr>
          <p:cNvPr id="32" name="Text 30"/>
          <p:cNvSpPr txBox="1"/>
          <p:nvPr/>
        </p:nvSpPr>
        <p:spPr>
          <a:xfrm>
            <a:off x="457200" y="4370832"/>
            <a:ext cx="8229600" cy="310896"/>
          </a:xfrm>
          <a:prstGeom prst="rect">
            <a:avLst/>
          </a:prstGeom>
          <a:noFill/>
          <a:ln/>
        </p:spPr>
        <p:txBody>
          <a:bodyPr wrap="square" lIns="0" tIns="0" rIns="0" bIns="0" rtlCol="0" anchor="ctr"/>
          <a:lstStyle/>
          <a:p>
            <a:pPr marL="0" indent="0" algn="ctr">
              <a:buNone/>
            </a:pPr>
            <a:r>
              <a:rPr lang="en-US" sz="1200" i="1" dirty="0">
                <a:solidFill>
                  <a:srgbClr val="5F7178"/>
                </a:solidFill>
                <a:latin typeface="Calibri" pitchFamily="34" charset="0"/>
                <a:ea typeface="Calibri" pitchFamily="34" charset="-122"/>
                <a:cs typeface="Calibri" pitchFamily="34" charset="-120"/>
              </a:rPr>
              <a:t>These are the parameters railways already use to judge track condition — Sharma et al. (2018).</a:t>
            </a:r>
            <a:endParaRPr lang="en-US" sz="1200" dirty="0"/>
          </a:p>
        </p:txBody>
      </p:sp>
      <p:pic>
        <p:nvPicPr>
          <p:cNvPr id="34" name="Picture 33">
            <a:extLst>
              <a:ext uri="{FF2B5EF4-FFF2-40B4-BE49-F238E27FC236}">
                <a16:creationId xmlns:a16="http://schemas.microsoft.com/office/drawing/2014/main" id="{B066608A-1DD8-3546-1C35-2280E245E510}"/>
              </a:ext>
            </a:extLst>
          </p:cNvPr>
          <p:cNvPicPr>
            <a:picLocks noChangeAspect="1"/>
          </p:cNvPicPr>
          <p:nvPr/>
        </p:nvPicPr>
        <p:blipFill>
          <a:blip r:embed="rId3"/>
          <a:stretch>
            <a:fillRect/>
          </a:stretch>
        </p:blipFill>
        <p:spPr>
          <a:xfrm>
            <a:off x="5084821" y="1255582"/>
            <a:ext cx="2485245" cy="2737491"/>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ctr"/>
          <a:lstStyle/>
          <a:p>
            <a:pPr marL="0" indent="0">
              <a:buNone/>
            </a:pPr>
            <a:r>
              <a:rPr lang="en-US" sz="1100" b="1" kern="0" spc="200" dirty="0">
                <a:solidFill>
                  <a:srgbClr val="028090"/>
                </a:solidFill>
                <a:latin typeface="Calibri" pitchFamily="34" charset="0"/>
                <a:ea typeface="Calibri" pitchFamily="34" charset="-122"/>
                <a:cs typeface="Calibri" pitchFamily="34" charset="-120"/>
              </a:rPr>
              <a:t>TRACK QUALITY INDEX</a:t>
            </a:r>
            <a:endParaRPr lang="en-US" sz="11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marL="0" indent="0">
              <a:buNone/>
            </a:pPr>
            <a:r>
              <a:rPr lang="en-US" sz="2700" b="1" dirty="0">
                <a:solidFill>
                  <a:srgbClr val="16262B"/>
                </a:solidFill>
                <a:latin typeface="Cambria" pitchFamily="34" charset="0"/>
                <a:ea typeface="Cambria" pitchFamily="34" charset="-122"/>
                <a:cs typeface="Cambria" pitchFamily="34" charset="-120"/>
              </a:rPr>
              <a:t>One number per section, so sections can be ranked</a:t>
            </a:r>
            <a:endParaRPr lang="en-US" sz="2700" dirty="0"/>
          </a:p>
        </p:txBody>
      </p:sp>
      <p:sp>
        <p:nvSpPr>
          <p:cNvPr id="4" name="Shape 2"/>
          <p:cNvSpPr/>
          <p:nvPr/>
        </p:nvSpPr>
        <p:spPr>
          <a:xfrm>
            <a:off x="457200" y="1115568"/>
            <a:ext cx="3931920" cy="1280160"/>
          </a:xfrm>
          <a:prstGeom prst="roundRect">
            <a:avLst>
              <a:gd name="adj" fmla="val 4286"/>
            </a:avLst>
          </a:prstGeom>
          <a:solidFill>
            <a:srgbClr val="EDF5F5"/>
          </a:solidFill>
          <a:ln w="12700">
            <a:solidFill>
              <a:srgbClr val="EDF5F5"/>
            </a:solidFill>
            <a:prstDash val="solid"/>
          </a:ln>
        </p:spPr>
        <p:txBody>
          <a:bodyPr/>
          <a:lstStyle/>
          <a:p>
            <a:endParaRPr lang="sv-SE"/>
          </a:p>
        </p:txBody>
      </p:sp>
      <p:sp>
        <p:nvSpPr>
          <p:cNvPr id="5" name="Text 3"/>
          <p:cNvSpPr txBox="1"/>
          <p:nvPr/>
        </p:nvSpPr>
        <p:spPr>
          <a:xfrm>
            <a:off x="640080" y="1188720"/>
            <a:ext cx="3703320" cy="548640"/>
          </a:xfrm>
          <a:prstGeom prst="rect">
            <a:avLst/>
          </a:prstGeom>
          <a:noFill/>
          <a:ln/>
        </p:spPr>
        <p:txBody>
          <a:bodyPr wrap="square" lIns="0" tIns="0" rIns="0" bIns="0" rtlCol="0" anchor="ctr"/>
          <a:lstStyle/>
          <a:p>
            <a:pPr marL="0" indent="0" algn="ctr">
              <a:buNone/>
            </a:pPr>
            <a:r>
              <a:rPr lang="en-US" sz="2300" b="1" i="1" dirty="0">
                <a:solidFill>
                  <a:srgbClr val="028090"/>
                </a:solidFill>
                <a:latin typeface="Cambria" pitchFamily="34" charset="0"/>
                <a:ea typeface="Cambria" pitchFamily="34" charset="-122"/>
                <a:cs typeface="Cambria" pitchFamily="34" charset="-120"/>
              </a:rPr>
              <a:t>TQI</a:t>
            </a:r>
            <a:r>
              <a:rPr lang="en-US" sz="2300" b="1" dirty="0">
                <a:solidFill>
                  <a:srgbClr val="028090"/>
                </a:solidFill>
                <a:latin typeface="Cambria" pitchFamily="34" charset="0"/>
                <a:ea typeface="Cambria" pitchFamily="34" charset="-122"/>
                <a:cs typeface="Cambria" pitchFamily="34" charset="-120"/>
              </a:rPr>
              <a:t> = ( </a:t>
            </a:r>
            <a:r>
              <a:rPr lang="en-US" sz="2300" b="1" i="1" dirty="0">
                <a:solidFill>
                  <a:srgbClr val="028090"/>
                </a:solidFill>
                <a:latin typeface="Cambria" pitchFamily="34" charset="0"/>
                <a:ea typeface="Cambria" pitchFamily="34" charset="-122"/>
                <a:cs typeface="Cambria" pitchFamily="34" charset="-120"/>
              </a:rPr>
              <a:t>L</a:t>
            </a:r>
            <a:r>
              <a:rPr lang="en-US" sz="2300" b="1" i="1" baseline="-40000" dirty="0">
                <a:solidFill>
                  <a:srgbClr val="028090"/>
                </a:solidFill>
                <a:latin typeface="Cambria" pitchFamily="34" charset="0"/>
                <a:ea typeface="Cambria" pitchFamily="34" charset="-122"/>
                <a:cs typeface="Cambria" pitchFamily="34" charset="-120"/>
              </a:rPr>
              <a:t>s</a:t>
            </a:r>
            <a:r>
              <a:rPr lang="en-US" sz="2300" b="1" dirty="0">
                <a:solidFill>
                  <a:srgbClr val="028090"/>
                </a:solidFill>
                <a:latin typeface="Cambria" pitchFamily="34" charset="0"/>
                <a:ea typeface="Cambria" pitchFamily="34" charset="-122"/>
                <a:cs typeface="Cambria" pitchFamily="34" charset="-120"/>
              </a:rPr>
              <a:t> / </a:t>
            </a:r>
            <a:r>
              <a:rPr lang="en-US" sz="2300" b="1" i="1" dirty="0">
                <a:solidFill>
                  <a:srgbClr val="028090"/>
                </a:solidFill>
                <a:latin typeface="Cambria" pitchFamily="34" charset="0"/>
                <a:ea typeface="Cambria" pitchFamily="34" charset="-122"/>
                <a:cs typeface="Cambria" pitchFamily="34" charset="-120"/>
              </a:rPr>
              <a:t>L</a:t>
            </a:r>
            <a:r>
              <a:rPr lang="en-US" sz="2300" b="1" baseline="-40000" dirty="0">
                <a:solidFill>
                  <a:srgbClr val="028090"/>
                </a:solidFill>
                <a:latin typeface="Cambria" pitchFamily="34" charset="0"/>
                <a:ea typeface="Cambria" pitchFamily="34" charset="-122"/>
                <a:cs typeface="Cambria" pitchFamily="34" charset="-120"/>
              </a:rPr>
              <a:t>0</a:t>
            </a:r>
            <a:r>
              <a:rPr lang="en-US" sz="2300" b="1" dirty="0">
                <a:solidFill>
                  <a:srgbClr val="028090"/>
                </a:solidFill>
                <a:latin typeface="Cambria" pitchFamily="34" charset="0"/>
                <a:ea typeface="Cambria" pitchFamily="34" charset="-122"/>
                <a:cs typeface="Cambria" pitchFamily="34" charset="-120"/>
              </a:rPr>
              <a:t> − 1 ) × 10</a:t>
            </a:r>
            <a:r>
              <a:rPr lang="en-US" sz="2300" b="1" baseline="30000" dirty="0">
                <a:solidFill>
                  <a:srgbClr val="028090"/>
                </a:solidFill>
                <a:latin typeface="Cambria" pitchFamily="34" charset="0"/>
                <a:ea typeface="Cambria" pitchFamily="34" charset="-122"/>
                <a:cs typeface="Cambria" pitchFamily="34" charset="-120"/>
              </a:rPr>
              <a:t>6</a:t>
            </a:r>
            <a:endParaRPr lang="en-US" sz="2300" dirty="0"/>
          </a:p>
        </p:txBody>
      </p:sp>
      <p:sp>
        <p:nvSpPr>
          <p:cNvPr id="6" name="Shape 4"/>
          <p:cNvSpPr/>
          <p:nvPr/>
        </p:nvSpPr>
        <p:spPr>
          <a:xfrm>
            <a:off x="960120" y="1783080"/>
            <a:ext cx="3063240" cy="0"/>
          </a:xfrm>
          <a:prstGeom prst="line">
            <a:avLst/>
          </a:prstGeom>
          <a:noFill/>
          <a:ln w="12700">
            <a:solidFill>
              <a:srgbClr val="CBDBDD"/>
            </a:solidFill>
            <a:prstDash val="solid"/>
          </a:ln>
        </p:spPr>
        <p:txBody>
          <a:bodyPr/>
          <a:lstStyle/>
          <a:p>
            <a:endParaRPr lang="sv-SE"/>
          </a:p>
        </p:txBody>
      </p:sp>
      <p:sp>
        <p:nvSpPr>
          <p:cNvPr id="7" name="Text 5"/>
          <p:cNvSpPr txBox="1"/>
          <p:nvPr/>
        </p:nvSpPr>
        <p:spPr>
          <a:xfrm>
            <a:off x="731520" y="1901952"/>
            <a:ext cx="3657600" cy="411480"/>
          </a:xfrm>
          <a:prstGeom prst="rect">
            <a:avLst/>
          </a:prstGeom>
          <a:noFill/>
          <a:ln/>
        </p:spPr>
        <p:txBody>
          <a:bodyPr wrap="square" lIns="0" tIns="0" rIns="0" bIns="0" rtlCol="0" anchor="ctr"/>
          <a:lstStyle/>
          <a:p>
            <a:pPr marL="0" indent="0">
              <a:buNone/>
            </a:pPr>
            <a:r>
              <a:rPr lang="en-US" sz="1150" i="1" dirty="0">
                <a:solidFill>
                  <a:srgbClr val="16262B"/>
                </a:solidFill>
                <a:latin typeface="Calibri" pitchFamily="34" charset="0"/>
                <a:ea typeface="Calibri" pitchFamily="34" charset="-122"/>
                <a:cs typeface="Calibri" pitchFamily="34" charset="-120"/>
              </a:rPr>
              <a:t>L</a:t>
            </a:r>
            <a:r>
              <a:rPr lang="en-US" sz="1150" baseline="-40000" dirty="0">
                <a:solidFill>
                  <a:srgbClr val="16262B"/>
                </a:solidFill>
                <a:latin typeface="Calibri" pitchFamily="34" charset="0"/>
                <a:ea typeface="Calibri" pitchFamily="34" charset="-122"/>
                <a:cs typeface="Calibri" pitchFamily="34" charset="-120"/>
              </a:rPr>
              <a:t>0</a:t>
            </a:r>
            <a:r>
              <a:rPr lang="en-US" sz="1150" dirty="0">
                <a:solidFill>
                  <a:srgbClr val="16262B"/>
                </a:solidFill>
                <a:latin typeface="Calibri" pitchFamily="34" charset="0"/>
                <a:ea typeface="Calibri" pitchFamily="34" charset="-122"/>
                <a:cs typeface="Calibri" pitchFamily="34" charset="-120"/>
              </a:rPr>
              <a:t>   the length of the section        </a:t>
            </a:r>
            <a:r>
              <a:rPr lang="en-US" sz="1150" i="1" dirty="0">
                <a:solidFill>
                  <a:srgbClr val="16262B"/>
                </a:solidFill>
                <a:latin typeface="Calibri" pitchFamily="34" charset="0"/>
                <a:ea typeface="Calibri" pitchFamily="34" charset="-122"/>
                <a:cs typeface="Calibri" pitchFamily="34" charset="-120"/>
              </a:rPr>
              <a:t>L</a:t>
            </a:r>
            <a:r>
              <a:rPr lang="en-US" sz="1150" i="1" baseline="-40000" dirty="0">
                <a:solidFill>
                  <a:srgbClr val="16262B"/>
                </a:solidFill>
                <a:latin typeface="Calibri" pitchFamily="34" charset="0"/>
                <a:ea typeface="Calibri" pitchFamily="34" charset="-122"/>
                <a:cs typeface="Calibri" pitchFamily="34" charset="-120"/>
              </a:rPr>
              <a:t>s</a:t>
            </a:r>
            <a:r>
              <a:rPr lang="en-US" sz="1150" dirty="0">
                <a:solidFill>
                  <a:srgbClr val="16262B"/>
                </a:solidFill>
                <a:latin typeface="Calibri" pitchFamily="34" charset="0"/>
                <a:ea typeface="Calibri" pitchFamily="34" charset="-122"/>
                <a:cs typeface="Calibri" pitchFamily="34" charset="-120"/>
              </a:rPr>
              <a:t>   the length of the trace</a:t>
            </a:r>
            <a:endParaRPr lang="en-US" sz="1150" dirty="0"/>
          </a:p>
        </p:txBody>
      </p:sp>
      <p:sp>
        <p:nvSpPr>
          <p:cNvPr id="8" name="Shape 6"/>
          <p:cNvSpPr/>
          <p:nvPr/>
        </p:nvSpPr>
        <p:spPr>
          <a:xfrm>
            <a:off x="4754880" y="1115568"/>
            <a:ext cx="3931920" cy="1280160"/>
          </a:xfrm>
          <a:prstGeom prst="roundRect">
            <a:avLst>
              <a:gd name="adj" fmla="val 4286"/>
            </a:avLst>
          </a:prstGeom>
          <a:solidFill>
            <a:srgbClr val="EDF5F5"/>
          </a:solidFill>
          <a:ln w="12700">
            <a:solidFill>
              <a:srgbClr val="EDF5F5"/>
            </a:solidFill>
            <a:prstDash val="solid"/>
          </a:ln>
        </p:spPr>
        <p:txBody>
          <a:bodyPr/>
          <a:lstStyle/>
          <a:p>
            <a:endParaRPr lang="sv-SE"/>
          </a:p>
        </p:txBody>
      </p:sp>
      <p:sp>
        <p:nvSpPr>
          <p:cNvPr id="9" name="Text 7"/>
          <p:cNvSpPr txBox="1"/>
          <p:nvPr/>
        </p:nvSpPr>
        <p:spPr>
          <a:xfrm>
            <a:off x="4983480" y="1225296"/>
            <a:ext cx="3520440" cy="685800"/>
          </a:xfrm>
          <a:prstGeom prst="rect">
            <a:avLst/>
          </a:prstGeom>
          <a:noFill/>
          <a:ln/>
        </p:spPr>
        <p:txBody>
          <a:bodyPr wrap="square" lIns="0" tIns="0" rIns="0" bIns="0" rtlCol="0" anchor="ctr"/>
          <a:lstStyle/>
          <a:p>
            <a:pPr marL="0" indent="0">
              <a:lnSpc>
                <a:spcPts val="1700"/>
              </a:lnSpc>
              <a:buNone/>
            </a:pPr>
            <a:r>
              <a:rPr lang="en-US" sz="1200" dirty="0">
                <a:solidFill>
                  <a:srgbClr val="16262B"/>
                </a:solidFill>
                <a:latin typeface="Calibri" pitchFamily="34" charset="0"/>
                <a:ea typeface="Calibri" pitchFamily="34" charset="-122"/>
                <a:cs typeface="Calibri" pitchFamily="34" charset="-120"/>
              </a:rPr>
              <a:t>Perfect track → the trace is straight, and TQI = 0.</a:t>
            </a:r>
            <a:endParaRPr lang="en-US" sz="1200" dirty="0"/>
          </a:p>
          <a:p>
            <a:pPr marL="0" indent="0">
              <a:lnSpc>
                <a:spcPts val="1700"/>
              </a:lnSpc>
              <a:buNone/>
            </a:pPr>
            <a:r>
              <a:rPr lang="en-US" sz="1200" dirty="0">
                <a:solidFill>
                  <a:srgbClr val="16262B"/>
                </a:solidFill>
                <a:latin typeface="Calibri" pitchFamily="34" charset="0"/>
                <a:ea typeface="Calibri" pitchFamily="34" charset="-122"/>
                <a:cs typeface="Calibri" pitchFamily="34" charset="-120"/>
              </a:rPr>
              <a:t>Every wobble makes it longer, and TQI is that extra length.</a:t>
            </a:r>
            <a:endParaRPr lang="en-US" sz="1200" dirty="0"/>
          </a:p>
        </p:txBody>
      </p:sp>
      <p:sp>
        <p:nvSpPr>
          <p:cNvPr id="10" name="Text 8"/>
          <p:cNvSpPr txBox="1"/>
          <p:nvPr/>
        </p:nvSpPr>
        <p:spPr>
          <a:xfrm>
            <a:off x="4983480" y="1920240"/>
            <a:ext cx="3520440" cy="411480"/>
          </a:xfrm>
          <a:prstGeom prst="rect">
            <a:avLst/>
          </a:prstGeom>
          <a:noFill/>
          <a:ln/>
        </p:spPr>
        <p:txBody>
          <a:bodyPr wrap="square" lIns="0" tIns="0" rIns="0" bIns="0" rtlCol="0" anchor="ctr"/>
          <a:lstStyle/>
          <a:p>
            <a:pPr marL="0" indent="0">
              <a:buNone/>
            </a:pPr>
            <a:r>
              <a:rPr lang="en-US" sz="1050" i="1" dirty="0">
                <a:solidFill>
                  <a:srgbClr val="5F7178"/>
                </a:solidFill>
                <a:latin typeface="Calibri" pitchFamily="34" charset="0"/>
                <a:ea typeface="Calibri" pitchFamily="34" charset="-122"/>
                <a:cs typeface="Calibri" pitchFamily="34" charset="-120"/>
              </a:rPr>
              <a:t>Applied to each parameter separately, then normalised and averaged — Sharma et al. (2018).</a:t>
            </a:r>
            <a:endParaRPr lang="en-US" sz="10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2606040"/>
          <a:ext cx="8229600" cy="1243584"/>
        </p:xfrm>
        <a:graphic>
          <a:graphicData uri="http://schemas.openxmlformats.org/drawingml/2006/table">
            <a:tbl>
              <a:tblPr/>
              <a:tblGrid>
                <a:gridCol w="164592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1097280">
                  <a:extLst>
                    <a:ext uri="{9D8B030D-6E8A-4147-A177-3AD203B41FA5}">
                      <a16:colId xmlns:a16="http://schemas.microsoft.com/office/drawing/2014/main" val="20004"/>
                    </a:ext>
                  </a:extLst>
                </a:gridCol>
                <a:gridCol w="1097280">
                  <a:extLst>
                    <a:ext uri="{9D8B030D-6E8A-4147-A177-3AD203B41FA5}">
                      <a16:colId xmlns:a16="http://schemas.microsoft.com/office/drawing/2014/main" val="20005"/>
                    </a:ext>
                  </a:extLst>
                </a:gridCol>
                <a:gridCol w="1097280">
                  <a:extLst>
                    <a:ext uri="{9D8B030D-6E8A-4147-A177-3AD203B41FA5}">
                      <a16:colId xmlns:a16="http://schemas.microsoft.com/office/drawing/2014/main" val="20006"/>
                    </a:ext>
                  </a:extLst>
                </a:gridCol>
              </a:tblGrid>
              <a:tr h="310896">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section</a:t>
                      </a:r>
                      <a:endParaRPr lang="en-US" sz="1050" dirty="0">
                        <a:latin typeface="Calibri" charset="0"/>
                        <a:ea typeface="Calibri" charset="0"/>
                        <a:cs typeface="Calibri" charset="0"/>
                      </a:endParaRPr>
                    </a:p>
                  </a:txBody>
                  <a:tcPr anchor="ctr">
                    <a:lnL w="9525" cap="flat" cmpd="sng" algn="ctr">
                      <a:solidFill>
                        <a:srgbClr val="DDE7E8"/>
                      </a:solidFill>
                      <a:prstDash val="solid"/>
                      <a:round/>
                      <a:headEnd type="none" w="med" len="med"/>
                      <a:tailEnd type="none" w="med" len="med"/>
                    </a:lnL>
                    <a:lnR w="9525" cap="flat" cmpd="sng" algn="ctr">
                      <a:solidFill>
                        <a:srgbClr val="DDE7E8"/>
                      </a:solidFill>
                      <a:prstDash val="solid"/>
                      <a:round/>
                      <a:headEnd type="none" w="med" len="med"/>
                      <a:tailEnd type="none" w="med" len="med"/>
                    </a:lnR>
                    <a:lnT w="9525" cap="flat" cmpd="sng" algn="ctr">
                      <a:solidFill>
                        <a:srgbClr val="DDE7E8"/>
                      </a:solidFill>
                      <a:prstDash val="solid"/>
                      <a:round/>
                      <a:headEnd type="none" w="med" len="med"/>
                      <a:tailEnd type="none" w="med" len="med"/>
                    </a:lnT>
                    <a:lnB w="9525" cap="flat" cmpd="sng" algn="ctr">
                      <a:solidFill>
                        <a:srgbClr val="DDE7E8"/>
                      </a:solidFill>
                      <a:prstDash val="solid"/>
                      <a:round/>
                      <a:headEnd type="none" w="med" len="med"/>
                      <a:tailEnd type="none" w="med" len="med"/>
                    </a:lnB>
                    <a:solidFill>
                      <a:srgbClr val="028090"/>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gauge</a:t>
                      </a:r>
                      <a:endParaRPr lang="en-US" sz="1050" dirty="0">
                        <a:latin typeface="Calibri" charset="0"/>
                        <a:ea typeface="Calibri" charset="0"/>
                        <a:cs typeface="Calibri" charset="0"/>
                      </a:endParaRPr>
                    </a:p>
                  </a:txBody>
                  <a:tcPr anchor="ctr">
                    <a:lnL w="9525" cap="flat" cmpd="sng" algn="ctr">
                      <a:solidFill>
                        <a:srgbClr val="DDE7E8"/>
                      </a:solidFill>
                      <a:prstDash val="solid"/>
                      <a:round/>
                      <a:headEnd type="none" w="med" len="med"/>
                      <a:tailEnd type="none" w="med" len="med"/>
                    </a:lnL>
                    <a:lnR w="9525" cap="flat" cmpd="sng" algn="ctr">
                      <a:solidFill>
                        <a:srgbClr val="DDE7E8"/>
                      </a:solidFill>
                      <a:prstDash val="solid"/>
                      <a:round/>
                      <a:headEnd type="none" w="med" len="med"/>
                      <a:tailEnd type="none" w="med" len="med"/>
                    </a:lnR>
                    <a:lnT w="9525" cap="flat" cmpd="sng" algn="ctr">
                      <a:solidFill>
                        <a:srgbClr val="DDE7E8"/>
                      </a:solidFill>
                      <a:prstDash val="solid"/>
                      <a:round/>
                      <a:headEnd type="none" w="med" len="med"/>
                      <a:tailEnd type="none" w="med" len="med"/>
                    </a:lnT>
                    <a:lnB w="9525" cap="flat" cmpd="sng" algn="ctr">
                      <a:solidFill>
                        <a:srgbClr val="DDE7E8"/>
                      </a:solidFill>
                      <a:prstDash val="solid"/>
                      <a:round/>
                      <a:headEnd type="none" w="med" len="med"/>
                      <a:tailEnd type="none" w="med" len="med"/>
                    </a:lnB>
                    <a:solidFill>
                      <a:srgbClr val="028090"/>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cross-level</a:t>
                      </a:r>
                      <a:endParaRPr lang="en-US" sz="1050" dirty="0">
                        <a:latin typeface="Calibri" charset="0"/>
                        <a:ea typeface="Calibri" charset="0"/>
                        <a:cs typeface="Calibri" charset="0"/>
                      </a:endParaRPr>
                    </a:p>
                  </a:txBody>
                  <a:tcPr anchor="ctr">
                    <a:lnL w="9525" cap="flat" cmpd="sng" algn="ctr">
                      <a:solidFill>
                        <a:srgbClr val="DDE7E8"/>
                      </a:solidFill>
                      <a:prstDash val="solid"/>
                      <a:round/>
                      <a:headEnd type="none" w="med" len="med"/>
                      <a:tailEnd type="none" w="med" len="med"/>
                    </a:lnL>
                    <a:lnR w="9525" cap="flat" cmpd="sng" algn="ctr">
                      <a:solidFill>
                        <a:srgbClr val="DDE7E8"/>
                      </a:solidFill>
                      <a:prstDash val="solid"/>
                      <a:round/>
                      <a:headEnd type="none" w="med" len="med"/>
                      <a:tailEnd type="none" w="med" len="med"/>
                    </a:lnR>
                    <a:lnT w="9525" cap="flat" cmpd="sng" algn="ctr">
                      <a:solidFill>
                        <a:srgbClr val="DDE7E8"/>
                      </a:solidFill>
                      <a:prstDash val="solid"/>
                      <a:round/>
                      <a:headEnd type="none" w="med" len="med"/>
                      <a:tailEnd type="none" w="med" len="med"/>
                    </a:lnT>
                    <a:lnB w="9525" cap="flat" cmpd="sng" algn="ctr">
                      <a:solidFill>
                        <a:srgbClr val="DDE7E8"/>
                      </a:solidFill>
                      <a:prstDash val="solid"/>
                      <a:round/>
                      <a:headEnd type="none" w="med" len="med"/>
                      <a:tailEnd type="none" w="med" len="med"/>
                    </a:lnB>
                    <a:solidFill>
                      <a:srgbClr val="028090"/>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cant</a:t>
                      </a:r>
                      <a:endParaRPr lang="en-US" sz="1050" dirty="0">
                        <a:latin typeface="Calibri" charset="0"/>
                        <a:ea typeface="Calibri" charset="0"/>
                        <a:cs typeface="Calibri" charset="0"/>
                      </a:endParaRPr>
                    </a:p>
                  </a:txBody>
                  <a:tcPr anchor="ctr">
                    <a:lnL w="9525" cap="flat" cmpd="sng" algn="ctr">
                      <a:solidFill>
                        <a:srgbClr val="DDE7E8"/>
                      </a:solidFill>
                      <a:prstDash val="solid"/>
                      <a:round/>
                      <a:headEnd type="none" w="med" len="med"/>
                      <a:tailEnd type="none" w="med" len="med"/>
                    </a:lnL>
                    <a:lnR w="9525" cap="flat" cmpd="sng" algn="ctr">
                      <a:solidFill>
                        <a:srgbClr val="DDE7E8"/>
                      </a:solidFill>
                      <a:prstDash val="solid"/>
                      <a:round/>
                      <a:headEnd type="none" w="med" len="med"/>
                      <a:tailEnd type="none" w="med" len="med"/>
                    </a:lnR>
                    <a:lnT w="9525" cap="flat" cmpd="sng" algn="ctr">
                      <a:solidFill>
                        <a:srgbClr val="DDE7E8"/>
                      </a:solidFill>
                      <a:prstDash val="solid"/>
                      <a:round/>
                      <a:headEnd type="none" w="med" len="med"/>
                      <a:tailEnd type="none" w="med" len="med"/>
                    </a:lnT>
                    <a:lnB w="9525" cap="flat" cmpd="sng" algn="ctr">
                      <a:solidFill>
                        <a:srgbClr val="DDE7E8"/>
                      </a:solidFill>
                      <a:prstDash val="solid"/>
                      <a:round/>
                      <a:headEnd type="none" w="med" len="med"/>
                      <a:tailEnd type="none" w="med" len="med"/>
                    </a:lnB>
                    <a:solidFill>
                      <a:srgbClr val="028090"/>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twist</a:t>
                      </a:r>
                      <a:endParaRPr lang="en-US" sz="1050" dirty="0">
                        <a:latin typeface="Calibri" charset="0"/>
                        <a:ea typeface="Calibri" charset="0"/>
                        <a:cs typeface="Calibri" charset="0"/>
                      </a:endParaRPr>
                    </a:p>
                  </a:txBody>
                  <a:tcPr anchor="ctr">
                    <a:lnL w="9525" cap="flat" cmpd="sng" algn="ctr">
                      <a:solidFill>
                        <a:srgbClr val="DDE7E8"/>
                      </a:solidFill>
                      <a:prstDash val="solid"/>
                      <a:round/>
                      <a:headEnd type="none" w="med" len="med"/>
                      <a:tailEnd type="none" w="med" len="med"/>
                    </a:lnL>
                    <a:lnR w="9525" cap="flat" cmpd="sng" algn="ctr">
                      <a:solidFill>
                        <a:srgbClr val="DDE7E8"/>
                      </a:solidFill>
                      <a:prstDash val="solid"/>
                      <a:round/>
                      <a:headEnd type="none" w="med" len="med"/>
                      <a:tailEnd type="none" w="med" len="med"/>
                    </a:lnR>
                    <a:lnT w="9525" cap="flat" cmpd="sng" algn="ctr">
                      <a:solidFill>
                        <a:srgbClr val="DDE7E8"/>
                      </a:solidFill>
                      <a:prstDash val="solid"/>
                      <a:round/>
                      <a:headEnd type="none" w="med" len="med"/>
                      <a:tailEnd type="none" w="med" len="med"/>
                    </a:lnT>
                    <a:lnB w="9525" cap="flat" cmpd="sng" algn="ctr">
                      <a:solidFill>
                        <a:srgbClr val="DDE7E8"/>
                      </a:solidFill>
                      <a:prstDash val="solid"/>
                      <a:round/>
                      <a:headEnd type="none" w="med" len="med"/>
                      <a:tailEnd type="none" w="med" len="med"/>
                    </a:lnB>
                    <a:solidFill>
                      <a:srgbClr val="028090"/>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surface</a:t>
                      </a:r>
                      <a:endParaRPr lang="en-US" sz="1050" dirty="0">
                        <a:latin typeface="Calibri" charset="0"/>
                        <a:ea typeface="Calibri" charset="0"/>
                        <a:cs typeface="Calibri" charset="0"/>
                      </a:endParaRPr>
                    </a:p>
                  </a:txBody>
                  <a:tcPr anchor="ctr">
                    <a:lnL w="9525" cap="flat" cmpd="sng" algn="ctr">
                      <a:solidFill>
                        <a:srgbClr val="DDE7E8"/>
                      </a:solidFill>
                      <a:prstDash val="solid"/>
                      <a:round/>
                      <a:headEnd type="none" w="med" len="med"/>
                      <a:tailEnd type="none" w="med" len="med"/>
                    </a:lnL>
                    <a:lnR w="9525" cap="flat" cmpd="sng" algn="ctr">
                      <a:solidFill>
                        <a:srgbClr val="DDE7E8"/>
                      </a:solidFill>
                      <a:prstDash val="solid"/>
                      <a:round/>
                      <a:headEnd type="none" w="med" len="med"/>
                      <a:tailEnd type="none" w="med" len="med"/>
                    </a:lnR>
                    <a:lnT w="9525" cap="flat" cmpd="sng" algn="ctr">
                      <a:solidFill>
                        <a:srgbClr val="DDE7E8"/>
                      </a:solidFill>
                      <a:prstDash val="solid"/>
                      <a:round/>
                      <a:headEnd type="none" w="med" len="med"/>
                      <a:tailEnd type="none" w="med" len="med"/>
                    </a:lnT>
                    <a:lnB w="9525" cap="flat" cmpd="sng" algn="ctr">
                      <a:solidFill>
                        <a:srgbClr val="DDE7E8"/>
                      </a:solidFill>
                      <a:prstDash val="solid"/>
                      <a:round/>
                      <a:headEnd type="none" w="med" len="med"/>
                      <a:tailEnd type="none" w="med" len="med"/>
                    </a:lnB>
                    <a:solidFill>
                      <a:srgbClr val="028090"/>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TQI</a:t>
                      </a:r>
                      <a:endParaRPr lang="en-US" sz="1050" dirty="0">
                        <a:latin typeface="Calibri" charset="0"/>
                        <a:ea typeface="Calibri" charset="0"/>
                        <a:cs typeface="Calibri" charset="0"/>
                      </a:endParaRPr>
                    </a:p>
                  </a:txBody>
                  <a:tcPr anchor="ctr">
                    <a:lnL w="9525" cap="flat" cmpd="sng" algn="ctr">
                      <a:solidFill>
                        <a:srgbClr val="DDE7E8"/>
                      </a:solidFill>
                      <a:prstDash val="solid"/>
                      <a:round/>
                      <a:headEnd type="none" w="med" len="med"/>
                      <a:tailEnd type="none" w="med" len="med"/>
                    </a:lnL>
                    <a:lnR w="9525" cap="flat" cmpd="sng" algn="ctr">
                      <a:solidFill>
                        <a:srgbClr val="DDE7E8"/>
                      </a:solidFill>
                      <a:prstDash val="solid"/>
                      <a:round/>
                      <a:headEnd type="none" w="med" len="med"/>
                      <a:tailEnd type="none" w="med" len="med"/>
                    </a:lnR>
                    <a:lnT w="9525" cap="flat" cmpd="sng" algn="ctr">
                      <a:solidFill>
                        <a:srgbClr val="DDE7E8"/>
                      </a:solidFill>
                      <a:prstDash val="solid"/>
                      <a:round/>
                      <a:headEnd type="none" w="med" len="med"/>
                      <a:tailEnd type="none" w="med" len="med"/>
                    </a:lnT>
                    <a:lnB w="9525" cap="flat" cmpd="sng" algn="ctr">
                      <a:solidFill>
                        <a:srgbClr val="DDE7E8"/>
                      </a:solidFill>
                      <a:prstDash val="solid"/>
                      <a:round/>
                      <a:headEnd type="none" w="med" len="med"/>
                      <a:tailEnd type="none" w="med" len="med"/>
                    </a:lnB>
                    <a:solidFill>
                      <a:srgbClr val="028090"/>
                    </a:solidFill>
                  </a:tcPr>
                </a:tc>
                <a:extLst>
                  <a:ext uri="{0D108BD9-81ED-4DB2-BD59-A6C34878D82A}">
                    <a16:rowId xmlns:a16="http://schemas.microsoft.com/office/drawing/2014/main" val="10000"/>
                  </a:ext>
                </a:extLst>
              </a:tr>
              <a:tr h="310896">
                <a:tc>
                  <a:txBody>
                    <a:bodyPr/>
                    <a:lstStyle/>
                    <a:p>
                      <a:pPr marL="0" indent="0" algn="l">
                        <a:buNone/>
                      </a:pPr>
                      <a:r>
                        <a:rPr lang="en-US" sz="1100" dirty="0">
                          <a:solidFill>
                            <a:srgbClr val="16262B"/>
                          </a:solidFill>
                          <a:latin typeface="Calibri" pitchFamily="34" charset="0"/>
                          <a:ea typeface="Calibri" pitchFamily="34" charset="-122"/>
                          <a:cs typeface="Calibri" pitchFamily="34" charset="-120"/>
                        </a:rPr>
                        <a:t>42.000 – 42.025</a:t>
                      </a:r>
                      <a:endParaRPr lang="en-US" sz="1100" dirty="0">
                        <a:latin typeface="Calibri" charset="0"/>
                        <a:ea typeface="Calibri" charset="0"/>
                        <a:cs typeface="Calibri" charset="0"/>
                      </a:endParaRPr>
                    </a:p>
                  </a:txBody>
                  <a:tcPr anchor="ctr">
                    <a:lnL w="9525" cap="flat" cmpd="sng" algn="ctr">
                      <a:solidFill>
                        <a:srgbClr val="DDE7E8"/>
                      </a:solidFill>
                      <a:prstDash val="solid"/>
                      <a:round/>
                      <a:headEnd type="none" w="med" len="med"/>
                      <a:tailEnd type="none" w="med" len="med"/>
                    </a:lnL>
                    <a:lnR w="9525" cap="flat" cmpd="sng" algn="ctr">
                      <a:solidFill>
                        <a:srgbClr val="DDE7E8"/>
                      </a:solidFill>
                      <a:prstDash val="solid"/>
                      <a:round/>
                      <a:headEnd type="none" w="med" len="med"/>
                      <a:tailEnd type="none" w="med" len="med"/>
                    </a:lnR>
                    <a:lnT w="9525" cap="flat" cmpd="sng" algn="ctr">
                      <a:solidFill>
                        <a:srgbClr val="DDE7E8"/>
                      </a:solidFill>
                      <a:prstDash val="solid"/>
                      <a:round/>
                      <a:headEnd type="none" w="med" len="med"/>
                      <a:tailEnd type="none" w="med" len="med"/>
                    </a:lnT>
                    <a:lnB w="9525" cap="flat" cmpd="sng" algn="ctr">
                      <a:solidFill>
                        <a:srgbClr val="DDE7E8"/>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6262B"/>
                          </a:solidFill>
                          <a:latin typeface="Calibri" pitchFamily="34" charset="0"/>
                          <a:ea typeface="Calibri" pitchFamily="34" charset="-122"/>
                          <a:cs typeface="Calibri" pitchFamily="34" charset="-120"/>
                        </a:rPr>
                        <a:t>1.2</a:t>
                      </a:r>
                      <a:endParaRPr lang="en-US" sz="1100" dirty="0">
                        <a:latin typeface="Calibri" charset="0"/>
                        <a:ea typeface="Calibri" charset="0"/>
                        <a:cs typeface="Calibri" charset="0"/>
                      </a:endParaRPr>
                    </a:p>
                  </a:txBody>
                  <a:tcPr anchor="ctr">
                    <a:lnL w="9525" cap="flat" cmpd="sng" algn="ctr">
                      <a:solidFill>
                        <a:srgbClr val="DDE7E8"/>
                      </a:solidFill>
                      <a:prstDash val="solid"/>
                      <a:round/>
                      <a:headEnd type="none" w="med" len="med"/>
                      <a:tailEnd type="none" w="med" len="med"/>
                    </a:lnL>
                    <a:lnR w="9525" cap="flat" cmpd="sng" algn="ctr">
                      <a:solidFill>
                        <a:srgbClr val="DDE7E8"/>
                      </a:solidFill>
                      <a:prstDash val="solid"/>
                      <a:round/>
                      <a:headEnd type="none" w="med" len="med"/>
                      <a:tailEnd type="none" w="med" len="med"/>
                    </a:lnR>
                    <a:lnT w="9525" cap="flat" cmpd="sng" algn="ctr">
                      <a:solidFill>
                        <a:srgbClr val="DDE7E8"/>
                      </a:solidFill>
                      <a:prstDash val="solid"/>
                      <a:round/>
                      <a:headEnd type="none" w="med" len="med"/>
                      <a:tailEnd type="none" w="med" len="med"/>
                    </a:lnT>
                    <a:lnB w="9525" cap="flat" cmpd="sng" algn="ctr">
                      <a:solidFill>
                        <a:srgbClr val="DDE7E8"/>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6262B"/>
                          </a:solidFill>
                          <a:latin typeface="Calibri" pitchFamily="34" charset="0"/>
                          <a:ea typeface="Calibri" pitchFamily="34" charset="-122"/>
                          <a:cs typeface="Calibri" pitchFamily="34" charset="-120"/>
                        </a:rPr>
                        <a:t>0.9</a:t>
                      </a:r>
                      <a:endParaRPr lang="en-US" sz="1100" dirty="0">
                        <a:latin typeface="Calibri" charset="0"/>
                        <a:ea typeface="Calibri" charset="0"/>
                        <a:cs typeface="Calibri" charset="0"/>
                      </a:endParaRPr>
                    </a:p>
                  </a:txBody>
                  <a:tcPr anchor="ctr">
                    <a:lnL w="9525" cap="flat" cmpd="sng" algn="ctr">
                      <a:solidFill>
                        <a:srgbClr val="DDE7E8"/>
                      </a:solidFill>
                      <a:prstDash val="solid"/>
                      <a:round/>
                      <a:headEnd type="none" w="med" len="med"/>
                      <a:tailEnd type="none" w="med" len="med"/>
                    </a:lnL>
                    <a:lnR w="9525" cap="flat" cmpd="sng" algn="ctr">
                      <a:solidFill>
                        <a:srgbClr val="DDE7E8"/>
                      </a:solidFill>
                      <a:prstDash val="solid"/>
                      <a:round/>
                      <a:headEnd type="none" w="med" len="med"/>
                      <a:tailEnd type="none" w="med" len="med"/>
                    </a:lnR>
                    <a:lnT w="9525" cap="flat" cmpd="sng" algn="ctr">
                      <a:solidFill>
                        <a:srgbClr val="DDE7E8"/>
                      </a:solidFill>
                      <a:prstDash val="solid"/>
                      <a:round/>
                      <a:headEnd type="none" w="med" len="med"/>
                      <a:tailEnd type="none" w="med" len="med"/>
                    </a:lnT>
                    <a:lnB w="9525" cap="flat" cmpd="sng" algn="ctr">
                      <a:solidFill>
                        <a:srgbClr val="DDE7E8"/>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6262B"/>
                          </a:solidFill>
                          <a:latin typeface="Calibri" pitchFamily="34" charset="0"/>
                          <a:ea typeface="Calibri" pitchFamily="34" charset="-122"/>
                          <a:cs typeface="Calibri" pitchFamily="34" charset="-120"/>
                        </a:rPr>
                        <a:t>1.0</a:t>
                      </a:r>
                      <a:endParaRPr lang="en-US" sz="1100" dirty="0">
                        <a:latin typeface="Calibri" charset="0"/>
                        <a:ea typeface="Calibri" charset="0"/>
                        <a:cs typeface="Calibri" charset="0"/>
                      </a:endParaRPr>
                    </a:p>
                  </a:txBody>
                  <a:tcPr anchor="ctr">
                    <a:lnL w="9525" cap="flat" cmpd="sng" algn="ctr">
                      <a:solidFill>
                        <a:srgbClr val="DDE7E8"/>
                      </a:solidFill>
                      <a:prstDash val="solid"/>
                      <a:round/>
                      <a:headEnd type="none" w="med" len="med"/>
                      <a:tailEnd type="none" w="med" len="med"/>
                    </a:lnL>
                    <a:lnR w="9525" cap="flat" cmpd="sng" algn="ctr">
                      <a:solidFill>
                        <a:srgbClr val="DDE7E8"/>
                      </a:solidFill>
                      <a:prstDash val="solid"/>
                      <a:round/>
                      <a:headEnd type="none" w="med" len="med"/>
                      <a:tailEnd type="none" w="med" len="med"/>
                    </a:lnR>
                    <a:lnT w="9525" cap="flat" cmpd="sng" algn="ctr">
                      <a:solidFill>
                        <a:srgbClr val="DDE7E8"/>
                      </a:solidFill>
                      <a:prstDash val="solid"/>
                      <a:round/>
                      <a:headEnd type="none" w="med" len="med"/>
                      <a:tailEnd type="none" w="med" len="med"/>
                    </a:lnT>
                    <a:lnB w="9525" cap="flat" cmpd="sng" algn="ctr">
                      <a:solidFill>
                        <a:srgbClr val="DDE7E8"/>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6262B"/>
                          </a:solidFill>
                          <a:latin typeface="Calibri" pitchFamily="34" charset="0"/>
                          <a:ea typeface="Calibri" pitchFamily="34" charset="-122"/>
                          <a:cs typeface="Calibri" pitchFamily="34" charset="-120"/>
                        </a:rPr>
                        <a:t>1.1</a:t>
                      </a:r>
                      <a:endParaRPr lang="en-US" sz="1100" dirty="0">
                        <a:latin typeface="Calibri" charset="0"/>
                        <a:ea typeface="Calibri" charset="0"/>
                        <a:cs typeface="Calibri" charset="0"/>
                      </a:endParaRPr>
                    </a:p>
                  </a:txBody>
                  <a:tcPr anchor="ctr">
                    <a:lnL w="9525" cap="flat" cmpd="sng" algn="ctr">
                      <a:solidFill>
                        <a:srgbClr val="DDE7E8"/>
                      </a:solidFill>
                      <a:prstDash val="solid"/>
                      <a:round/>
                      <a:headEnd type="none" w="med" len="med"/>
                      <a:tailEnd type="none" w="med" len="med"/>
                    </a:lnL>
                    <a:lnR w="9525" cap="flat" cmpd="sng" algn="ctr">
                      <a:solidFill>
                        <a:srgbClr val="DDE7E8"/>
                      </a:solidFill>
                      <a:prstDash val="solid"/>
                      <a:round/>
                      <a:headEnd type="none" w="med" len="med"/>
                      <a:tailEnd type="none" w="med" len="med"/>
                    </a:lnR>
                    <a:lnT w="9525" cap="flat" cmpd="sng" algn="ctr">
                      <a:solidFill>
                        <a:srgbClr val="DDE7E8"/>
                      </a:solidFill>
                      <a:prstDash val="solid"/>
                      <a:round/>
                      <a:headEnd type="none" w="med" len="med"/>
                      <a:tailEnd type="none" w="med" len="med"/>
                    </a:lnT>
                    <a:lnB w="9525" cap="flat" cmpd="sng" algn="ctr">
                      <a:solidFill>
                        <a:srgbClr val="DDE7E8"/>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6262B"/>
                          </a:solidFill>
                          <a:latin typeface="Calibri" pitchFamily="34" charset="0"/>
                          <a:ea typeface="Calibri" pitchFamily="34" charset="-122"/>
                          <a:cs typeface="Calibri" pitchFamily="34" charset="-120"/>
                        </a:rPr>
                        <a:t>1.3</a:t>
                      </a:r>
                      <a:endParaRPr lang="en-US" sz="1100" dirty="0">
                        <a:latin typeface="Calibri" charset="0"/>
                        <a:ea typeface="Calibri" charset="0"/>
                        <a:cs typeface="Calibri" charset="0"/>
                      </a:endParaRPr>
                    </a:p>
                  </a:txBody>
                  <a:tcPr anchor="ctr">
                    <a:lnL w="9525" cap="flat" cmpd="sng" algn="ctr">
                      <a:solidFill>
                        <a:srgbClr val="DDE7E8"/>
                      </a:solidFill>
                      <a:prstDash val="solid"/>
                      <a:round/>
                      <a:headEnd type="none" w="med" len="med"/>
                      <a:tailEnd type="none" w="med" len="med"/>
                    </a:lnL>
                    <a:lnR w="9525" cap="flat" cmpd="sng" algn="ctr">
                      <a:solidFill>
                        <a:srgbClr val="DDE7E8"/>
                      </a:solidFill>
                      <a:prstDash val="solid"/>
                      <a:round/>
                      <a:headEnd type="none" w="med" len="med"/>
                      <a:tailEnd type="none" w="med" len="med"/>
                    </a:lnR>
                    <a:lnT w="9525" cap="flat" cmpd="sng" algn="ctr">
                      <a:solidFill>
                        <a:srgbClr val="DDE7E8"/>
                      </a:solidFill>
                      <a:prstDash val="solid"/>
                      <a:round/>
                      <a:headEnd type="none" w="med" len="med"/>
                      <a:tailEnd type="none" w="med" len="med"/>
                    </a:lnT>
                    <a:lnB w="9525" cap="flat" cmpd="sng" algn="ctr">
                      <a:solidFill>
                        <a:srgbClr val="DDE7E8"/>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16262B"/>
                          </a:solidFill>
                          <a:latin typeface="Calibri" pitchFamily="34" charset="0"/>
                          <a:ea typeface="Calibri" pitchFamily="34" charset="-122"/>
                          <a:cs typeface="Calibri" pitchFamily="34" charset="-120"/>
                        </a:rPr>
                        <a:t>1.1</a:t>
                      </a:r>
                      <a:endParaRPr lang="en-US" sz="1100" dirty="0">
                        <a:latin typeface="Calibri" charset="0"/>
                        <a:ea typeface="Calibri" charset="0"/>
                        <a:cs typeface="Calibri" charset="0"/>
                      </a:endParaRPr>
                    </a:p>
                  </a:txBody>
                  <a:tcPr anchor="ctr">
                    <a:lnL w="9525" cap="flat" cmpd="sng" algn="ctr">
                      <a:solidFill>
                        <a:srgbClr val="DDE7E8"/>
                      </a:solidFill>
                      <a:prstDash val="solid"/>
                      <a:round/>
                      <a:headEnd type="none" w="med" len="med"/>
                      <a:tailEnd type="none" w="med" len="med"/>
                    </a:lnL>
                    <a:lnR w="9525" cap="flat" cmpd="sng" algn="ctr">
                      <a:solidFill>
                        <a:srgbClr val="DDE7E8"/>
                      </a:solidFill>
                      <a:prstDash val="solid"/>
                      <a:round/>
                      <a:headEnd type="none" w="med" len="med"/>
                      <a:tailEnd type="none" w="med" len="med"/>
                    </a:lnR>
                    <a:lnT w="9525" cap="flat" cmpd="sng" algn="ctr">
                      <a:solidFill>
                        <a:srgbClr val="DDE7E8"/>
                      </a:solidFill>
                      <a:prstDash val="solid"/>
                      <a:round/>
                      <a:headEnd type="none" w="med" len="med"/>
                      <a:tailEnd type="none" w="med" len="med"/>
                    </a:lnT>
                    <a:lnB w="9525" cap="flat" cmpd="sng" algn="ctr">
                      <a:solidFill>
                        <a:srgbClr val="DDE7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0896">
                <a:tc>
                  <a:txBody>
                    <a:bodyPr/>
                    <a:lstStyle/>
                    <a:p>
                      <a:pPr marL="0" indent="0" algn="l">
                        <a:buNone/>
                      </a:pPr>
                      <a:r>
                        <a:rPr lang="en-US" sz="1100" b="1" dirty="0">
                          <a:solidFill>
                            <a:srgbClr val="E8604C"/>
                          </a:solidFill>
                          <a:latin typeface="Calibri" pitchFamily="34" charset="0"/>
                          <a:ea typeface="Calibri" pitchFamily="34" charset="-122"/>
                          <a:cs typeface="Calibri" pitchFamily="34" charset="-120"/>
                        </a:rPr>
                        <a:t>42.025 – 42.050</a:t>
                      </a:r>
                      <a:endParaRPr lang="en-US" sz="1100" dirty="0">
                        <a:latin typeface="Calibri" charset="0"/>
                        <a:ea typeface="Calibri" charset="0"/>
                        <a:cs typeface="Calibri" charset="0"/>
                      </a:endParaRPr>
                    </a:p>
                  </a:txBody>
                  <a:tcPr anchor="ctr">
                    <a:lnL w="9525" cap="flat" cmpd="sng" algn="ctr">
                      <a:solidFill>
                        <a:srgbClr val="DDE7E8"/>
                      </a:solidFill>
                      <a:prstDash val="solid"/>
                      <a:round/>
                      <a:headEnd type="none" w="med" len="med"/>
                      <a:tailEnd type="none" w="med" len="med"/>
                    </a:lnL>
                    <a:lnR w="9525" cap="flat" cmpd="sng" algn="ctr">
                      <a:solidFill>
                        <a:srgbClr val="DDE7E8"/>
                      </a:solidFill>
                      <a:prstDash val="solid"/>
                      <a:round/>
                      <a:headEnd type="none" w="med" len="med"/>
                      <a:tailEnd type="none" w="med" len="med"/>
                    </a:lnR>
                    <a:lnT w="9525" cap="flat" cmpd="sng" algn="ctr">
                      <a:solidFill>
                        <a:srgbClr val="DDE7E8"/>
                      </a:solidFill>
                      <a:prstDash val="solid"/>
                      <a:round/>
                      <a:headEnd type="none" w="med" len="med"/>
                      <a:tailEnd type="none" w="med" len="med"/>
                    </a:lnT>
                    <a:lnB w="9525" cap="flat" cmpd="sng" algn="ctr">
                      <a:solidFill>
                        <a:srgbClr val="DDE7E8"/>
                      </a:solidFill>
                      <a:prstDash val="solid"/>
                      <a:round/>
                      <a:headEnd type="none" w="med" len="med"/>
                      <a:tailEnd type="none" w="med" len="med"/>
                    </a:lnB>
                    <a:solidFill>
                      <a:srgbClr val="FBEDEA"/>
                    </a:solidFill>
                  </a:tcPr>
                </a:tc>
                <a:tc>
                  <a:txBody>
                    <a:bodyPr/>
                    <a:lstStyle/>
                    <a:p>
                      <a:pPr marL="0" indent="0" algn="ctr">
                        <a:buNone/>
                      </a:pPr>
                      <a:r>
                        <a:rPr lang="en-US" sz="1100" b="1" dirty="0">
                          <a:solidFill>
                            <a:srgbClr val="E8604C"/>
                          </a:solidFill>
                          <a:latin typeface="Calibri" pitchFamily="34" charset="0"/>
                          <a:ea typeface="Calibri" pitchFamily="34" charset="-122"/>
                          <a:cs typeface="Calibri" pitchFamily="34" charset="-120"/>
                        </a:rPr>
                        <a:t>4.8</a:t>
                      </a:r>
                      <a:endParaRPr lang="en-US" sz="1100" dirty="0">
                        <a:latin typeface="Calibri" charset="0"/>
                        <a:ea typeface="Calibri" charset="0"/>
                        <a:cs typeface="Calibri" charset="0"/>
                      </a:endParaRPr>
                    </a:p>
                  </a:txBody>
                  <a:tcPr anchor="ctr">
                    <a:lnL w="9525" cap="flat" cmpd="sng" algn="ctr">
                      <a:solidFill>
                        <a:srgbClr val="DDE7E8"/>
                      </a:solidFill>
                      <a:prstDash val="solid"/>
                      <a:round/>
                      <a:headEnd type="none" w="med" len="med"/>
                      <a:tailEnd type="none" w="med" len="med"/>
                    </a:lnL>
                    <a:lnR w="9525" cap="flat" cmpd="sng" algn="ctr">
                      <a:solidFill>
                        <a:srgbClr val="DDE7E8"/>
                      </a:solidFill>
                      <a:prstDash val="solid"/>
                      <a:round/>
                      <a:headEnd type="none" w="med" len="med"/>
                      <a:tailEnd type="none" w="med" len="med"/>
                    </a:lnR>
                    <a:lnT w="9525" cap="flat" cmpd="sng" algn="ctr">
                      <a:solidFill>
                        <a:srgbClr val="DDE7E8"/>
                      </a:solidFill>
                      <a:prstDash val="solid"/>
                      <a:round/>
                      <a:headEnd type="none" w="med" len="med"/>
                      <a:tailEnd type="none" w="med" len="med"/>
                    </a:lnT>
                    <a:lnB w="9525" cap="flat" cmpd="sng" algn="ctr">
                      <a:solidFill>
                        <a:srgbClr val="DDE7E8"/>
                      </a:solidFill>
                      <a:prstDash val="solid"/>
                      <a:round/>
                      <a:headEnd type="none" w="med" len="med"/>
                      <a:tailEnd type="none" w="med" len="med"/>
                    </a:lnB>
                    <a:solidFill>
                      <a:srgbClr val="FBEDEA"/>
                    </a:solidFill>
                  </a:tcPr>
                </a:tc>
                <a:tc>
                  <a:txBody>
                    <a:bodyPr/>
                    <a:lstStyle/>
                    <a:p>
                      <a:pPr marL="0" indent="0" algn="ctr">
                        <a:buNone/>
                      </a:pPr>
                      <a:r>
                        <a:rPr lang="en-US" sz="1100" b="1" dirty="0">
                          <a:solidFill>
                            <a:srgbClr val="E8604C"/>
                          </a:solidFill>
                          <a:latin typeface="Calibri" pitchFamily="34" charset="0"/>
                          <a:ea typeface="Calibri" pitchFamily="34" charset="-122"/>
                          <a:cs typeface="Calibri" pitchFamily="34" charset="-120"/>
                        </a:rPr>
                        <a:t>3.6</a:t>
                      </a:r>
                      <a:endParaRPr lang="en-US" sz="1100" dirty="0">
                        <a:latin typeface="Calibri" charset="0"/>
                        <a:ea typeface="Calibri" charset="0"/>
                        <a:cs typeface="Calibri" charset="0"/>
                      </a:endParaRPr>
                    </a:p>
                  </a:txBody>
                  <a:tcPr anchor="ctr">
                    <a:lnL w="9525" cap="flat" cmpd="sng" algn="ctr">
                      <a:solidFill>
                        <a:srgbClr val="DDE7E8"/>
                      </a:solidFill>
                      <a:prstDash val="solid"/>
                      <a:round/>
                      <a:headEnd type="none" w="med" len="med"/>
                      <a:tailEnd type="none" w="med" len="med"/>
                    </a:lnL>
                    <a:lnR w="9525" cap="flat" cmpd="sng" algn="ctr">
                      <a:solidFill>
                        <a:srgbClr val="DDE7E8"/>
                      </a:solidFill>
                      <a:prstDash val="solid"/>
                      <a:round/>
                      <a:headEnd type="none" w="med" len="med"/>
                      <a:tailEnd type="none" w="med" len="med"/>
                    </a:lnR>
                    <a:lnT w="9525" cap="flat" cmpd="sng" algn="ctr">
                      <a:solidFill>
                        <a:srgbClr val="DDE7E8"/>
                      </a:solidFill>
                      <a:prstDash val="solid"/>
                      <a:round/>
                      <a:headEnd type="none" w="med" len="med"/>
                      <a:tailEnd type="none" w="med" len="med"/>
                    </a:lnT>
                    <a:lnB w="9525" cap="flat" cmpd="sng" algn="ctr">
                      <a:solidFill>
                        <a:srgbClr val="DDE7E8"/>
                      </a:solidFill>
                      <a:prstDash val="solid"/>
                      <a:round/>
                      <a:headEnd type="none" w="med" len="med"/>
                      <a:tailEnd type="none" w="med" len="med"/>
                    </a:lnB>
                    <a:solidFill>
                      <a:srgbClr val="FBEDEA"/>
                    </a:solidFill>
                  </a:tcPr>
                </a:tc>
                <a:tc>
                  <a:txBody>
                    <a:bodyPr/>
                    <a:lstStyle/>
                    <a:p>
                      <a:pPr marL="0" indent="0" algn="ctr">
                        <a:buNone/>
                      </a:pPr>
                      <a:r>
                        <a:rPr lang="en-US" sz="1100" b="1" dirty="0">
                          <a:solidFill>
                            <a:srgbClr val="E8604C"/>
                          </a:solidFill>
                          <a:latin typeface="Calibri" pitchFamily="34" charset="0"/>
                          <a:ea typeface="Calibri" pitchFamily="34" charset="-122"/>
                          <a:cs typeface="Calibri" pitchFamily="34" charset="-120"/>
                        </a:rPr>
                        <a:t>3.9</a:t>
                      </a:r>
                      <a:endParaRPr lang="en-US" sz="1100" dirty="0">
                        <a:latin typeface="Calibri" charset="0"/>
                        <a:ea typeface="Calibri" charset="0"/>
                        <a:cs typeface="Calibri" charset="0"/>
                      </a:endParaRPr>
                    </a:p>
                  </a:txBody>
                  <a:tcPr anchor="ctr">
                    <a:lnL w="9525" cap="flat" cmpd="sng" algn="ctr">
                      <a:solidFill>
                        <a:srgbClr val="DDE7E8"/>
                      </a:solidFill>
                      <a:prstDash val="solid"/>
                      <a:round/>
                      <a:headEnd type="none" w="med" len="med"/>
                      <a:tailEnd type="none" w="med" len="med"/>
                    </a:lnL>
                    <a:lnR w="9525" cap="flat" cmpd="sng" algn="ctr">
                      <a:solidFill>
                        <a:srgbClr val="DDE7E8"/>
                      </a:solidFill>
                      <a:prstDash val="solid"/>
                      <a:round/>
                      <a:headEnd type="none" w="med" len="med"/>
                      <a:tailEnd type="none" w="med" len="med"/>
                    </a:lnR>
                    <a:lnT w="9525" cap="flat" cmpd="sng" algn="ctr">
                      <a:solidFill>
                        <a:srgbClr val="DDE7E8"/>
                      </a:solidFill>
                      <a:prstDash val="solid"/>
                      <a:round/>
                      <a:headEnd type="none" w="med" len="med"/>
                      <a:tailEnd type="none" w="med" len="med"/>
                    </a:lnT>
                    <a:lnB w="9525" cap="flat" cmpd="sng" algn="ctr">
                      <a:solidFill>
                        <a:srgbClr val="DDE7E8"/>
                      </a:solidFill>
                      <a:prstDash val="solid"/>
                      <a:round/>
                      <a:headEnd type="none" w="med" len="med"/>
                      <a:tailEnd type="none" w="med" len="med"/>
                    </a:lnB>
                    <a:solidFill>
                      <a:srgbClr val="FBEDEA"/>
                    </a:solidFill>
                  </a:tcPr>
                </a:tc>
                <a:tc>
                  <a:txBody>
                    <a:bodyPr/>
                    <a:lstStyle/>
                    <a:p>
                      <a:pPr marL="0" indent="0" algn="ctr">
                        <a:buNone/>
                      </a:pPr>
                      <a:r>
                        <a:rPr lang="en-US" sz="1100" b="1" dirty="0">
                          <a:solidFill>
                            <a:srgbClr val="E8604C"/>
                          </a:solidFill>
                          <a:latin typeface="Calibri" pitchFamily="34" charset="0"/>
                          <a:ea typeface="Calibri" pitchFamily="34" charset="-122"/>
                          <a:cs typeface="Calibri" pitchFamily="34" charset="-120"/>
                        </a:rPr>
                        <a:t>5.2</a:t>
                      </a:r>
                      <a:endParaRPr lang="en-US" sz="1100" dirty="0">
                        <a:latin typeface="Calibri" charset="0"/>
                        <a:ea typeface="Calibri" charset="0"/>
                        <a:cs typeface="Calibri" charset="0"/>
                      </a:endParaRPr>
                    </a:p>
                  </a:txBody>
                  <a:tcPr anchor="ctr">
                    <a:lnL w="9525" cap="flat" cmpd="sng" algn="ctr">
                      <a:solidFill>
                        <a:srgbClr val="DDE7E8"/>
                      </a:solidFill>
                      <a:prstDash val="solid"/>
                      <a:round/>
                      <a:headEnd type="none" w="med" len="med"/>
                      <a:tailEnd type="none" w="med" len="med"/>
                    </a:lnL>
                    <a:lnR w="9525" cap="flat" cmpd="sng" algn="ctr">
                      <a:solidFill>
                        <a:srgbClr val="DDE7E8"/>
                      </a:solidFill>
                      <a:prstDash val="solid"/>
                      <a:round/>
                      <a:headEnd type="none" w="med" len="med"/>
                      <a:tailEnd type="none" w="med" len="med"/>
                    </a:lnR>
                    <a:lnT w="9525" cap="flat" cmpd="sng" algn="ctr">
                      <a:solidFill>
                        <a:srgbClr val="DDE7E8"/>
                      </a:solidFill>
                      <a:prstDash val="solid"/>
                      <a:round/>
                      <a:headEnd type="none" w="med" len="med"/>
                      <a:tailEnd type="none" w="med" len="med"/>
                    </a:lnT>
                    <a:lnB w="9525" cap="flat" cmpd="sng" algn="ctr">
                      <a:solidFill>
                        <a:srgbClr val="DDE7E8"/>
                      </a:solidFill>
                      <a:prstDash val="solid"/>
                      <a:round/>
                      <a:headEnd type="none" w="med" len="med"/>
                      <a:tailEnd type="none" w="med" len="med"/>
                    </a:lnB>
                    <a:solidFill>
                      <a:srgbClr val="FBEDEA"/>
                    </a:solidFill>
                  </a:tcPr>
                </a:tc>
                <a:tc>
                  <a:txBody>
                    <a:bodyPr/>
                    <a:lstStyle/>
                    <a:p>
                      <a:pPr marL="0" indent="0" algn="ctr">
                        <a:buNone/>
                      </a:pPr>
                      <a:r>
                        <a:rPr lang="en-US" sz="1100" b="1" dirty="0">
                          <a:solidFill>
                            <a:srgbClr val="E8604C"/>
                          </a:solidFill>
                          <a:latin typeface="Calibri" pitchFamily="34" charset="0"/>
                          <a:ea typeface="Calibri" pitchFamily="34" charset="-122"/>
                          <a:cs typeface="Calibri" pitchFamily="34" charset="-120"/>
                        </a:rPr>
                        <a:t>5.0</a:t>
                      </a:r>
                      <a:endParaRPr lang="en-US" sz="1100" dirty="0">
                        <a:latin typeface="Calibri" charset="0"/>
                        <a:ea typeface="Calibri" charset="0"/>
                        <a:cs typeface="Calibri" charset="0"/>
                      </a:endParaRPr>
                    </a:p>
                  </a:txBody>
                  <a:tcPr anchor="ctr">
                    <a:lnL w="9525" cap="flat" cmpd="sng" algn="ctr">
                      <a:solidFill>
                        <a:srgbClr val="DDE7E8"/>
                      </a:solidFill>
                      <a:prstDash val="solid"/>
                      <a:round/>
                      <a:headEnd type="none" w="med" len="med"/>
                      <a:tailEnd type="none" w="med" len="med"/>
                    </a:lnL>
                    <a:lnR w="9525" cap="flat" cmpd="sng" algn="ctr">
                      <a:solidFill>
                        <a:srgbClr val="DDE7E8"/>
                      </a:solidFill>
                      <a:prstDash val="solid"/>
                      <a:round/>
                      <a:headEnd type="none" w="med" len="med"/>
                      <a:tailEnd type="none" w="med" len="med"/>
                    </a:lnR>
                    <a:lnT w="9525" cap="flat" cmpd="sng" algn="ctr">
                      <a:solidFill>
                        <a:srgbClr val="DDE7E8"/>
                      </a:solidFill>
                      <a:prstDash val="solid"/>
                      <a:round/>
                      <a:headEnd type="none" w="med" len="med"/>
                      <a:tailEnd type="none" w="med" len="med"/>
                    </a:lnT>
                    <a:lnB w="9525" cap="flat" cmpd="sng" algn="ctr">
                      <a:solidFill>
                        <a:srgbClr val="DDE7E8"/>
                      </a:solidFill>
                      <a:prstDash val="solid"/>
                      <a:round/>
                      <a:headEnd type="none" w="med" len="med"/>
                      <a:tailEnd type="none" w="med" len="med"/>
                    </a:lnB>
                    <a:solidFill>
                      <a:srgbClr val="FBEDEA"/>
                    </a:solidFill>
                  </a:tcPr>
                </a:tc>
                <a:tc>
                  <a:txBody>
                    <a:bodyPr/>
                    <a:lstStyle/>
                    <a:p>
                      <a:pPr marL="0" indent="0" algn="ctr">
                        <a:buNone/>
                      </a:pPr>
                      <a:r>
                        <a:rPr lang="en-US" sz="1100" b="1" dirty="0">
                          <a:solidFill>
                            <a:srgbClr val="E8604C"/>
                          </a:solidFill>
                          <a:latin typeface="Calibri" pitchFamily="34" charset="0"/>
                          <a:ea typeface="Calibri" pitchFamily="34" charset="-122"/>
                          <a:cs typeface="Calibri" pitchFamily="34" charset="-120"/>
                        </a:rPr>
                        <a:t>4.5</a:t>
                      </a:r>
                      <a:endParaRPr lang="en-US" sz="1100" dirty="0">
                        <a:latin typeface="Calibri" charset="0"/>
                        <a:ea typeface="Calibri" charset="0"/>
                        <a:cs typeface="Calibri" charset="0"/>
                      </a:endParaRPr>
                    </a:p>
                  </a:txBody>
                  <a:tcPr anchor="ctr">
                    <a:lnL w="9525" cap="flat" cmpd="sng" algn="ctr">
                      <a:solidFill>
                        <a:srgbClr val="DDE7E8"/>
                      </a:solidFill>
                      <a:prstDash val="solid"/>
                      <a:round/>
                      <a:headEnd type="none" w="med" len="med"/>
                      <a:tailEnd type="none" w="med" len="med"/>
                    </a:lnL>
                    <a:lnR w="9525" cap="flat" cmpd="sng" algn="ctr">
                      <a:solidFill>
                        <a:srgbClr val="DDE7E8"/>
                      </a:solidFill>
                      <a:prstDash val="solid"/>
                      <a:round/>
                      <a:headEnd type="none" w="med" len="med"/>
                      <a:tailEnd type="none" w="med" len="med"/>
                    </a:lnR>
                    <a:lnT w="9525" cap="flat" cmpd="sng" algn="ctr">
                      <a:solidFill>
                        <a:srgbClr val="DDE7E8"/>
                      </a:solidFill>
                      <a:prstDash val="solid"/>
                      <a:round/>
                      <a:headEnd type="none" w="med" len="med"/>
                      <a:tailEnd type="none" w="med" len="med"/>
                    </a:lnT>
                    <a:lnB w="9525" cap="flat" cmpd="sng" algn="ctr">
                      <a:solidFill>
                        <a:srgbClr val="DDE7E8"/>
                      </a:solidFill>
                      <a:prstDash val="solid"/>
                      <a:round/>
                      <a:headEnd type="none" w="med" len="med"/>
                      <a:tailEnd type="none" w="med" len="med"/>
                    </a:lnB>
                    <a:solidFill>
                      <a:srgbClr val="FBEDEA"/>
                    </a:solidFill>
                  </a:tcPr>
                </a:tc>
                <a:extLst>
                  <a:ext uri="{0D108BD9-81ED-4DB2-BD59-A6C34878D82A}">
                    <a16:rowId xmlns:a16="http://schemas.microsoft.com/office/drawing/2014/main" val="10002"/>
                  </a:ext>
                </a:extLst>
              </a:tr>
              <a:tr h="310896">
                <a:tc>
                  <a:txBody>
                    <a:bodyPr/>
                    <a:lstStyle/>
                    <a:p>
                      <a:pPr marL="0" indent="0" algn="l">
                        <a:buNone/>
                      </a:pPr>
                      <a:r>
                        <a:rPr lang="en-US" sz="1100" dirty="0">
                          <a:solidFill>
                            <a:srgbClr val="16262B"/>
                          </a:solidFill>
                          <a:latin typeface="Calibri" pitchFamily="34" charset="0"/>
                          <a:ea typeface="Calibri" pitchFamily="34" charset="-122"/>
                          <a:cs typeface="Calibri" pitchFamily="34" charset="-120"/>
                        </a:rPr>
                        <a:t>42.050 – 42.075</a:t>
                      </a:r>
                      <a:endParaRPr lang="en-US" sz="1100" dirty="0">
                        <a:latin typeface="Calibri" charset="0"/>
                        <a:ea typeface="Calibri" charset="0"/>
                        <a:cs typeface="Calibri" charset="0"/>
                      </a:endParaRPr>
                    </a:p>
                  </a:txBody>
                  <a:tcPr anchor="ctr">
                    <a:lnL w="9525" cap="flat" cmpd="sng" algn="ctr">
                      <a:solidFill>
                        <a:srgbClr val="DDE7E8"/>
                      </a:solidFill>
                      <a:prstDash val="solid"/>
                      <a:round/>
                      <a:headEnd type="none" w="med" len="med"/>
                      <a:tailEnd type="none" w="med" len="med"/>
                    </a:lnL>
                    <a:lnR w="9525" cap="flat" cmpd="sng" algn="ctr">
                      <a:solidFill>
                        <a:srgbClr val="DDE7E8"/>
                      </a:solidFill>
                      <a:prstDash val="solid"/>
                      <a:round/>
                      <a:headEnd type="none" w="med" len="med"/>
                      <a:tailEnd type="none" w="med" len="med"/>
                    </a:lnR>
                    <a:lnT w="9525" cap="flat" cmpd="sng" algn="ctr">
                      <a:solidFill>
                        <a:srgbClr val="DDE7E8"/>
                      </a:solidFill>
                      <a:prstDash val="solid"/>
                      <a:round/>
                      <a:headEnd type="none" w="med" len="med"/>
                      <a:tailEnd type="none" w="med" len="med"/>
                    </a:lnT>
                    <a:lnB w="9525" cap="flat" cmpd="sng" algn="ctr">
                      <a:solidFill>
                        <a:srgbClr val="DDE7E8"/>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6262B"/>
                          </a:solidFill>
                          <a:latin typeface="Calibri" pitchFamily="34" charset="0"/>
                          <a:ea typeface="Calibri" pitchFamily="34" charset="-122"/>
                          <a:cs typeface="Calibri" pitchFamily="34" charset="-120"/>
                        </a:rPr>
                        <a:t>1.0</a:t>
                      </a:r>
                      <a:endParaRPr lang="en-US" sz="1100" dirty="0">
                        <a:latin typeface="Calibri" charset="0"/>
                        <a:ea typeface="Calibri" charset="0"/>
                        <a:cs typeface="Calibri" charset="0"/>
                      </a:endParaRPr>
                    </a:p>
                  </a:txBody>
                  <a:tcPr anchor="ctr">
                    <a:lnL w="9525" cap="flat" cmpd="sng" algn="ctr">
                      <a:solidFill>
                        <a:srgbClr val="DDE7E8"/>
                      </a:solidFill>
                      <a:prstDash val="solid"/>
                      <a:round/>
                      <a:headEnd type="none" w="med" len="med"/>
                      <a:tailEnd type="none" w="med" len="med"/>
                    </a:lnL>
                    <a:lnR w="9525" cap="flat" cmpd="sng" algn="ctr">
                      <a:solidFill>
                        <a:srgbClr val="DDE7E8"/>
                      </a:solidFill>
                      <a:prstDash val="solid"/>
                      <a:round/>
                      <a:headEnd type="none" w="med" len="med"/>
                      <a:tailEnd type="none" w="med" len="med"/>
                    </a:lnR>
                    <a:lnT w="9525" cap="flat" cmpd="sng" algn="ctr">
                      <a:solidFill>
                        <a:srgbClr val="DDE7E8"/>
                      </a:solidFill>
                      <a:prstDash val="solid"/>
                      <a:round/>
                      <a:headEnd type="none" w="med" len="med"/>
                      <a:tailEnd type="none" w="med" len="med"/>
                    </a:lnT>
                    <a:lnB w="9525" cap="flat" cmpd="sng" algn="ctr">
                      <a:solidFill>
                        <a:srgbClr val="DDE7E8"/>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6262B"/>
                          </a:solidFill>
                          <a:latin typeface="Calibri" pitchFamily="34" charset="0"/>
                          <a:ea typeface="Calibri" pitchFamily="34" charset="-122"/>
                          <a:cs typeface="Calibri" pitchFamily="34" charset="-120"/>
                        </a:rPr>
                        <a:t>1.1</a:t>
                      </a:r>
                      <a:endParaRPr lang="en-US" sz="1100" dirty="0">
                        <a:latin typeface="Calibri" charset="0"/>
                        <a:ea typeface="Calibri" charset="0"/>
                        <a:cs typeface="Calibri" charset="0"/>
                      </a:endParaRPr>
                    </a:p>
                  </a:txBody>
                  <a:tcPr anchor="ctr">
                    <a:lnL w="9525" cap="flat" cmpd="sng" algn="ctr">
                      <a:solidFill>
                        <a:srgbClr val="DDE7E8"/>
                      </a:solidFill>
                      <a:prstDash val="solid"/>
                      <a:round/>
                      <a:headEnd type="none" w="med" len="med"/>
                      <a:tailEnd type="none" w="med" len="med"/>
                    </a:lnL>
                    <a:lnR w="9525" cap="flat" cmpd="sng" algn="ctr">
                      <a:solidFill>
                        <a:srgbClr val="DDE7E8"/>
                      </a:solidFill>
                      <a:prstDash val="solid"/>
                      <a:round/>
                      <a:headEnd type="none" w="med" len="med"/>
                      <a:tailEnd type="none" w="med" len="med"/>
                    </a:lnR>
                    <a:lnT w="9525" cap="flat" cmpd="sng" algn="ctr">
                      <a:solidFill>
                        <a:srgbClr val="DDE7E8"/>
                      </a:solidFill>
                      <a:prstDash val="solid"/>
                      <a:round/>
                      <a:headEnd type="none" w="med" len="med"/>
                      <a:tailEnd type="none" w="med" len="med"/>
                    </a:lnT>
                    <a:lnB w="9525" cap="flat" cmpd="sng" algn="ctr">
                      <a:solidFill>
                        <a:srgbClr val="DDE7E8"/>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6262B"/>
                          </a:solidFill>
                          <a:latin typeface="Calibri" pitchFamily="34" charset="0"/>
                          <a:ea typeface="Calibri" pitchFamily="34" charset="-122"/>
                          <a:cs typeface="Calibri" pitchFamily="34" charset="-120"/>
                        </a:rPr>
                        <a:t>0.9</a:t>
                      </a:r>
                      <a:endParaRPr lang="en-US" sz="1100" dirty="0">
                        <a:latin typeface="Calibri" charset="0"/>
                        <a:ea typeface="Calibri" charset="0"/>
                        <a:cs typeface="Calibri" charset="0"/>
                      </a:endParaRPr>
                    </a:p>
                  </a:txBody>
                  <a:tcPr anchor="ctr">
                    <a:lnL w="9525" cap="flat" cmpd="sng" algn="ctr">
                      <a:solidFill>
                        <a:srgbClr val="DDE7E8"/>
                      </a:solidFill>
                      <a:prstDash val="solid"/>
                      <a:round/>
                      <a:headEnd type="none" w="med" len="med"/>
                      <a:tailEnd type="none" w="med" len="med"/>
                    </a:lnL>
                    <a:lnR w="9525" cap="flat" cmpd="sng" algn="ctr">
                      <a:solidFill>
                        <a:srgbClr val="DDE7E8"/>
                      </a:solidFill>
                      <a:prstDash val="solid"/>
                      <a:round/>
                      <a:headEnd type="none" w="med" len="med"/>
                      <a:tailEnd type="none" w="med" len="med"/>
                    </a:lnR>
                    <a:lnT w="9525" cap="flat" cmpd="sng" algn="ctr">
                      <a:solidFill>
                        <a:srgbClr val="DDE7E8"/>
                      </a:solidFill>
                      <a:prstDash val="solid"/>
                      <a:round/>
                      <a:headEnd type="none" w="med" len="med"/>
                      <a:tailEnd type="none" w="med" len="med"/>
                    </a:lnT>
                    <a:lnB w="9525" cap="flat" cmpd="sng" algn="ctr">
                      <a:solidFill>
                        <a:srgbClr val="DDE7E8"/>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6262B"/>
                          </a:solidFill>
                          <a:latin typeface="Calibri" pitchFamily="34" charset="0"/>
                          <a:ea typeface="Calibri" pitchFamily="34" charset="-122"/>
                          <a:cs typeface="Calibri" pitchFamily="34" charset="-120"/>
                        </a:rPr>
                        <a:t>0.8</a:t>
                      </a:r>
                      <a:endParaRPr lang="en-US" sz="1100" dirty="0">
                        <a:latin typeface="Calibri" charset="0"/>
                        <a:ea typeface="Calibri" charset="0"/>
                        <a:cs typeface="Calibri" charset="0"/>
                      </a:endParaRPr>
                    </a:p>
                  </a:txBody>
                  <a:tcPr anchor="ctr">
                    <a:lnL w="9525" cap="flat" cmpd="sng" algn="ctr">
                      <a:solidFill>
                        <a:srgbClr val="DDE7E8"/>
                      </a:solidFill>
                      <a:prstDash val="solid"/>
                      <a:round/>
                      <a:headEnd type="none" w="med" len="med"/>
                      <a:tailEnd type="none" w="med" len="med"/>
                    </a:lnL>
                    <a:lnR w="9525" cap="flat" cmpd="sng" algn="ctr">
                      <a:solidFill>
                        <a:srgbClr val="DDE7E8"/>
                      </a:solidFill>
                      <a:prstDash val="solid"/>
                      <a:round/>
                      <a:headEnd type="none" w="med" len="med"/>
                      <a:tailEnd type="none" w="med" len="med"/>
                    </a:lnR>
                    <a:lnT w="9525" cap="flat" cmpd="sng" algn="ctr">
                      <a:solidFill>
                        <a:srgbClr val="DDE7E8"/>
                      </a:solidFill>
                      <a:prstDash val="solid"/>
                      <a:round/>
                      <a:headEnd type="none" w="med" len="med"/>
                      <a:tailEnd type="none" w="med" len="med"/>
                    </a:lnT>
                    <a:lnB w="9525" cap="flat" cmpd="sng" algn="ctr">
                      <a:solidFill>
                        <a:srgbClr val="DDE7E8"/>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6262B"/>
                          </a:solidFill>
                          <a:latin typeface="Calibri" pitchFamily="34" charset="0"/>
                          <a:ea typeface="Calibri" pitchFamily="34" charset="-122"/>
                          <a:cs typeface="Calibri" pitchFamily="34" charset="-120"/>
                        </a:rPr>
                        <a:t>1.2</a:t>
                      </a:r>
                      <a:endParaRPr lang="en-US" sz="1100" dirty="0">
                        <a:latin typeface="Calibri" charset="0"/>
                        <a:ea typeface="Calibri" charset="0"/>
                        <a:cs typeface="Calibri" charset="0"/>
                      </a:endParaRPr>
                    </a:p>
                  </a:txBody>
                  <a:tcPr anchor="ctr">
                    <a:lnL w="9525" cap="flat" cmpd="sng" algn="ctr">
                      <a:solidFill>
                        <a:srgbClr val="DDE7E8"/>
                      </a:solidFill>
                      <a:prstDash val="solid"/>
                      <a:round/>
                      <a:headEnd type="none" w="med" len="med"/>
                      <a:tailEnd type="none" w="med" len="med"/>
                    </a:lnL>
                    <a:lnR w="9525" cap="flat" cmpd="sng" algn="ctr">
                      <a:solidFill>
                        <a:srgbClr val="DDE7E8"/>
                      </a:solidFill>
                      <a:prstDash val="solid"/>
                      <a:round/>
                      <a:headEnd type="none" w="med" len="med"/>
                      <a:tailEnd type="none" w="med" len="med"/>
                    </a:lnR>
                    <a:lnT w="9525" cap="flat" cmpd="sng" algn="ctr">
                      <a:solidFill>
                        <a:srgbClr val="DDE7E8"/>
                      </a:solidFill>
                      <a:prstDash val="solid"/>
                      <a:round/>
                      <a:headEnd type="none" w="med" len="med"/>
                      <a:tailEnd type="none" w="med" len="med"/>
                    </a:lnT>
                    <a:lnB w="9525" cap="flat" cmpd="sng" algn="ctr">
                      <a:solidFill>
                        <a:srgbClr val="DDE7E8"/>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16262B"/>
                          </a:solidFill>
                          <a:latin typeface="Calibri" pitchFamily="34" charset="0"/>
                          <a:ea typeface="Calibri" pitchFamily="34" charset="-122"/>
                          <a:cs typeface="Calibri" pitchFamily="34" charset="-120"/>
                        </a:rPr>
                        <a:t>1.0</a:t>
                      </a:r>
                      <a:endParaRPr lang="en-US" sz="1100" dirty="0">
                        <a:latin typeface="Calibri" charset="0"/>
                        <a:ea typeface="Calibri" charset="0"/>
                        <a:cs typeface="Calibri" charset="0"/>
                      </a:endParaRPr>
                    </a:p>
                  </a:txBody>
                  <a:tcPr anchor="ctr">
                    <a:lnL w="9525" cap="flat" cmpd="sng" algn="ctr">
                      <a:solidFill>
                        <a:srgbClr val="DDE7E8"/>
                      </a:solidFill>
                      <a:prstDash val="solid"/>
                      <a:round/>
                      <a:headEnd type="none" w="med" len="med"/>
                      <a:tailEnd type="none" w="med" len="med"/>
                    </a:lnL>
                    <a:lnR w="9525" cap="flat" cmpd="sng" algn="ctr">
                      <a:solidFill>
                        <a:srgbClr val="DDE7E8"/>
                      </a:solidFill>
                      <a:prstDash val="solid"/>
                      <a:round/>
                      <a:headEnd type="none" w="med" len="med"/>
                      <a:tailEnd type="none" w="med" len="med"/>
                    </a:lnR>
                    <a:lnT w="9525" cap="flat" cmpd="sng" algn="ctr">
                      <a:solidFill>
                        <a:srgbClr val="DDE7E8"/>
                      </a:solidFill>
                      <a:prstDash val="solid"/>
                      <a:round/>
                      <a:headEnd type="none" w="med" len="med"/>
                      <a:tailEnd type="none" w="med" len="med"/>
                    </a:lnT>
                    <a:lnB w="9525" cap="flat" cmpd="sng" algn="ctr">
                      <a:solidFill>
                        <a:srgbClr val="DDE7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12" name="Text 9"/>
          <p:cNvSpPr txBox="1"/>
          <p:nvPr/>
        </p:nvSpPr>
        <p:spPr>
          <a:xfrm>
            <a:off x="457200" y="3913632"/>
            <a:ext cx="8229600" cy="274320"/>
          </a:xfrm>
          <a:prstGeom prst="rect">
            <a:avLst/>
          </a:prstGeom>
          <a:noFill/>
          <a:ln/>
        </p:spPr>
        <p:txBody>
          <a:bodyPr wrap="square" lIns="0" tIns="0" rIns="0" bIns="0" rtlCol="0" anchor="ctr"/>
          <a:lstStyle/>
          <a:p>
            <a:pPr marL="0" indent="0">
              <a:buNone/>
            </a:pPr>
            <a:r>
              <a:rPr lang="en-US" sz="1100" i="1" dirty="0">
                <a:solidFill>
                  <a:srgbClr val="5F7178"/>
                </a:solidFill>
                <a:latin typeface="Calibri" pitchFamily="34" charset="0"/>
                <a:ea typeface="Calibri" pitchFamily="34" charset="-122"/>
                <a:cs typeface="Calibri" pitchFamily="34" charset="-120"/>
              </a:rPr>
              <a:t>The middle row is the one to look at: far more variation in every parameter, so a much higher TQI.  Illustrative values — no data yet.</a:t>
            </a:r>
            <a:endParaRPr lang="en-US" sz="1100" dirty="0"/>
          </a:p>
        </p:txBody>
      </p:sp>
      <p:sp>
        <p:nvSpPr>
          <p:cNvPr id="13" name="Text 10"/>
          <p:cNvSpPr txBox="1"/>
          <p:nvPr/>
        </p:nvSpPr>
        <p:spPr>
          <a:xfrm>
            <a:off x="457200" y="4279392"/>
            <a:ext cx="8229600" cy="310896"/>
          </a:xfrm>
          <a:prstGeom prst="rect">
            <a:avLst/>
          </a:prstGeom>
          <a:noFill/>
          <a:ln/>
        </p:spPr>
        <p:txBody>
          <a:bodyPr wrap="square" lIns="0" tIns="0" rIns="0" bIns="0" rtlCol="0" anchor="ctr"/>
          <a:lstStyle/>
          <a:p>
            <a:pPr marL="0" indent="0" algn="ctr">
              <a:buNone/>
            </a:pPr>
            <a:r>
              <a:rPr lang="en-US" sz="1200" i="1" dirty="0">
                <a:solidFill>
                  <a:srgbClr val="5F7178"/>
                </a:solidFill>
                <a:latin typeface="Calibri" pitchFamily="34" charset="0"/>
                <a:ea typeface="Calibri" pitchFamily="34" charset="-122"/>
                <a:cs typeface="Calibri" pitchFamily="34" charset="-120"/>
              </a:rPr>
              <a:t>Every section of track becomes one row — and that table is what gets joined to the vibration events.</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ctr"/>
          <a:lstStyle/>
          <a:p>
            <a:pPr marL="0" indent="0">
              <a:buNone/>
            </a:pPr>
            <a:r>
              <a:rPr lang="en-US" sz="1100" b="1" kern="0" spc="200" dirty="0">
                <a:solidFill>
                  <a:srgbClr val="028090"/>
                </a:solidFill>
                <a:latin typeface="Calibri" pitchFamily="34" charset="0"/>
                <a:ea typeface="Calibri" pitchFamily="34" charset="-122"/>
                <a:cs typeface="Calibri" pitchFamily="34" charset="-120"/>
              </a:rPr>
              <a:t>METHOD</a:t>
            </a:r>
            <a:endParaRPr lang="en-US" sz="11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marL="0" indent="0">
              <a:buNone/>
            </a:pPr>
            <a:r>
              <a:rPr lang="en-US" sz="2700" b="1" dirty="0">
                <a:solidFill>
                  <a:srgbClr val="16262B"/>
                </a:solidFill>
                <a:latin typeface="Cambria" pitchFamily="34" charset="0"/>
                <a:ea typeface="Cambria" pitchFamily="34" charset="-122"/>
                <a:cs typeface="Cambria" pitchFamily="34" charset="-120"/>
              </a:rPr>
              <a:t>Six steps</a:t>
            </a:r>
            <a:endParaRPr lang="en-US" sz="2700" dirty="0"/>
          </a:p>
        </p:txBody>
      </p:sp>
      <p:sp>
        <p:nvSpPr>
          <p:cNvPr id="4" name="Shape 2"/>
          <p:cNvSpPr/>
          <p:nvPr/>
        </p:nvSpPr>
        <p:spPr>
          <a:xfrm>
            <a:off x="457200" y="1234440"/>
            <a:ext cx="8229600" cy="475488"/>
          </a:xfrm>
          <a:prstGeom prst="roundRect">
            <a:avLst>
              <a:gd name="adj" fmla="val 11538"/>
            </a:avLst>
          </a:prstGeom>
          <a:solidFill>
            <a:srgbClr val="EDF5F5"/>
          </a:solidFill>
          <a:ln w="12700">
            <a:solidFill>
              <a:srgbClr val="EDF5F5"/>
            </a:solidFill>
            <a:prstDash val="solid"/>
          </a:ln>
        </p:spPr>
        <p:txBody>
          <a:bodyPr/>
          <a:lstStyle/>
          <a:p>
            <a:endParaRPr lang="sv-SE"/>
          </a:p>
        </p:txBody>
      </p:sp>
      <p:sp>
        <p:nvSpPr>
          <p:cNvPr id="5" name="Shape 3"/>
          <p:cNvSpPr/>
          <p:nvPr/>
        </p:nvSpPr>
        <p:spPr>
          <a:xfrm>
            <a:off x="640080" y="1298448"/>
            <a:ext cx="347472" cy="347472"/>
          </a:xfrm>
          <a:prstGeom prst="ellipse">
            <a:avLst/>
          </a:prstGeom>
          <a:solidFill>
            <a:srgbClr val="028090"/>
          </a:solidFill>
          <a:ln w="12700">
            <a:solidFill>
              <a:srgbClr val="028090"/>
            </a:solidFill>
            <a:prstDash val="solid"/>
          </a:ln>
        </p:spPr>
        <p:txBody>
          <a:bodyPr/>
          <a:lstStyle/>
          <a:p>
            <a:endParaRPr lang="sv-SE"/>
          </a:p>
        </p:txBody>
      </p:sp>
      <p:sp>
        <p:nvSpPr>
          <p:cNvPr id="6" name="Text 4"/>
          <p:cNvSpPr txBox="1"/>
          <p:nvPr/>
        </p:nvSpPr>
        <p:spPr>
          <a:xfrm>
            <a:off x="640080" y="1298448"/>
            <a:ext cx="347472"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1115568" y="1234440"/>
            <a:ext cx="7406640" cy="475488"/>
          </a:xfrm>
          <a:prstGeom prst="rect">
            <a:avLst/>
          </a:prstGeom>
          <a:noFill/>
          <a:ln/>
        </p:spPr>
        <p:txBody>
          <a:bodyPr wrap="square" lIns="0" tIns="0" rIns="0" bIns="0" rtlCol="0" anchor="ctr"/>
          <a:lstStyle/>
          <a:p>
            <a:pPr marL="0" indent="0">
              <a:buNone/>
            </a:pPr>
            <a:r>
              <a:rPr lang="en-US" sz="1350" dirty="0">
                <a:solidFill>
                  <a:srgbClr val="16262B"/>
                </a:solidFill>
                <a:latin typeface="Calibri" pitchFamily="34" charset="0"/>
                <a:ea typeface="Calibri" pitchFamily="34" charset="-122"/>
                <a:cs typeface="Calibri" pitchFamily="34" charset="-120"/>
              </a:rPr>
              <a:t>Extract the two rails from the point cloud</a:t>
            </a:r>
            <a:endParaRPr lang="en-US" sz="1350" dirty="0"/>
          </a:p>
        </p:txBody>
      </p:sp>
      <p:sp>
        <p:nvSpPr>
          <p:cNvPr id="8" name="Shape 6"/>
          <p:cNvSpPr/>
          <p:nvPr/>
        </p:nvSpPr>
        <p:spPr>
          <a:xfrm>
            <a:off x="457200" y="1783080"/>
            <a:ext cx="8229600" cy="475488"/>
          </a:xfrm>
          <a:prstGeom prst="roundRect">
            <a:avLst>
              <a:gd name="adj" fmla="val 11538"/>
            </a:avLst>
          </a:prstGeom>
          <a:solidFill>
            <a:srgbClr val="EDF5F5"/>
          </a:solidFill>
          <a:ln w="12700">
            <a:solidFill>
              <a:srgbClr val="EDF5F5"/>
            </a:solidFill>
            <a:prstDash val="solid"/>
          </a:ln>
        </p:spPr>
        <p:txBody>
          <a:bodyPr/>
          <a:lstStyle/>
          <a:p>
            <a:endParaRPr lang="sv-SE"/>
          </a:p>
        </p:txBody>
      </p:sp>
      <p:sp>
        <p:nvSpPr>
          <p:cNvPr id="9" name="Shape 7"/>
          <p:cNvSpPr/>
          <p:nvPr/>
        </p:nvSpPr>
        <p:spPr>
          <a:xfrm>
            <a:off x="640080" y="1847088"/>
            <a:ext cx="347472" cy="347472"/>
          </a:xfrm>
          <a:prstGeom prst="ellipse">
            <a:avLst/>
          </a:prstGeom>
          <a:solidFill>
            <a:srgbClr val="028090"/>
          </a:solidFill>
          <a:ln w="12700">
            <a:solidFill>
              <a:srgbClr val="028090"/>
            </a:solidFill>
            <a:prstDash val="solid"/>
          </a:ln>
        </p:spPr>
        <p:txBody>
          <a:bodyPr/>
          <a:lstStyle/>
          <a:p>
            <a:endParaRPr lang="sv-SE"/>
          </a:p>
        </p:txBody>
      </p:sp>
      <p:sp>
        <p:nvSpPr>
          <p:cNvPr id="10" name="Text 8"/>
          <p:cNvSpPr txBox="1"/>
          <p:nvPr/>
        </p:nvSpPr>
        <p:spPr>
          <a:xfrm>
            <a:off x="640080" y="1847088"/>
            <a:ext cx="347472"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1" name="Text 9"/>
          <p:cNvSpPr txBox="1"/>
          <p:nvPr/>
        </p:nvSpPr>
        <p:spPr>
          <a:xfrm>
            <a:off x="1115568" y="1783080"/>
            <a:ext cx="7406640" cy="475488"/>
          </a:xfrm>
          <a:prstGeom prst="rect">
            <a:avLst/>
          </a:prstGeom>
          <a:noFill/>
          <a:ln/>
        </p:spPr>
        <p:txBody>
          <a:bodyPr wrap="square" lIns="0" tIns="0" rIns="0" bIns="0" rtlCol="0" anchor="ctr"/>
          <a:lstStyle/>
          <a:p>
            <a:pPr marL="0" indent="0">
              <a:buNone/>
            </a:pPr>
            <a:r>
              <a:rPr lang="en-US" sz="1350" dirty="0">
                <a:solidFill>
                  <a:srgbClr val="16262B"/>
                </a:solidFill>
                <a:latin typeface="Calibri" pitchFamily="34" charset="0"/>
                <a:ea typeface="Calibri" pitchFamily="34" charset="-122"/>
                <a:cs typeface="Calibri" pitchFamily="34" charset="-120"/>
              </a:rPr>
              <a:t>Split the track into sections</a:t>
            </a:r>
            <a:endParaRPr lang="en-US" sz="1350" dirty="0"/>
          </a:p>
        </p:txBody>
      </p:sp>
      <p:sp>
        <p:nvSpPr>
          <p:cNvPr id="12" name="Shape 10"/>
          <p:cNvSpPr/>
          <p:nvPr/>
        </p:nvSpPr>
        <p:spPr>
          <a:xfrm>
            <a:off x="457200" y="2331720"/>
            <a:ext cx="8229600" cy="475488"/>
          </a:xfrm>
          <a:prstGeom prst="roundRect">
            <a:avLst>
              <a:gd name="adj" fmla="val 11538"/>
            </a:avLst>
          </a:prstGeom>
          <a:solidFill>
            <a:srgbClr val="EDF5F5"/>
          </a:solidFill>
          <a:ln w="12700">
            <a:solidFill>
              <a:srgbClr val="EDF5F5"/>
            </a:solidFill>
            <a:prstDash val="solid"/>
          </a:ln>
        </p:spPr>
        <p:txBody>
          <a:bodyPr/>
          <a:lstStyle/>
          <a:p>
            <a:endParaRPr lang="sv-SE"/>
          </a:p>
        </p:txBody>
      </p:sp>
      <p:sp>
        <p:nvSpPr>
          <p:cNvPr id="13" name="Shape 11"/>
          <p:cNvSpPr/>
          <p:nvPr/>
        </p:nvSpPr>
        <p:spPr>
          <a:xfrm>
            <a:off x="640080" y="2395728"/>
            <a:ext cx="347472" cy="347472"/>
          </a:xfrm>
          <a:prstGeom prst="ellipse">
            <a:avLst/>
          </a:prstGeom>
          <a:solidFill>
            <a:srgbClr val="028090"/>
          </a:solidFill>
          <a:ln w="12700">
            <a:solidFill>
              <a:srgbClr val="028090"/>
            </a:solidFill>
            <a:prstDash val="solid"/>
          </a:ln>
        </p:spPr>
        <p:txBody>
          <a:bodyPr/>
          <a:lstStyle/>
          <a:p>
            <a:endParaRPr lang="sv-SE"/>
          </a:p>
        </p:txBody>
      </p:sp>
      <p:sp>
        <p:nvSpPr>
          <p:cNvPr id="14" name="Text 12"/>
          <p:cNvSpPr txBox="1"/>
          <p:nvPr/>
        </p:nvSpPr>
        <p:spPr>
          <a:xfrm>
            <a:off x="640080" y="2395728"/>
            <a:ext cx="347472"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5" name="Text 13"/>
          <p:cNvSpPr txBox="1"/>
          <p:nvPr/>
        </p:nvSpPr>
        <p:spPr>
          <a:xfrm>
            <a:off x="1115568" y="2331720"/>
            <a:ext cx="7406640" cy="475488"/>
          </a:xfrm>
          <a:prstGeom prst="rect">
            <a:avLst/>
          </a:prstGeom>
          <a:noFill/>
          <a:ln/>
        </p:spPr>
        <p:txBody>
          <a:bodyPr wrap="square" lIns="0" tIns="0" rIns="0" bIns="0" rtlCol="0" anchor="ctr"/>
          <a:lstStyle/>
          <a:p>
            <a:pPr marL="0" indent="0">
              <a:buNone/>
            </a:pPr>
            <a:r>
              <a:rPr lang="en-US" sz="1350" dirty="0">
                <a:solidFill>
                  <a:srgbClr val="16262B"/>
                </a:solidFill>
                <a:latin typeface="Calibri" pitchFamily="34" charset="0"/>
                <a:ea typeface="Calibri" pitchFamily="34" charset="-122"/>
                <a:cs typeface="Calibri" pitchFamily="34" charset="-120"/>
              </a:rPr>
              <a:t>Measure the geometry and compute TQI per section</a:t>
            </a:r>
            <a:endParaRPr lang="en-US" sz="1350" dirty="0"/>
          </a:p>
        </p:txBody>
      </p:sp>
      <p:sp>
        <p:nvSpPr>
          <p:cNvPr id="16" name="Shape 14"/>
          <p:cNvSpPr/>
          <p:nvPr/>
        </p:nvSpPr>
        <p:spPr>
          <a:xfrm>
            <a:off x="457200" y="2880360"/>
            <a:ext cx="8229600" cy="475488"/>
          </a:xfrm>
          <a:prstGeom prst="roundRect">
            <a:avLst>
              <a:gd name="adj" fmla="val 11538"/>
            </a:avLst>
          </a:prstGeom>
          <a:solidFill>
            <a:srgbClr val="EDF5F5"/>
          </a:solidFill>
          <a:ln w="12700">
            <a:solidFill>
              <a:srgbClr val="EDF5F5"/>
            </a:solidFill>
            <a:prstDash val="solid"/>
          </a:ln>
        </p:spPr>
        <p:txBody>
          <a:bodyPr/>
          <a:lstStyle/>
          <a:p>
            <a:endParaRPr lang="sv-SE"/>
          </a:p>
        </p:txBody>
      </p:sp>
      <p:sp>
        <p:nvSpPr>
          <p:cNvPr id="17" name="Shape 15"/>
          <p:cNvSpPr/>
          <p:nvPr/>
        </p:nvSpPr>
        <p:spPr>
          <a:xfrm>
            <a:off x="640080" y="2944368"/>
            <a:ext cx="347472" cy="347472"/>
          </a:xfrm>
          <a:prstGeom prst="ellipse">
            <a:avLst/>
          </a:prstGeom>
          <a:solidFill>
            <a:srgbClr val="00A896"/>
          </a:solidFill>
          <a:ln w="12700">
            <a:solidFill>
              <a:srgbClr val="00A896"/>
            </a:solidFill>
            <a:prstDash val="solid"/>
          </a:ln>
        </p:spPr>
        <p:txBody>
          <a:bodyPr/>
          <a:lstStyle/>
          <a:p>
            <a:endParaRPr lang="sv-SE"/>
          </a:p>
        </p:txBody>
      </p:sp>
      <p:sp>
        <p:nvSpPr>
          <p:cNvPr id="18" name="Text 16"/>
          <p:cNvSpPr txBox="1"/>
          <p:nvPr/>
        </p:nvSpPr>
        <p:spPr>
          <a:xfrm>
            <a:off x="640080" y="2944368"/>
            <a:ext cx="347472"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9" name="Text 17"/>
          <p:cNvSpPr txBox="1"/>
          <p:nvPr/>
        </p:nvSpPr>
        <p:spPr>
          <a:xfrm>
            <a:off x="1115568" y="2880360"/>
            <a:ext cx="7406640" cy="475488"/>
          </a:xfrm>
          <a:prstGeom prst="rect">
            <a:avLst/>
          </a:prstGeom>
          <a:noFill/>
          <a:ln/>
        </p:spPr>
        <p:txBody>
          <a:bodyPr wrap="square" lIns="0" tIns="0" rIns="0" bIns="0" rtlCol="0" anchor="ctr"/>
          <a:lstStyle/>
          <a:p>
            <a:pPr marL="0" indent="0">
              <a:buNone/>
            </a:pPr>
            <a:r>
              <a:rPr lang="en-US" sz="1350" dirty="0">
                <a:solidFill>
                  <a:srgbClr val="16262B"/>
                </a:solidFill>
                <a:latin typeface="Calibri" pitchFamily="34" charset="0"/>
                <a:ea typeface="Calibri" pitchFamily="34" charset="-122"/>
                <a:cs typeface="Calibri" pitchFamily="34" charset="-120"/>
              </a:rPr>
              <a:t>Match the vibration events to the same sections</a:t>
            </a:r>
            <a:endParaRPr lang="en-US" sz="1350" dirty="0"/>
          </a:p>
        </p:txBody>
      </p:sp>
      <p:sp>
        <p:nvSpPr>
          <p:cNvPr id="20" name="Shape 18"/>
          <p:cNvSpPr/>
          <p:nvPr/>
        </p:nvSpPr>
        <p:spPr>
          <a:xfrm>
            <a:off x="457200" y="3429000"/>
            <a:ext cx="8229600" cy="475488"/>
          </a:xfrm>
          <a:prstGeom prst="roundRect">
            <a:avLst>
              <a:gd name="adj" fmla="val 11538"/>
            </a:avLst>
          </a:prstGeom>
          <a:solidFill>
            <a:srgbClr val="EDF5F5"/>
          </a:solidFill>
          <a:ln w="12700">
            <a:solidFill>
              <a:srgbClr val="EDF5F5"/>
            </a:solidFill>
            <a:prstDash val="solid"/>
          </a:ln>
        </p:spPr>
        <p:txBody>
          <a:bodyPr/>
          <a:lstStyle/>
          <a:p>
            <a:endParaRPr lang="sv-SE"/>
          </a:p>
        </p:txBody>
      </p:sp>
      <p:sp>
        <p:nvSpPr>
          <p:cNvPr id="21" name="Shape 19"/>
          <p:cNvSpPr/>
          <p:nvPr/>
        </p:nvSpPr>
        <p:spPr>
          <a:xfrm>
            <a:off x="640080" y="3493008"/>
            <a:ext cx="347472" cy="347472"/>
          </a:xfrm>
          <a:prstGeom prst="ellipse">
            <a:avLst/>
          </a:prstGeom>
          <a:solidFill>
            <a:srgbClr val="E8604C"/>
          </a:solidFill>
          <a:ln w="12700">
            <a:solidFill>
              <a:srgbClr val="E8604C"/>
            </a:solidFill>
            <a:prstDash val="solid"/>
          </a:ln>
        </p:spPr>
        <p:txBody>
          <a:bodyPr/>
          <a:lstStyle/>
          <a:p>
            <a:endParaRPr lang="sv-SE"/>
          </a:p>
        </p:txBody>
      </p:sp>
      <p:sp>
        <p:nvSpPr>
          <p:cNvPr id="22" name="Text 20"/>
          <p:cNvSpPr txBox="1"/>
          <p:nvPr/>
        </p:nvSpPr>
        <p:spPr>
          <a:xfrm>
            <a:off x="640080" y="3493008"/>
            <a:ext cx="347472"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3" name="Text 21"/>
          <p:cNvSpPr txBox="1"/>
          <p:nvPr/>
        </p:nvSpPr>
        <p:spPr>
          <a:xfrm>
            <a:off x="1115568" y="3429000"/>
            <a:ext cx="7406640" cy="475488"/>
          </a:xfrm>
          <a:prstGeom prst="rect">
            <a:avLst/>
          </a:prstGeom>
          <a:noFill/>
          <a:ln/>
        </p:spPr>
        <p:txBody>
          <a:bodyPr wrap="square" lIns="0" tIns="0" rIns="0" bIns="0" rtlCol="0" anchor="ctr"/>
          <a:lstStyle/>
          <a:p>
            <a:pPr marL="0" indent="0">
              <a:buNone/>
            </a:pPr>
            <a:r>
              <a:rPr lang="en-US" sz="1350" dirty="0">
                <a:solidFill>
                  <a:srgbClr val="16262B"/>
                </a:solidFill>
                <a:latin typeface="Calibri" pitchFamily="34" charset="0"/>
                <a:ea typeface="Calibri" pitchFamily="34" charset="-122"/>
                <a:cs typeface="Calibri" pitchFamily="34" charset="-120"/>
              </a:rPr>
              <a:t>Cluster the abnormal events into named fault types</a:t>
            </a:r>
            <a:endParaRPr lang="en-US" sz="1350" dirty="0"/>
          </a:p>
        </p:txBody>
      </p:sp>
      <p:sp>
        <p:nvSpPr>
          <p:cNvPr id="24" name="Shape 22"/>
          <p:cNvSpPr/>
          <p:nvPr/>
        </p:nvSpPr>
        <p:spPr>
          <a:xfrm>
            <a:off x="457200" y="3977640"/>
            <a:ext cx="8229600" cy="475488"/>
          </a:xfrm>
          <a:prstGeom prst="roundRect">
            <a:avLst>
              <a:gd name="adj" fmla="val 11538"/>
            </a:avLst>
          </a:prstGeom>
          <a:solidFill>
            <a:srgbClr val="0B2027"/>
          </a:solidFill>
          <a:ln w="12700">
            <a:solidFill>
              <a:srgbClr val="0B2027"/>
            </a:solidFill>
            <a:prstDash val="solid"/>
          </a:ln>
        </p:spPr>
        <p:txBody>
          <a:bodyPr/>
          <a:lstStyle/>
          <a:p>
            <a:endParaRPr lang="sv-SE"/>
          </a:p>
        </p:txBody>
      </p:sp>
      <p:sp>
        <p:nvSpPr>
          <p:cNvPr id="25" name="Shape 23"/>
          <p:cNvSpPr/>
          <p:nvPr/>
        </p:nvSpPr>
        <p:spPr>
          <a:xfrm>
            <a:off x="640080" y="4041648"/>
            <a:ext cx="347472" cy="347472"/>
          </a:xfrm>
          <a:prstGeom prst="ellipse">
            <a:avLst/>
          </a:prstGeom>
          <a:solidFill>
            <a:srgbClr val="E8604C"/>
          </a:solidFill>
          <a:ln w="12700">
            <a:solidFill>
              <a:srgbClr val="E8604C"/>
            </a:solidFill>
            <a:prstDash val="solid"/>
          </a:ln>
        </p:spPr>
        <p:txBody>
          <a:bodyPr/>
          <a:lstStyle/>
          <a:p>
            <a:endParaRPr lang="sv-SE"/>
          </a:p>
        </p:txBody>
      </p:sp>
      <p:sp>
        <p:nvSpPr>
          <p:cNvPr id="26" name="Text 24"/>
          <p:cNvSpPr txBox="1"/>
          <p:nvPr/>
        </p:nvSpPr>
        <p:spPr>
          <a:xfrm>
            <a:off x="640080" y="4041648"/>
            <a:ext cx="347472"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27" name="Text 25"/>
          <p:cNvSpPr txBox="1"/>
          <p:nvPr/>
        </p:nvSpPr>
        <p:spPr>
          <a:xfrm>
            <a:off x="1115568" y="3977640"/>
            <a:ext cx="7406640" cy="475488"/>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Predict the fault type from the vibration features alone</a:t>
            </a:r>
            <a:endParaRPr lang="en-US" sz="1350" dirty="0"/>
          </a:p>
        </p:txBody>
      </p:sp>
      <p:sp>
        <p:nvSpPr>
          <p:cNvPr id="28" name="Text 26"/>
          <p:cNvSpPr txBox="1"/>
          <p:nvPr/>
        </p:nvSpPr>
        <p:spPr>
          <a:xfrm>
            <a:off x="457200" y="4590288"/>
            <a:ext cx="8229600" cy="292608"/>
          </a:xfrm>
          <a:prstGeom prst="rect">
            <a:avLst/>
          </a:prstGeom>
          <a:noFill/>
          <a:ln/>
        </p:spPr>
        <p:txBody>
          <a:bodyPr wrap="square" lIns="0" tIns="0" rIns="0" bIns="0" rtlCol="0" anchor="ctr"/>
          <a:lstStyle/>
          <a:p>
            <a:pPr marL="0" indent="0" algn="ctr">
              <a:buNone/>
            </a:pPr>
            <a:r>
              <a:rPr lang="en-US" sz="1200" i="1" dirty="0">
                <a:solidFill>
                  <a:srgbClr val="5F7178"/>
                </a:solidFill>
                <a:latin typeface="Calibri" pitchFamily="34" charset="0"/>
                <a:ea typeface="Calibri" pitchFamily="34" charset="-122"/>
                <a:cs typeface="Calibri" pitchFamily="34" charset="-120"/>
              </a:rPr>
              <a:t>Steps 1-3 need point cloud. Steps 4-6 relies on vibration data carrying position information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ctr"/>
          <a:lstStyle/>
          <a:p>
            <a:pPr marL="0" indent="0">
              <a:buNone/>
            </a:pPr>
            <a:r>
              <a:rPr lang="en-US" sz="1100" b="1" kern="0" spc="200" dirty="0">
                <a:solidFill>
                  <a:srgbClr val="028090"/>
                </a:solidFill>
                <a:latin typeface="Calibri" pitchFamily="34" charset="0"/>
                <a:ea typeface="Calibri" pitchFamily="34" charset="-122"/>
                <a:cs typeface="Calibri" pitchFamily="34" charset="-120"/>
              </a:rPr>
              <a:t>THE ANALYSIS</a:t>
            </a:r>
            <a:endParaRPr lang="en-US" sz="11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marL="0" indent="0">
              <a:buNone/>
            </a:pPr>
            <a:r>
              <a:rPr lang="en-US" sz="2700" b="1" dirty="0">
                <a:solidFill>
                  <a:srgbClr val="16262B"/>
                </a:solidFill>
                <a:latin typeface="Cambria" pitchFamily="34" charset="0"/>
                <a:ea typeface="Cambria" pitchFamily="34" charset="-122"/>
                <a:cs typeface="Cambria" pitchFamily="34" charset="-120"/>
              </a:rPr>
              <a:t>Where the geometry is meant to lead</a:t>
            </a:r>
            <a:endParaRPr lang="en-US" sz="2700" dirty="0"/>
          </a:p>
        </p:txBody>
      </p:sp>
      <p:sp>
        <p:nvSpPr>
          <p:cNvPr id="4" name="Shape 2"/>
          <p:cNvSpPr/>
          <p:nvPr/>
        </p:nvSpPr>
        <p:spPr>
          <a:xfrm>
            <a:off x="457200" y="1280160"/>
            <a:ext cx="2606040" cy="1371600"/>
          </a:xfrm>
          <a:prstGeom prst="roundRect">
            <a:avLst>
              <a:gd name="adj" fmla="val 4000"/>
            </a:avLst>
          </a:prstGeom>
          <a:solidFill>
            <a:srgbClr val="EDF5F5"/>
          </a:solidFill>
          <a:ln w="12700">
            <a:solidFill>
              <a:srgbClr val="EDF5F5"/>
            </a:solidFill>
            <a:prstDash val="solid"/>
          </a:ln>
        </p:spPr>
        <p:txBody>
          <a:bodyPr/>
          <a:lstStyle/>
          <a:p>
            <a:endParaRPr lang="sv-SE"/>
          </a:p>
        </p:txBody>
      </p:sp>
      <p:sp>
        <p:nvSpPr>
          <p:cNvPr id="5" name="Shape 3"/>
          <p:cNvSpPr/>
          <p:nvPr/>
        </p:nvSpPr>
        <p:spPr>
          <a:xfrm>
            <a:off x="1559052" y="1426464"/>
            <a:ext cx="402336" cy="402336"/>
          </a:xfrm>
          <a:prstGeom prst="ellipse">
            <a:avLst/>
          </a:prstGeom>
          <a:solidFill>
            <a:srgbClr val="028090"/>
          </a:solidFill>
          <a:ln w="12700">
            <a:solidFill>
              <a:srgbClr val="028090"/>
            </a:solidFill>
            <a:prstDash val="solid"/>
          </a:ln>
        </p:spPr>
        <p:txBody>
          <a:bodyPr/>
          <a:lstStyle/>
          <a:p>
            <a:endParaRPr lang="sv-SE"/>
          </a:p>
        </p:txBody>
      </p:sp>
      <p:sp>
        <p:nvSpPr>
          <p:cNvPr id="6" name="Text 4"/>
          <p:cNvSpPr txBox="1"/>
          <p:nvPr/>
        </p:nvSpPr>
        <p:spPr>
          <a:xfrm>
            <a:off x="1559052" y="1426464"/>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594360" y="1901952"/>
            <a:ext cx="2331720" cy="292608"/>
          </a:xfrm>
          <a:prstGeom prst="rect">
            <a:avLst/>
          </a:prstGeom>
          <a:noFill/>
          <a:ln/>
        </p:spPr>
        <p:txBody>
          <a:bodyPr wrap="square" lIns="0" tIns="0" rIns="0" bIns="0" rtlCol="0" anchor="ctr"/>
          <a:lstStyle/>
          <a:p>
            <a:pPr marL="0" indent="0" algn="ctr">
              <a:buNone/>
            </a:pPr>
            <a:r>
              <a:rPr lang="en-US" sz="1350" b="1" dirty="0">
                <a:solidFill>
                  <a:srgbClr val="16262B"/>
                </a:solidFill>
                <a:latin typeface="Calibri" pitchFamily="34" charset="0"/>
                <a:ea typeface="Calibri" pitchFamily="34" charset="-122"/>
                <a:cs typeface="Calibri" pitchFamily="34" charset="-120"/>
              </a:rPr>
              <a:t>Cluster the events</a:t>
            </a:r>
            <a:endParaRPr lang="en-US" sz="1350" dirty="0"/>
          </a:p>
        </p:txBody>
      </p:sp>
      <p:sp>
        <p:nvSpPr>
          <p:cNvPr id="8" name="Text 6"/>
          <p:cNvSpPr txBox="1"/>
          <p:nvPr/>
        </p:nvSpPr>
        <p:spPr>
          <a:xfrm>
            <a:off x="621792" y="2212848"/>
            <a:ext cx="2286000" cy="384048"/>
          </a:xfrm>
          <a:prstGeom prst="rect">
            <a:avLst/>
          </a:prstGeom>
          <a:noFill/>
          <a:ln/>
        </p:spPr>
        <p:txBody>
          <a:bodyPr wrap="square" lIns="0" tIns="0" rIns="0" bIns="0" rtlCol="0" anchor="ctr"/>
          <a:lstStyle/>
          <a:p>
            <a:pPr marL="0" indent="0" algn="ctr">
              <a:buNone/>
            </a:pPr>
            <a:r>
              <a:rPr lang="en-US" sz="1050" dirty="0">
                <a:solidFill>
                  <a:srgbClr val="5F7178"/>
                </a:solidFill>
                <a:latin typeface="Calibri" pitchFamily="34" charset="0"/>
                <a:ea typeface="Calibri" pitchFamily="34" charset="-122"/>
                <a:cs typeface="Calibri" pitchFamily="34" charset="-120"/>
              </a:rPr>
              <a:t>PCA to reduce the geometry, k-means to group</a:t>
            </a:r>
            <a:endParaRPr lang="en-US" sz="1050" dirty="0"/>
          </a:p>
        </p:txBody>
      </p:sp>
      <p:sp>
        <p:nvSpPr>
          <p:cNvPr id="9" name="Shape 7"/>
          <p:cNvSpPr/>
          <p:nvPr/>
        </p:nvSpPr>
        <p:spPr>
          <a:xfrm>
            <a:off x="3246120" y="1280160"/>
            <a:ext cx="2606040" cy="1371600"/>
          </a:xfrm>
          <a:prstGeom prst="roundRect">
            <a:avLst>
              <a:gd name="adj" fmla="val 4000"/>
            </a:avLst>
          </a:prstGeom>
          <a:solidFill>
            <a:srgbClr val="EDF5F5"/>
          </a:solidFill>
          <a:ln w="12700">
            <a:solidFill>
              <a:srgbClr val="EDF5F5"/>
            </a:solidFill>
            <a:prstDash val="solid"/>
          </a:ln>
        </p:spPr>
        <p:txBody>
          <a:bodyPr/>
          <a:lstStyle/>
          <a:p>
            <a:endParaRPr lang="sv-SE"/>
          </a:p>
        </p:txBody>
      </p:sp>
      <p:sp>
        <p:nvSpPr>
          <p:cNvPr id="10" name="Shape 8"/>
          <p:cNvSpPr/>
          <p:nvPr/>
        </p:nvSpPr>
        <p:spPr>
          <a:xfrm>
            <a:off x="4347972" y="1426464"/>
            <a:ext cx="402336" cy="402336"/>
          </a:xfrm>
          <a:prstGeom prst="ellipse">
            <a:avLst/>
          </a:prstGeom>
          <a:solidFill>
            <a:srgbClr val="00A896"/>
          </a:solidFill>
          <a:ln w="12700">
            <a:solidFill>
              <a:srgbClr val="00A896"/>
            </a:solidFill>
            <a:prstDash val="solid"/>
          </a:ln>
        </p:spPr>
        <p:txBody>
          <a:bodyPr/>
          <a:lstStyle/>
          <a:p>
            <a:endParaRPr lang="sv-SE"/>
          </a:p>
        </p:txBody>
      </p:sp>
      <p:sp>
        <p:nvSpPr>
          <p:cNvPr id="11" name="Text 9"/>
          <p:cNvSpPr txBox="1"/>
          <p:nvPr/>
        </p:nvSpPr>
        <p:spPr>
          <a:xfrm>
            <a:off x="4347972" y="1426464"/>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10"/>
          <p:cNvSpPr txBox="1"/>
          <p:nvPr/>
        </p:nvSpPr>
        <p:spPr>
          <a:xfrm>
            <a:off x="3383280" y="1901952"/>
            <a:ext cx="2331720" cy="292608"/>
          </a:xfrm>
          <a:prstGeom prst="rect">
            <a:avLst/>
          </a:prstGeom>
          <a:noFill/>
          <a:ln/>
        </p:spPr>
        <p:txBody>
          <a:bodyPr wrap="square" lIns="0" tIns="0" rIns="0" bIns="0" rtlCol="0" anchor="ctr"/>
          <a:lstStyle/>
          <a:p>
            <a:pPr marL="0" indent="0" algn="ctr">
              <a:buNone/>
            </a:pPr>
            <a:r>
              <a:rPr lang="en-US" sz="1350" b="1" dirty="0">
                <a:solidFill>
                  <a:srgbClr val="16262B"/>
                </a:solidFill>
                <a:latin typeface="Calibri" pitchFamily="34" charset="0"/>
                <a:ea typeface="Calibri" pitchFamily="34" charset="-122"/>
                <a:cs typeface="Calibri" pitchFamily="34" charset="-120"/>
              </a:rPr>
              <a:t>Analyse each group</a:t>
            </a:r>
            <a:endParaRPr lang="en-US" sz="1350" dirty="0"/>
          </a:p>
        </p:txBody>
      </p:sp>
      <p:sp>
        <p:nvSpPr>
          <p:cNvPr id="13" name="Text 11"/>
          <p:cNvSpPr txBox="1"/>
          <p:nvPr/>
        </p:nvSpPr>
        <p:spPr>
          <a:xfrm>
            <a:off x="3410712" y="2212848"/>
            <a:ext cx="2286000" cy="384048"/>
          </a:xfrm>
          <a:prstGeom prst="rect">
            <a:avLst/>
          </a:prstGeom>
          <a:noFill/>
          <a:ln/>
        </p:spPr>
        <p:txBody>
          <a:bodyPr wrap="square" lIns="0" tIns="0" rIns="0" bIns="0" rtlCol="0" anchor="ctr"/>
          <a:lstStyle/>
          <a:p>
            <a:pPr marL="0" indent="0" algn="ctr">
              <a:buNone/>
            </a:pPr>
            <a:r>
              <a:rPr lang="en-US" sz="1050" dirty="0">
                <a:solidFill>
                  <a:srgbClr val="5F7178"/>
                </a:solidFill>
                <a:latin typeface="Calibri" pitchFamily="34" charset="0"/>
                <a:ea typeface="Calibri" pitchFamily="34" charset="-122"/>
                <a:cs typeface="Calibri" pitchFamily="34" charset="-120"/>
              </a:rPr>
              <a:t>the parameter furthest from design gives it a name</a:t>
            </a:r>
            <a:endParaRPr lang="en-US" sz="1050" dirty="0"/>
          </a:p>
        </p:txBody>
      </p:sp>
      <p:sp>
        <p:nvSpPr>
          <p:cNvPr id="14" name="Shape 12"/>
          <p:cNvSpPr/>
          <p:nvPr/>
        </p:nvSpPr>
        <p:spPr>
          <a:xfrm>
            <a:off x="6035040" y="1280160"/>
            <a:ext cx="2606040" cy="1371600"/>
          </a:xfrm>
          <a:prstGeom prst="roundRect">
            <a:avLst>
              <a:gd name="adj" fmla="val 4000"/>
            </a:avLst>
          </a:prstGeom>
          <a:solidFill>
            <a:srgbClr val="EDF5F5"/>
          </a:solidFill>
          <a:ln w="12700">
            <a:solidFill>
              <a:srgbClr val="EDF5F5"/>
            </a:solidFill>
            <a:prstDash val="solid"/>
          </a:ln>
        </p:spPr>
        <p:txBody>
          <a:bodyPr/>
          <a:lstStyle/>
          <a:p>
            <a:endParaRPr lang="sv-SE"/>
          </a:p>
        </p:txBody>
      </p:sp>
      <p:sp>
        <p:nvSpPr>
          <p:cNvPr id="15" name="Shape 13"/>
          <p:cNvSpPr/>
          <p:nvPr/>
        </p:nvSpPr>
        <p:spPr>
          <a:xfrm>
            <a:off x="7136892" y="1426464"/>
            <a:ext cx="402336" cy="402336"/>
          </a:xfrm>
          <a:prstGeom prst="ellipse">
            <a:avLst/>
          </a:prstGeom>
          <a:solidFill>
            <a:srgbClr val="E8604C"/>
          </a:solidFill>
          <a:ln w="12700">
            <a:solidFill>
              <a:srgbClr val="E8604C"/>
            </a:solidFill>
            <a:prstDash val="solid"/>
          </a:ln>
        </p:spPr>
        <p:txBody>
          <a:bodyPr/>
          <a:lstStyle/>
          <a:p>
            <a:endParaRPr lang="sv-SE"/>
          </a:p>
        </p:txBody>
      </p:sp>
      <p:sp>
        <p:nvSpPr>
          <p:cNvPr id="16" name="Text 14"/>
          <p:cNvSpPr txBox="1"/>
          <p:nvPr/>
        </p:nvSpPr>
        <p:spPr>
          <a:xfrm>
            <a:off x="7136892" y="1426464"/>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5"/>
          <p:cNvSpPr txBox="1"/>
          <p:nvPr/>
        </p:nvSpPr>
        <p:spPr>
          <a:xfrm>
            <a:off x="6172200" y="1901952"/>
            <a:ext cx="2331720" cy="292608"/>
          </a:xfrm>
          <a:prstGeom prst="rect">
            <a:avLst/>
          </a:prstGeom>
          <a:noFill/>
          <a:ln/>
        </p:spPr>
        <p:txBody>
          <a:bodyPr wrap="square" lIns="0" tIns="0" rIns="0" bIns="0" rtlCol="0" anchor="ctr"/>
          <a:lstStyle/>
          <a:p>
            <a:pPr marL="0" indent="0" algn="ctr">
              <a:buNone/>
            </a:pPr>
            <a:r>
              <a:rPr lang="en-US" sz="1350" b="1" dirty="0">
                <a:solidFill>
                  <a:srgbClr val="16262B"/>
                </a:solidFill>
                <a:latin typeface="Calibri" pitchFamily="34" charset="0"/>
                <a:ea typeface="Calibri" pitchFamily="34" charset="-122"/>
                <a:cs typeface="Calibri" pitchFamily="34" charset="-120"/>
              </a:rPr>
              <a:t>Predict the type</a:t>
            </a:r>
            <a:endParaRPr lang="en-US" sz="1350" dirty="0"/>
          </a:p>
        </p:txBody>
      </p:sp>
      <p:sp>
        <p:nvSpPr>
          <p:cNvPr id="18" name="Text 16"/>
          <p:cNvSpPr txBox="1"/>
          <p:nvPr/>
        </p:nvSpPr>
        <p:spPr>
          <a:xfrm>
            <a:off x="6199632" y="2212848"/>
            <a:ext cx="2286000" cy="384048"/>
          </a:xfrm>
          <a:prstGeom prst="rect">
            <a:avLst/>
          </a:prstGeom>
          <a:noFill/>
          <a:ln/>
        </p:spPr>
        <p:txBody>
          <a:bodyPr wrap="square" lIns="0" tIns="0" rIns="0" bIns="0" rtlCol="0" anchor="ctr"/>
          <a:lstStyle/>
          <a:p>
            <a:pPr marL="0" indent="0" algn="ctr">
              <a:buNone/>
            </a:pPr>
            <a:r>
              <a:rPr lang="en-US" sz="1050" dirty="0">
                <a:solidFill>
                  <a:srgbClr val="5F7178"/>
                </a:solidFill>
                <a:latin typeface="Calibri" pitchFamily="34" charset="0"/>
                <a:ea typeface="Calibri" pitchFamily="34" charset="-122"/>
                <a:cs typeface="Calibri" pitchFamily="34" charset="-120"/>
              </a:rPr>
              <a:t>using the vibration features only</a:t>
            </a:r>
            <a:endParaRPr lang="en-US" sz="1050" dirty="0"/>
          </a:p>
        </p:txBody>
      </p:sp>
      <p:sp>
        <p:nvSpPr>
          <p:cNvPr id="19" name="Text 17"/>
          <p:cNvSpPr txBox="1"/>
          <p:nvPr/>
        </p:nvSpPr>
        <p:spPr>
          <a:xfrm>
            <a:off x="457200" y="2880360"/>
            <a:ext cx="868680" cy="329184"/>
          </a:xfrm>
          <a:prstGeom prst="rect">
            <a:avLst/>
          </a:prstGeom>
          <a:noFill/>
          <a:ln/>
        </p:spPr>
        <p:txBody>
          <a:bodyPr wrap="square" lIns="0" tIns="0" rIns="0" bIns="0" rtlCol="0" anchor="ctr"/>
          <a:lstStyle/>
          <a:p>
            <a:pPr marL="0" indent="0">
              <a:buNone/>
            </a:pPr>
            <a:r>
              <a:rPr lang="en-US" sz="1000" b="1" kern="0" spc="150" dirty="0">
                <a:solidFill>
                  <a:srgbClr val="5F7178"/>
                </a:solidFill>
                <a:latin typeface="Calibri" pitchFamily="34" charset="0"/>
                <a:ea typeface="Calibri" pitchFamily="34" charset="-122"/>
                <a:cs typeface="Calibri" pitchFamily="34" charset="-120"/>
              </a:rPr>
              <a:t>TODAY</a:t>
            </a:r>
            <a:endParaRPr lang="en-US" sz="1000" dirty="0"/>
          </a:p>
        </p:txBody>
      </p:sp>
      <p:sp>
        <p:nvSpPr>
          <p:cNvPr id="20" name="Shape 18"/>
          <p:cNvSpPr/>
          <p:nvPr/>
        </p:nvSpPr>
        <p:spPr>
          <a:xfrm>
            <a:off x="1371600" y="2880360"/>
            <a:ext cx="1444752" cy="329184"/>
          </a:xfrm>
          <a:prstGeom prst="roundRect">
            <a:avLst>
              <a:gd name="adj" fmla="val 16667"/>
            </a:avLst>
          </a:prstGeom>
          <a:solidFill>
            <a:srgbClr val="EDF5F5"/>
          </a:solidFill>
          <a:ln w="12700">
            <a:solidFill>
              <a:srgbClr val="EDF5F5"/>
            </a:solidFill>
            <a:prstDash val="solid"/>
          </a:ln>
        </p:spPr>
        <p:txBody>
          <a:bodyPr/>
          <a:lstStyle/>
          <a:p>
            <a:endParaRPr lang="sv-SE"/>
          </a:p>
        </p:txBody>
      </p:sp>
      <p:sp>
        <p:nvSpPr>
          <p:cNvPr id="21" name="Shape 19"/>
          <p:cNvSpPr/>
          <p:nvPr/>
        </p:nvSpPr>
        <p:spPr>
          <a:xfrm>
            <a:off x="1508760" y="2980944"/>
            <a:ext cx="128016" cy="128016"/>
          </a:xfrm>
          <a:prstGeom prst="ellipse">
            <a:avLst/>
          </a:prstGeom>
          <a:solidFill>
            <a:srgbClr val="028090"/>
          </a:solidFill>
          <a:ln w="12700">
            <a:solidFill>
              <a:srgbClr val="333333"/>
            </a:solidFill>
            <a:prstDash val="solid"/>
          </a:ln>
        </p:spPr>
        <p:txBody>
          <a:bodyPr/>
          <a:lstStyle/>
          <a:p>
            <a:endParaRPr lang="sv-SE"/>
          </a:p>
        </p:txBody>
      </p:sp>
      <p:sp>
        <p:nvSpPr>
          <p:cNvPr id="22" name="Text 20"/>
          <p:cNvSpPr txBox="1"/>
          <p:nvPr/>
        </p:nvSpPr>
        <p:spPr>
          <a:xfrm>
            <a:off x="1719072" y="2880360"/>
            <a:ext cx="1051560" cy="329184"/>
          </a:xfrm>
          <a:prstGeom prst="rect">
            <a:avLst/>
          </a:prstGeom>
          <a:noFill/>
          <a:ln/>
        </p:spPr>
        <p:txBody>
          <a:bodyPr wrap="square" lIns="0" tIns="0" rIns="0" bIns="0" rtlCol="0" anchor="ctr"/>
          <a:lstStyle/>
          <a:p>
            <a:pPr marL="0" indent="0">
              <a:buNone/>
            </a:pPr>
            <a:r>
              <a:rPr lang="en-US" sz="1050" b="1" dirty="0">
                <a:solidFill>
                  <a:srgbClr val="16262B"/>
                </a:solidFill>
                <a:latin typeface="Calibri" pitchFamily="34" charset="0"/>
                <a:ea typeface="Calibri" pitchFamily="34" charset="-122"/>
                <a:cs typeface="Calibri" pitchFamily="34" charset="-120"/>
              </a:rPr>
              <a:t>normal</a:t>
            </a:r>
            <a:endParaRPr lang="en-US" sz="1050" dirty="0"/>
          </a:p>
        </p:txBody>
      </p:sp>
      <p:sp>
        <p:nvSpPr>
          <p:cNvPr id="23" name="Shape 21"/>
          <p:cNvSpPr/>
          <p:nvPr/>
        </p:nvSpPr>
        <p:spPr>
          <a:xfrm>
            <a:off x="2898648" y="2880360"/>
            <a:ext cx="1444752" cy="329184"/>
          </a:xfrm>
          <a:prstGeom prst="roundRect">
            <a:avLst>
              <a:gd name="adj" fmla="val 16667"/>
            </a:avLst>
          </a:prstGeom>
          <a:solidFill>
            <a:srgbClr val="EDF5F5"/>
          </a:solidFill>
          <a:ln w="12700">
            <a:solidFill>
              <a:srgbClr val="EDF5F5"/>
            </a:solidFill>
            <a:prstDash val="solid"/>
          </a:ln>
        </p:spPr>
        <p:txBody>
          <a:bodyPr/>
          <a:lstStyle/>
          <a:p>
            <a:endParaRPr lang="sv-SE"/>
          </a:p>
        </p:txBody>
      </p:sp>
      <p:sp>
        <p:nvSpPr>
          <p:cNvPr id="24" name="Shape 22"/>
          <p:cNvSpPr/>
          <p:nvPr/>
        </p:nvSpPr>
        <p:spPr>
          <a:xfrm>
            <a:off x="3035808" y="2980944"/>
            <a:ext cx="128016" cy="128016"/>
          </a:xfrm>
          <a:prstGeom prst="ellipse">
            <a:avLst/>
          </a:prstGeom>
          <a:solidFill>
            <a:srgbClr val="E8604C"/>
          </a:solidFill>
          <a:ln w="12700">
            <a:solidFill>
              <a:srgbClr val="333333"/>
            </a:solidFill>
            <a:prstDash val="solid"/>
          </a:ln>
        </p:spPr>
        <p:txBody>
          <a:bodyPr/>
          <a:lstStyle/>
          <a:p>
            <a:endParaRPr lang="sv-SE"/>
          </a:p>
        </p:txBody>
      </p:sp>
      <p:sp>
        <p:nvSpPr>
          <p:cNvPr id="25" name="Text 23"/>
          <p:cNvSpPr txBox="1"/>
          <p:nvPr/>
        </p:nvSpPr>
        <p:spPr>
          <a:xfrm>
            <a:off x="3246120" y="2880360"/>
            <a:ext cx="1051560" cy="329184"/>
          </a:xfrm>
          <a:prstGeom prst="rect">
            <a:avLst/>
          </a:prstGeom>
          <a:noFill/>
          <a:ln/>
        </p:spPr>
        <p:txBody>
          <a:bodyPr wrap="square" lIns="0" tIns="0" rIns="0" bIns="0" rtlCol="0" anchor="ctr"/>
          <a:lstStyle/>
          <a:p>
            <a:pPr marL="0" indent="0">
              <a:buNone/>
            </a:pPr>
            <a:r>
              <a:rPr lang="en-US" sz="1050" b="1" dirty="0">
                <a:solidFill>
                  <a:srgbClr val="16262B"/>
                </a:solidFill>
                <a:latin typeface="Calibri" pitchFamily="34" charset="0"/>
                <a:ea typeface="Calibri" pitchFamily="34" charset="-122"/>
                <a:cs typeface="Calibri" pitchFamily="34" charset="-120"/>
              </a:rPr>
              <a:t>abnormal</a:t>
            </a:r>
            <a:endParaRPr lang="en-US" sz="1050" dirty="0"/>
          </a:p>
        </p:txBody>
      </p:sp>
      <p:sp>
        <p:nvSpPr>
          <p:cNvPr id="26" name="Text 24"/>
          <p:cNvSpPr txBox="1"/>
          <p:nvPr/>
        </p:nvSpPr>
        <p:spPr>
          <a:xfrm>
            <a:off x="457200" y="3383280"/>
            <a:ext cx="868680" cy="329184"/>
          </a:xfrm>
          <a:prstGeom prst="rect">
            <a:avLst/>
          </a:prstGeom>
          <a:noFill/>
          <a:ln/>
        </p:spPr>
        <p:txBody>
          <a:bodyPr wrap="square" lIns="0" tIns="0" rIns="0" bIns="0" rtlCol="0" anchor="ctr"/>
          <a:lstStyle/>
          <a:p>
            <a:pPr marL="0" indent="0">
              <a:buNone/>
            </a:pPr>
            <a:r>
              <a:rPr lang="en-US" sz="1000" b="1" kern="0" spc="150" dirty="0">
                <a:solidFill>
                  <a:srgbClr val="028090"/>
                </a:solidFill>
                <a:latin typeface="Calibri" pitchFamily="34" charset="0"/>
                <a:ea typeface="Calibri" pitchFamily="34" charset="-122"/>
                <a:cs typeface="Calibri" pitchFamily="34" charset="-120"/>
              </a:rPr>
              <a:t>GOAL</a:t>
            </a:r>
            <a:endParaRPr lang="en-US" sz="1000" dirty="0"/>
          </a:p>
        </p:txBody>
      </p:sp>
      <p:sp>
        <p:nvSpPr>
          <p:cNvPr id="27" name="Shape 25"/>
          <p:cNvSpPr/>
          <p:nvPr/>
        </p:nvSpPr>
        <p:spPr>
          <a:xfrm>
            <a:off x="1371600" y="3383280"/>
            <a:ext cx="1444752" cy="329184"/>
          </a:xfrm>
          <a:prstGeom prst="roundRect">
            <a:avLst>
              <a:gd name="adj" fmla="val 16667"/>
            </a:avLst>
          </a:prstGeom>
          <a:solidFill>
            <a:srgbClr val="EDF5F5"/>
          </a:solidFill>
          <a:ln w="12700">
            <a:solidFill>
              <a:srgbClr val="EDF5F5"/>
            </a:solidFill>
            <a:prstDash val="solid"/>
          </a:ln>
        </p:spPr>
        <p:txBody>
          <a:bodyPr/>
          <a:lstStyle/>
          <a:p>
            <a:endParaRPr lang="sv-SE"/>
          </a:p>
        </p:txBody>
      </p:sp>
      <p:sp>
        <p:nvSpPr>
          <p:cNvPr id="28" name="Shape 26"/>
          <p:cNvSpPr/>
          <p:nvPr/>
        </p:nvSpPr>
        <p:spPr>
          <a:xfrm>
            <a:off x="1508760" y="3483864"/>
            <a:ext cx="128016" cy="128016"/>
          </a:xfrm>
          <a:prstGeom prst="ellipse">
            <a:avLst/>
          </a:prstGeom>
          <a:solidFill>
            <a:srgbClr val="028090"/>
          </a:solidFill>
          <a:ln w="12700">
            <a:solidFill>
              <a:srgbClr val="333333"/>
            </a:solidFill>
            <a:prstDash val="solid"/>
          </a:ln>
        </p:spPr>
        <p:txBody>
          <a:bodyPr/>
          <a:lstStyle/>
          <a:p>
            <a:endParaRPr lang="sv-SE"/>
          </a:p>
        </p:txBody>
      </p:sp>
      <p:sp>
        <p:nvSpPr>
          <p:cNvPr id="29" name="Text 27"/>
          <p:cNvSpPr txBox="1"/>
          <p:nvPr/>
        </p:nvSpPr>
        <p:spPr>
          <a:xfrm>
            <a:off x="1719072" y="3383280"/>
            <a:ext cx="1051560" cy="329184"/>
          </a:xfrm>
          <a:prstGeom prst="rect">
            <a:avLst/>
          </a:prstGeom>
          <a:noFill/>
          <a:ln/>
        </p:spPr>
        <p:txBody>
          <a:bodyPr wrap="square" lIns="0" tIns="0" rIns="0" bIns="0" rtlCol="0" anchor="ctr"/>
          <a:lstStyle/>
          <a:p>
            <a:pPr marL="0" indent="0">
              <a:buNone/>
            </a:pPr>
            <a:r>
              <a:rPr lang="en-US" sz="1050" b="1" dirty="0">
                <a:solidFill>
                  <a:srgbClr val="16262B"/>
                </a:solidFill>
                <a:latin typeface="Calibri" pitchFamily="34" charset="0"/>
                <a:ea typeface="Calibri" pitchFamily="34" charset="-122"/>
                <a:cs typeface="Calibri" pitchFamily="34" charset="-120"/>
              </a:rPr>
              <a:t>normal</a:t>
            </a:r>
            <a:endParaRPr lang="en-US" sz="1050" dirty="0"/>
          </a:p>
        </p:txBody>
      </p:sp>
      <p:sp>
        <p:nvSpPr>
          <p:cNvPr id="30" name="Shape 28"/>
          <p:cNvSpPr/>
          <p:nvPr/>
        </p:nvSpPr>
        <p:spPr>
          <a:xfrm>
            <a:off x="2898648" y="3383280"/>
            <a:ext cx="1444752" cy="329184"/>
          </a:xfrm>
          <a:prstGeom prst="roundRect">
            <a:avLst>
              <a:gd name="adj" fmla="val 16667"/>
            </a:avLst>
          </a:prstGeom>
          <a:solidFill>
            <a:srgbClr val="EDF5F5"/>
          </a:solidFill>
          <a:ln w="12700">
            <a:solidFill>
              <a:srgbClr val="EDF5F5"/>
            </a:solidFill>
            <a:prstDash val="solid"/>
          </a:ln>
        </p:spPr>
        <p:txBody>
          <a:bodyPr/>
          <a:lstStyle/>
          <a:p>
            <a:endParaRPr lang="sv-SE"/>
          </a:p>
        </p:txBody>
      </p:sp>
      <p:sp>
        <p:nvSpPr>
          <p:cNvPr id="31" name="Shape 29"/>
          <p:cNvSpPr/>
          <p:nvPr/>
        </p:nvSpPr>
        <p:spPr>
          <a:xfrm>
            <a:off x="3035808" y="3483864"/>
            <a:ext cx="128016" cy="128016"/>
          </a:xfrm>
          <a:prstGeom prst="ellipse">
            <a:avLst/>
          </a:prstGeom>
          <a:solidFill>
            <a:srgbClr val="0095AD"/>
          </a:solidFill>
          <a:ln w="12700">
            <a:solidFill>
              <a:srgbClr val="333333"/>
            </a:solidFill>
            <a:prstDash val="solid"/>
          </a:ln>
        </p:spPr>
        <p:txBody>
          <a:bodyPr/>
          <a:lstStyle/>
          <a:p>
            <a:endParaRPr lang="sv-SE"/>
          </a:p>
        </p:txBody>
      </p:sp>
      <p:sp>
        <p:nvSpPr>
          <p:cNvPr id="32" name="Text 30"/>
          <p:cNvSpPr txBox="1"/>
          <p:nvPr/>
        </p:nvSpPr>
        <p:spPr>
          <a:xfrm>
            <a:off x="3246120" y="3383280"/>
            <a:ext cx="1051560" cy="329184"/>
          </a:xfrm>
          <a:prstGeom prst="rect">
            <a:avLst/>
          </a:prstGeom>
          <a:noFill/>
          <a:ln/>
        </p:spPr>
        <p:txBody>
          <a:bodyPr wrap="square" lIns="0" tIns="0" rIns="0" bIns="0" rtlCol="0" anchor="ctr"/>
          <a:lstStyle/>
          <a:p>
            <a:pPr marL="0" indent="0">
              <a:buNone/>
            </a:pPr>
            <a:r>
              <a:rPr lang="en-US" sz="1050" b="1" dirty="0">
                <a:solidFill>
                  <a:srgbClr val="16262B"/>
                </a:solidFill>
                <a:latin typeface="Calibri" pitchFamily="34" charset="0"/>
                <a:ea typeface="Calibri" pitchFamily="34" charset="-122"/>
                <a:cs typeface="Calibri" pitchFamily="34" charset="-120"/>
              </a:rPr>
              <a:t>gauge fault</a:t>
            </a:r>
            <a:endParaRPr lang="en-US" sz="1050" dirty="0"/>
          </a:p>
        </p:txBody>
      </p:sp>
      <p:sp>
        <p:nvSpPr>
          <p:cNvPr id="33" name="Shape 31"/>
          <p:cNvSpPr/>
          <p:nvPr/>
        </p:nvSpPr>
        <p:spPr>
          <a:xfrm>
            <a:off x="4425696" y="3383280"/>
            <a:ext cx="1444752" cy="329184"/>
          </a:xfrm>
          <a:prstGeom prst="roundRect">
            <a:avLst>
              <a:gd name="adj" fmla="val 16667"/>
            </a:avLst>
          </a:prstGeom>
          <a:solidFill>
            <a:srgbClr val="EDF5F5"/>
          </a:solidFill>
          <a:ln w="12700">
            <a:solidFill>
              <a:srgbClr val="EDF5F5"/>
            </a:solidFill>
            <a:prstDash val="solid"/>
          </a:ln>
        </p:spPr>
        <p:txBody>
          <a:bodyPr/>
          <a:lstStyle/>
          <a:p>
            <a:endParaRPr lang="sv-SE"/>
          </a:p>
        </p:txBody>
      </p:sp>
      <p:sp>
        <p:nvSpPr>
          <p:cNvPr id="34" name="Shape 32"/>
          <p:cNvSpPr/>
          <p:nvPr/>
        </p:nvSpPr>
        <p:spPr>
          <a:xfrm>
            <a:off x="4562856" y="3483864"/>
            <a:ext cx="128016" cy="128016"/>
          </a:xfrm>
          <a:prstGeom prst="ellipse">
            <a:avLst/>
          </a:prstGeom>
          <a:solidFill>
            <a:srgbClr val="E8604C"/>
          </a:solidFill>
          <a:ln w="12700">
            <a:solidFill>
              <a:srgbClr val="333333"/>
            </a:solidFill>
            <a:prstDash val="solid"/>
          </a:ln>
        </p:spPr>
        <p:txBody>
          <a:bodyPr/>
          <a:lstStyle/>
          <a:p>
            <a:endParaRPr lang="sv-SE"/>
          </a:p>
        </p:txBody>
      </p:sp>
      <p:sp>
        <p:nvSpPr>
          <p:cNvPr id="35" name="Text 33"/>
          <p:cNvSpPr txBox="1"/>
          <p:nvPr/>
        </p:nvSpPr>
        <p:spPr>
          <a:xfrm>
            <a:off x="4773168" y="3383280"/>
            <a:ext cx="1051560" cy="329184"/>
          </a:xfrm>
          <a:prstGeom prst="rect">
            <a:avLst/>
          </a:prstGeom>
          <a:noFill/>
          <a:ln/>
        </p:spPr>
        <p:txBody>
          <a:bodyPr wrap="square" lIns="0" tIns="0" rIns="0" bIns="0" rtlCol="0" anchor="ctr"/>
          <a:lstStyle/>
          <a:p>
            <a:pPr marL="0" indent="0">
              <a:buNone/>
            </a:pPr>
            <a:r>
              <a:rPr lang="en-US" sz="1050" b="1" dirty="0">
                <a:solidFill>
                  <a:srgbClr val="16262B"/>
                </a:solidFill>
                <a:latin typeface="Calibri" pitchFamily="34" charset="0"/>
                <a:ea typeface="Calibri" pitchFamily="34" charset="-122"/>
                <a:cs typeface="Calibri" pitchFamily="34" charset="-120"/>
              </a:rPr>
              <a:t>twist fault</a:t>
            </a:r>
            <a:endParaRPr lang="en-US" sz="1050" dirty="0"/>
          </a:p>
        </p:txBody>
      </p:sp>
      <p:sp>
        <p:nvSpPr>
          <p:cNvPr id="36" name="Shape 34"/>
          <p:cNvSpPr/>
          <p:nvPr/>
        </p:nvSpPr>
        <p:spPr>
          <a:xfrm>
            <a:off x="5952744" y="3383280"/>
            <a:ext cx="1444752" cy="329184"/>
          </a:xfrm>
          <a:prstGeom prst="roundRect">
            <a:avLst>
              <a:gd name="adj" fmla="val 16667"/>
            </a:avLst>
          </a:prstGeom>
          <a:solidFill>
            <a:srgbClr val="EDF5F5"/>
          </a:solidFill>
          <a:ln w="12700">
            <a:solidFill>
              <a:srgbClr val="EDF5F5"/>
            </a:solidFill>
            <a:prstDash val="solid"/>
          </a:ln>
        </p:spPr>
        <p:txBody>
          <a:bodyPr/>
          <a:lstStyle/>
          <a:p>
            <a:endParaRPr lang="sv-SE"/>
          </a:p>
        </p:txBody>
      </p:sp>
      <p:sp>
        <p:nvSpPr>
          <p:cNvPr id="37" name="Shape 35"/>
          <p:cNvSpPr/>
          <p:nvPr/>
        </p:nvSpPr>
        <p:spPr>
          <a:xfrm>
            <a:off x="6089904" y="3483864"/>
            <a:ext cx="128016" cy="128016"/>
          </a:xfrm>
          <a:prstGeom prst="ellipse">
            <a:avLst/>
          </a:prstGeom>
          <a:solidFill>
            <a:srgbClr val="4A3AA7"/>
          </a:solidFill>
          <a:ln w="12700">
            <a:solidFill>
              <a:srgbClr val="333333"/>
            </a:solidFill>
            <a:prstDash val="solid"/>
          </a:ln>
        </p:spPr>
        <p:txBody>
          <a:bodyPr/>
          <a:lstStyle/>
          <a:p>
            <a:endParaRPr lang="sv-SE"/>
          </a:p>
        </p:txBody>
      </p:sp>
      <p:sp>
        <p:nvSpPr>
          <p:cNvPr id="38" name="Text 36"/>
          <p:cNvSpPr txBox="1"/>
          <p:nvPr/>
        </p:nvSpPr>
        <p:spPr>
          <a:xfrm>
            <a:off x="6300216" y="3383280"/>
            <a:ext cx="1051560" cy="329184"/>
          </a:xfrm>
          <a:prstGeom prst="rect">
            <a:avLst/>
          </a:prstGeom>
          <a:noFill/>
          <a:ln/>
        </p:spPr>
        <p:txBody>
          <a:bodyPr wrap="square" lIns="0" tIns="0" rIns="0" bIns="0" rtlCol="0" anchor="ctr"/>
          <a:lstStyle/>
          <a:p>
            <a:pPr marL="0" indent="0">
              <a:buNone/>
            </a:pPr>
            <a:r>
              <a:rPr lang="en-US" sz="1050" b="1" dirty="0">
                <a:solidFill>
                  <a:srgbClr val="16262B"/>
                </a:solidFill>
                <a:latin typeface="Calibri" pitchFamily="34" charset="0"/>
                <a:ea typeface="Calibri" pitchFamily="34" charset="-122"/>
                <a:cs typeface="Calibri" pitchFamily="34" charset="-120"/>
              </a:rPr>
              <a:t>surface fault</a:t>
            </a:r>
            <a:endParaRPr lang="en-US" sz="1050" dirty="0"/>
          </a:p>
        </p:txBody>
      </p:sp>
      <p:sp>
        <p:nvSpPr>
          <p:cNvPr id="39" name="Text 37"/>
          <p:cNvSpPr txBox="1"/>
          <p:nvPr/>
        </p:nvSpPr>
        <p:spPr>
          <a:xfrm>
            <a:off x="457200" y="4069080"/>
            <a:ext cx="8229600" cy="310896"/>
          </a:xfrm>
          <a:prstGeom prst="rect">
            <a:avLst/>
          </a:prstGeom>
          <a:noFill/>
          <a:ln/>
        </p:spPr>
        <p:txBody>
          <a:bodyPr wrap="square" lIns="0" tIns="0" rIns="0" bIns="0" rtlCol="0" anchor="ctr"/>
          <a:lstStyle/>
          <a:p>
            <a:pPr marL="0" indent="0" algn="ctr">
              <a:buNone/>
            </a:pPr>
            <a:r>
              <a:rPr lang="en-US" sz="1300" b="1" i="1" dirty="0">
                <a:solidFill>
                  <a:srgbClr val="028090"/>
                </a:solidFill>
                <a:latin typeface="Cambria" pitchFamily="34" charset="0"/>
                <a:ea typeface="Cambria" pitchFamily="34" charset="-122"/>
                <a:cs typeface="Cambria" pitchFamily="34" charset="-120"/>
              </a:rPr>
              <a:t>Geometry defines what the fault types are. Vibration then tells them apart.</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ctr"/>
          <a:lstStyle/>
          <a:p>
            <a:pPr marL="0" indent="0">
              <a:buNone/>
            </a:pPr>
            <a:r>
              <a:rPr lang="en-US" sz="1100" b="1" kern="0" spc="200" dirty="0">
                <a:solidFill>
                  <a:srgbClr val="028090"/>
                </a:solidFill>
                <a:latin typeface="Calibri" pitchFamily="34" charset="0"/>
                <a:ea typeface="Calibri" pitchFamily="34" charset="-122"/>
                <a:cs typeface="Calibri" pitchFamily="34" charset="-120"/>
              </a:rPr>
              <a:t>PROGRESS</a:t>
            </a:r>
            <a:endParaRPr lang="en-US" sz="11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marL="0" indent="0">
              <a:buNone/>
            </a:pPr>
            <a:r>
              <a:rPr lang="en-US" sz="2700" b="1" dirty="0">
                <a:solidFill>
                  <a:srgbClr val="16262B"/>
                </a:solidFill>
                <a:latin typeface="Cambria" pitchFamily="34" charset="0"/>
                <a:ea typeface="Cambria" pitchFamily="34" charset="-122"/>
                <a:cs typeface="Cambria" pitchFamily="34" charset="-120"/>
              </a:rPr>
              <a:t>Where the project stands</a:t>
            </a:r>
            <a:endParaRPr lang="en-US" sz="2700" dirty="0"/>
          </a:p>
        </p:txBody>
      </p:sp>
      <p:sp>
        <p:nvSpPr>
          <p:cNvPr id="4" name="Shape 2"/>
          <p:cNvSpPr/>
          <p:nvPr/>
        </p:nvSpPr>
        <p:spPr>
          <a:xfrm>
            <a:off x="457200" y="1143000"/>
            <a:ext cx="8229600" cy="868680"/>
          </a:xfrm>
          <a:prstGeom prst="roundRect">
            <a:avLst>
              <a:gd name="adj" fmla="val 6316"/>
            </a:avLst>
          </a:prstGeom>
          <a:solidFill>
            <a:srgbClr val="EDF5F5"/>
          </a:solidFill>
          <a:ln w="12700">
            <a:solidFill>
              <a:srgbClr val="EDF5F5"/>
            </a:solidFill>
            <a:prstDash val="solid"/>
          </a:ln>
        </p:spPr>
        <p:txBody>
          <a:bodyPr/>
          <a:lstStyle/>
          <a:p>
            <a:endParaRPr lang="sv-SE"/>
          </a:p>
        </p:txBody>
      </p:sp>
      <p:sp>
        <p:nvSpPr>
          <p:cNvPr id="5" name="Text 3"/>
          <p:cNvSpPr txBox="1"/>
          <p:nvPr/>
        </p:nvSpPr>
        <p:spPr>
          <a:xfrm>
            <a:off x="713232" y="1243584"/>
            <a:ext cx="3657600" cy="219456"/>
          </a:xfrm>
          <a:prstGeom prst="rect">
            <a:avLst/>
          </a:prstGeom>
          <a:noFill/>
          <a:ln/>
        </p:spPr>
        <p:txBody>
          <a:bodyPr wrap="square" lIns="0" tIns="0" rIns="0" bIns="0" rtlCol="0" anchor="ctr"/>
          <a:lstStyle/>
          <a:p>
            <a:pPr marL="0" indent="0">
              <a:buNone/>
            </a:pPr>
            <a:r>
              <a:rPr lang="en-US" sz="1000" b="1" kern="0" spc="150" dirty="0">
                <a:solidFill>
                  <a:srgbClr val="028090"/>
                </a:solidFill>
                <a:latin typeface="Calibri" pitchFamily="34" charset="0"/>
                <a:ea typeface="Calibri" pitchFamily="34" charset="-122"/>
                <a:cs typeface="Calibri" pitchFamily="34" charset="-120"/>
              </a:rPr>
              <a:t>PHASE 1 GOAL</a:t>
            </a:r>
            <a:endParaRPr lang="en-US" sz="1000" dirty="0"/>
          </a:p>
        </p:txBody>
      </p:sp>
      <p:sp>
        <p:nvSpPr>
          <p:cNvPr id="6" name="Text 4"/>
          <p:cNvSpPr txBox="1"/>
          <p:nvPr/>
        </p:nvSpPr>
        <p:spPr>
          <a:xfrm>
            <a:off x="713232" y="1463040"/>
            <a:ext cx="7726680" cy="457200"/>
          </a:xfrm>
          <a:prstGeom prst="rect">
            <a:avLst/>
          </a:prstGeom>
          <a:noFill/>
          <a:ln/>
        </p:spPr>
        <p:txBody>
          <a:bodyPr wrap="square" lIns="0" tIns="0" rIns="0" bIns="0" rtlCol="0" anchor="ctr"/>
          <a:lstStyle/>
          <a:p>
            <a:pPr marL="0" indent="0">
              <a:buNone/>
            </a:pPr>
            <a:r>
              <a:rPr lang="en-US" sz="1250" dirty="0">
                <a:solidFill>
                  <a:srgbClr val="16262B"/>
                </a:solidFill>
                <a:latin typeface="Calibri" pitchFamily="34" charset="0"/>
                <a:ea typeface="Calibri" pitchFamily="34" charset="-122"/>
                <a:cs typeface="Calibri" pitchFamily="34" charset="-120"/>
              </a:rPr>
              <a:t>Understand what the common track geometry faults are, agree the scope with Amit, and have the tools and a test point cloud ready so the work can start as soon as the LTU data arrives.</a:t>
            </a:r>
            <a:endParaRPr lang="en-US" sz="1250" dirty="0"/>
          </a:p>
        </p:txBody>
      </p:sp>
      <p:sp>
        <p:nvSpPr>
          <p:cNvPr id="7" name="Shape 5"/>
          <p:cNvSpPr/>
          <p:nvPr/>
        </p:nvSpPr>
        <p:spPr>
          <a:xfrm>
            <a:off x="402336" y="2322576"/>
            <a:ext cx="8339328" cy="1929384"/>
          </a:xfrm>
          <a:prstGeom prst="rect">
            <a:avLst/>
          </a:prstGeom>
          <a:solidFill>
            <a:srgbClr val="FFFFFF"/>
          </a:solidFill>
          <a:ln w="9525">
            <a:solidFill>
              <a:srgbClr val="CBDBDD"/>
            </a:solidFill>
            <a:prstDash val="solid"/>
          </a:ln>
        </p:spPr>
        <p:txBody>
          <a:bodyPr/>
          <a:lstStyle/>
          <a:p>
            <a:endParaRPr lang="sv-SE"/>
          </a:p>
        </p:txBody>
      </p:sp>
      <p:pic>
        <p:nvPicPr>
          <p:cNvPr id="8" name="Image 0" descr="/home/claude/timeplan.png"/>
          <p:cNvPicPr>
            <a:picLocks noChangeAspect="1"/>
          </p:cNvPicPr>
          <p:nvPr/>
        </p:nvPicPr>
        <p:blipFill>
          <a:blip r:embed="rId3"/>
          <a:stretch>
            <a:fillRect/>
          </a:stretch>
        </p:blipFill>
        <p:spPr>
          <a:xfrm>
            <a:off x="457200" y="2377440"/>
            <a:ext cx="8229600" cy="1819656"/>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2027"/>
        </a:solidFill>
        <a:effectLst/>
      </p:bgPr>
    </p:bg>
    <p:spTree>
      <p:nvGrpSpPr>
        <p:cNvPr id="1" name=""/>
        <p:cNvGrpSpPr/>
        <p:nvPr/>
      </p:nvGrpSpPr>
      <p:grpSpPr>
        <a:xfrm>
          <a:off x="0" y="0"/>
          <a:ext cx="0" cy="0"/>
          <a:chOff x="0" y="0"/>
          <a:chExt cx="0" cy="0"/>
        </a:xfrm>
      </p:grpSpPr>
      <p:sp>
        <p:nvSpPr>
          <p:cNvPr id="2" name="Shape 0"/>
          <p:cNvSpPr/>
          <p:nvPr/>
        </p:nvSpPr>
        <p:spPr>
          <a:xfrm>
            <a:off x="-1463040" y="3108960"/>
            <a:ext cx="3291840" cy="3291840"/>
          </a:xfrm>
          <a:prstGeom prst="ellipse">
            <a:avLst/>
          </a:prstGeom>
          <a:solidFill>
            <a:srgbClr val="028090">
              <a:alpha val="18000"/>
            </a:srgbClr>
          </a:solidFill>
          <a:ln w="12700">
            <a:solidFill>
              <a:srgbClr val="333333"/>
            </a:solidFill>
            <a:prstDash val="solid"/>
          </a:ln>
        </p:spPr>
        <p:txBody>
          <a:bodyPr/>
          <a:lstStyle/>
          <a:p>
            <a:endParaRPr lang="sv-SE"/>
          </a:p>
        </p:txBody>
      </p:sp>
      <p:sp>
        <p:nvSpPr>
          <p:cNvPr id="3" name="Shape 1"/>
          <p:cNvSpPr/>
          <p:nvPr/>
        </p:nvSpPr>
        <p:spPr>
          <a:xfrm>
            <a:off x="7315200" y="-1188720"/>
            <a:ext cx="3108960" cy="3108960"/>
          </a:xfrm>
          <a:prstGeom prst="ellipse">
            <a:avLst/>
          </a:prstGeom>
          <a:solidFill>
            <a:srgbClr val="00A896">
              <a:alpha val="14000"/>
            </a:srgbClr>
          </a:solidFill>
          <a:ln w="12700">
            <a:solidFill>
              <a:srgbClr val="333333"/>
            </a:solidFill>
            <a:prstDash val="solid"/>
          </a:ln>
        </p:spPr>
        <p:txBody>
          <a:bodyPr/>
          <a:lstStyle/>
          <a:p>
            <a:endParaRPr lang="sv-SE"/>
          </a:p>
        </p:txBody>
      </p:sp>
      <p:sp>
        <p:nvSpPr>
          <p:cNvPr id="4" name="Text 2"/>
          <p:cNvSpPr txBox="1"/>
          <p:nvPr/>
        </p:nvSpPr>
        <p:spPr>
          <a:xfrm>
            <a:off x="457200" y="274320"/>
            <a:ext cx="8229600" cy="228600"/>
          </a:xfrm>
          <a:prstGeom prst="rect">
            <a:avLst/>
          </a:prstGeom>
          <a:noFill/>
          <a:ln/>
        </p:spPr>
        <p:txBody>
          <a:bodyPr wrap="square" lIns="0" tIns="0" rIns="0" bIns="0" rtlCol="0" anchor="ctr"/>
          <a:lstStyle/>
          <a:p>
            <a:pPr marL="0" indent="0">
              <a:buNone/>
            </a:pPr>
            <a:r>
              <a:rPr lang="en-US" sz="1100" b="1" kern="0" spc="200" dirty="0">
                <a:solidFill>
                  <a:srgbClr val="00A896"/>
                </a:solidFill>
                <a:latin typeface="Calibri" pitchFamily="34" charset="0"/>
                <a:ea typeface="Calibri" pitchFamily="34" charset="-122"/>
                <a:cs typeface="Calibri" pitchFamily="34" charset="-120"/>
              </a:rPr>
              <a:t>DISCUSSION</a:t>
            </a:r>
            <a:endParaRPr lang="en-US" sz="1100" dirty="0"/>
          </a:p>
        </p:txBody>
      </p:sp>
      <p:sp>
        <p:nvSpPr>
          <p:cNvPr id="5" name="Text 3"/>
          <p:cNvSpPr txBox="1"/>
          <p:nvPr/>
        </p:nvSpPr>
        <p:spPr>
          <a:xfrm>
            <a:off x="457200" y="1828800"/>
            <a:ext cx="8229600" cy="1005840"/>
          </a:xfrm>
          <a:prstGeom prst="rect">
            <a:avLst/>
          </a:prstGeom>
          <a:noFill/>
          <a:ln/>
        </p:spPr>
        <p:txBody>
          <a:bodyPr wrap="square" lIns="0" tIns="0" rIns="0" bIns="0" rtlCol="0" anchor="ctr"/>
          <a:lstStyle/>
          <a:p>
            <a:pPr marL="0" indent="0" algn="ctr">
              <a:buNone/>
            </a:pPr>
            <a:r>
              <a:rPr lang="en-US" sz="5200" b="1" dirty="0">
                <a:solidFill>
                  <a:srgbClr val="FFFFFF"/>
                </a:solidFill>
                <a:latin typeface="Cambria" pitchFamily="34" charset="0"/>
                <a:ea typeface="Cambria" pitchFamily="34" charset="-122"/>
                <a:cs typeface="Cambria" pitchFamily="34" charset="-120"/>
              </a:rPr>
              <a:t>Questions?</a:t>
            </a:r>
            <a:endParaRPr lang="en-US" sz="5200" dirty="0"/>
          </a:p>
        </p:txBody>
      </p:sp>
      <p:sp>
        <p:nvSpPr>
          <p:cNvPr id="6" name="Text 4"/>
          <p:cNvSpPr txBox="1"/>
          <p:nvPr/>
        </p:nvSpPr>
        <p:spPr>
          <a:xfrm>
            <a:off x="457200" y="2926080"/>
            <a:ext cx="8229600" cy="320040"/>
          </a:xfrm>
          <a:prstGeom prst="rect">
            <a:avLst/>
          </a:prstGeom>
          <a:noFill/>
          <a:ln/>
        </p:spPr>
        <p:txBody>
          <a:bodyPr wrap="square" lIns="0" tIns="0" rIns="0" bIns="0" rtlCol="0" anchor="ctr"/>
          <a:lstStyle/>
          <a:p>
            <a:pPr marL="0" indent="0" algn="ctr">
              <a:buNone/>
            </a:pPr>
            <a:r>
              <a:rPr lang="en-US" sz="1350" dirty="0">
                <a:solidFill>
                  <a:srgbClr val="00A896"/>
                </a:solidFill>
                <a:latin typeface="Calibri" pitchFamily="34" charset="0"/>
                <a:ea typeface="Calibri" pitchFamily="34" charset="-122"/>
                <a:cs typeface="Calibri" pitchFamily="34" charset="-120"/>
              </a:rPr>
              <a:t>Viktor Lindberg  ·  viklio-3@student.ltu.se</a:t>
            </a:r>
            <a:endParaRPr lang="en-US" sz="1350" dirty="0"/>
          </a:p>
        </p:txBody>
      </p:sp>
      <p:sp>
        <p:nvSpPr>
          <p:cNvPr id="7" name="Text 5"/>
          <p:cNvSpPr txBox="1"/>
          <p:nvPr/>
        </p:nvSpPr>
        <p:spPr>
          <a:xfrm>
            <a:off x="457200" y="4206240"/>
            <a:ext cx="8229600" cy="365760"/>
          </a:xfrm>
          <a:prstGeom prst="rect">
            <a:avLst/>
          </a:prstGeom>
          <a:noFill/>
          <a:ln/>
        </p:spPr>
        <p:txBody>
          <a:bodyPr wrap="square" lIns="0" tIns="0" rIns="0" bIns="0" rtlCol="0" anchor="ctr"/>
          <a:lstStyle/>
          <a:p>
            <a:pPr marL="0" indent="0" algn="ctr">
              <a:buNone/>
            </a:pPr>
            <a:r>
              <a:rPr lang="en-US" sz="1800" i="1" dirty="0">
                <a:solidFill>
                  <a:srgbClr val="C7D8DB"/>
                </a:solidFill>
                <a:latin typeface="Cambria" pitchFamily="34" charset="0"/>
                <a:ea typeface="Cambria" pitchFamily="34" charset="-122"/>
                <a:cs typeface="Cambria" pitchFamily="34" charset="-120"/>
              </a:rPr>
              <a:t>Thank you</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ctr"/>
          <a:lstStyle/>
          <a:p>
            <a:pPr marL="0" indent="0">
              <a:buNone/>
            </a:pPr>
            <a:r>
              <a:rPr lang="en-US" sz="1100" b="1" kern="0" spc="200" dirty="0">
                <a:solidFill>
                  <a:srgbClr val="028090"/>
                </a:solidFill>
                <a:latin typeface="Calibri" pitchFamily="34" charset="0"/>
                <a:ea typeface="Calibri" pitchFamily="34" charset="-122"/>
                <a:cs typeface="Calibri" pitchFamily="34" charset="-120"/>
              </a:rPr>
              <a:t>THE GOAL</a:t>
            </a:r>
            <a:endParaRPr lang="en-US" sz="11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marL="0" indent="0">
              <a:buNone/>
            </a:pPr>
            <a:r>
              <a:rPr lang="en-US" sz="2700" b="1" dirty="0">
                <a:solidFill>
                  <a:srgbClr val="16262B"/>
                </a:solidFill>
                <a:latin typeface="Cambria" pitchFamily="34" charset="0"/>
                <a:ea typeface="Cambria" pitchFamily="34" charset="-122"/>
                <a:cs typeface="Cambria" pitchFamily="34" charset="-120"/>
              </a:rPr>
              <a:t>From one abnormal class to named fault types</a:t>
            </a:r>
            <a:endParaRPr lang="en-US" sz="2700" dirty="0"/>
          </a:p>
        </p:txBody>
      </p:sp>
      <p:sp>
        <p:nvSpPr>
          <p:cNvPr id="4" name="Text 2"/>
          <p:cNvSpPr txBox="1"/>
          <p:nvPr/>
        </p:nvSpPr>
        <p:spPr>
          <a:xfrm>
            <a:off x="457200" y="1133856"/>
            <a:ext cx="868680" cy="329184"/>
          </a:xfrm>
          <a:prstGeom prst="rect">
            <a:avLst/>
          </a:prstGeom>
          <a:noFill/>
          <a:ln/>
        </p:spPr>
        <p:txBody>
          <a:bodyPr wrap="square" lIns="0" tIns="0" rIns="0" bIns="0" rtlCol="0" anchor="ctr"/>
          <a:lstStyle/>
          <a:p>
            <a:pPr marL="0" indent="0">
              <a:buNone/>
            </a:pPr>
            <a:r>
              <a:rPr lang="en-US" sz="1000" b="1" kern="0" spc="150" dirty="0">
                <a:solidFill>
                  <a:srgbClr val="5F7178"/>
                </a:solidFill>
                <a:latin typeface="Calibri" pitchFamily="34" charset="0"/>
                <a:ea typeface="Calibri" pitchFamily="34" charset="-122"/>
                <a:cs typeface="Calibri" pitchFamily="34" charset="-120"/>
              </a:rPr>
              <a:t>TODAY</a:t>
            </a:r>
            <a:endParaRPr lang="en-US" sz="1000" dirty="0"/>
          </a:p>
        </p:txBody>
      </p:sp>
      <p:sp>
        <p:nvSpPr>
          <p:cNvPr id="5" name="Shape 3"/>
          <p:cNvSpPr/>
          <p:nvPr/>
        </p:nvSpPr>
        <p:spPr>
          <a:xfrm>
            <a:off x="1371600" y="1133856"/>
            <a:ext cx="1444752" cy="329184"/>
          </a:xfrm>
          <a:prstGeom prst="roundRect">
            <a:avLst>
              <a:gd name="adj" fmla="val 16667"/>
            </a:avLst>
          </a:prstGeom>
          <a:solidFill>
            <a:srgbClr val="EDF5F5"/>
          </a:solidFill>
          <a:ln w="12700">
            <a:solidFill>
              <a:srgbClr val="EDF5F5"/>
            </a:solidFill>
            <a:prstDash val="solid"/>
          </a:ln>
        </p:spPr>
        <p:txBody>
          <a:bodyPr/>
          <a:lstStyle/>
          <a:p>
            <a:endParaRPr lang="sv-SE"/>
          </a:p>
        </p:txBody>
      </p:sp>
      <p:sp>
        <p:nvSpPr>
          <p:cNvPr id="6" name="Shape 4"/>
          <p:cNvSpPr/>
          <p:nvPr/>
        </p:nvSpPr>
        <p:spPr>
          <a:xfrm>
            <a:off x="1508760" y="1234440"/>
            <a:ext cx="128016" cy="128016"/>
          </a:xfrm>
          <a:prstGeom prst="ellipse">
            <a:avLst/>
          </a:prstGeom>
          <a:solidFill>
            <a:srgbClr val="028090"/>
          </a:solidFill>
          <a:ln w="12700">
            <a:solidFill>
              <a:srgbClr val="333333"/>
            </a:solidFill>
            <a:prstDash val="solid"/>
          </a:ln>
        </p:spPr>
        <p:txBody>
          <a:bodyPr/>
          <a:lstStyle/>
          <a:p>
            <a:endParaRPr lang="sv-SE"/>
          </a:p>
        </p:txBody>
      </p:sp>
      <p:sp>
        <p:nvSpPr>
          <p:cNvPr id="7" name="Text 5"/>
          <p:cNvSpPr txBox="1"/>
          <p:nvPr/>
        </p:nvSpPr>
        <p:spPr>
          <a:xfrm>
            <a:off x="1719072" y="1133856"/>
            <a:ext cx="1051560" cy="329184"/>
          </a:xfrm>
          <a:prstGeom prst="rect">
            <a:avLst/>
          </a:prstGeom>
          <a:noFill/>
          <a:ln/>
        </p:spPr>
        <p:txBody>
          <a:bodyPr wrap="square" lIns="0" tIns="0" rIns="0" bIns="0" rtlCol="0" anchor="ctr"/>
          <a:lstStyle/>
          <a:p>
            <a:pPr marL="0" indent="0">
              <a:buNone/>
            </a:pPr>
            <a:r>
              <a:rPr lang="en-US" sz="1050" b="1" dirty="0">
                <a:solidFill>
                  <a:srgbClr val="16262B"/>
                </a:solidFill>
                <a:latin typeface="Calibri" pitchFamily="34" charset="0"/>
                <a:ea typeface="Calibri" pitchFamily="34" charset="-122"/>
                <a:cs typeface="Calibri" pitchFamily="34" charset="-120"/>
              </a:rPr>
              <a:t>normal</a:t>
            </a:r>
            <a:endParaRPr lang="en-US" sz="1050" dirty="0"/>
          </a:p>
        </p:txBody>
      </p:sp>
      <p:sp>
        <p:nvSpPr>
          <p:cNvPr id="8" name="Shape 6"/>
          <p:cNvSpPr/>
          <p:nvPr/>
        </p:nvSpPr>
        <p:spPr>
          <a:xfrm>
            <a:off x="2898648" y="1133856"/>
            <a:ext cx="1444752" cy="329184"/>
          </a:xfrm>
          <a:prstGeom prst="roundRect">
            <a:avLst>
              <a:gd name="adj" fmla="val 16667"/>
            </a:avLst>
          </a:prstGeom>
          <a:solidFill>
            <a:srgbClr val="EDF5F5"/>
          </a:solidFill>
          <a:ln w="12700">
            <a:solidFill>
              <a:srgbClr val="EDF5F5"/>
            </a:solidFill>
            <a:prstDash val="solid"/>
          </a:ln>
        </p:spPr>
        <p:txBody>
          <a:bodyPr/>
          <a:lstStyle/>
          <a:p>
            <a:endParaRPr lang="sv-SE"/>
          </a:p>
        </p:txBody>
      </p:sp>
      <p:sp>
        <p:nvSpPr>
          <p:cNvPr id="9" name="Shape 7"/>
          <p:cNvSpPr/>
          <p:nvPr/>
        </p:nvSpPr>
        <p:spPr>
          <a:xfrm>
            <a:off x="3035808" y="1234440"/>
            <a:ext cx="128016" cy="128016"/>
          </a:xfrm>
          <a:prstGeom prst="ellipse">
            <a:avLst/>
          </a:prstGeom>
          <a:solidFill>
            <a:srgbClr val="E8604C"/>
          </a:solidFill>
          <a:ln w="12700">
            <a:solidFill>
              <a:srgbClr val="333333"/>
            </a:solidFill>
            <a:prstDash val="solid"/>
          </a:ln>
        </p:spPr>
        <p:txBody>
          <a:bodyPr/>
          <a:lstStyle/>
          <a:p>
            <a:endParaRPr lang="sv-SE"/>
          </a:p>
        </p:txBody>
      </p:sp>
      <p:sp>
        <p:nvSpPr>
          <p:cNvPr id="10" name="Text 8"/>
          <p:cNvSpPr txBox="1"/>
          <p:nvPr/>
        </p:nvSpPr>
        <p:spPr>
          <a:xfrm>
            <a:off x="3246120" y="1133856"/>
            <a:ext cx="1051560" cy="329184"/>
          </a:xfrm>
          <a:prstGeom prst="rect">
            <a:avLst/>
          </a:prstGeom>
          <a:noFill/>
          <a:ln/>
        </p:spPr>
        <p:txBody>
          <a:bodyPr wrap="square" lIns="0" tIns="0" rIns="0" bIns="0" rtlCol="0" anchor="ctr"/>
          <a:lstStyle/>
          <a:p>
            <a:pPr marL="0" indent="0">
              <a:buNone/>
            </a:pPr>
            <a:r>
              <a:rPr lang="en-US" sz="1050" b="1" dirty="0">
                <a:solidFill>
                  <a:srgbClr val="16262B"/>
                </a:solidFill>
                <a:latin typeface="Calibri" pitchFamily="34" charset="0"/>
                <a:ea typeface="Calibri" pitchFamily="34" charset="-122"/>
                <a:cs typeface="Calibri" pitchFamily="34" charset="-120"/>
              </a:rPr>
              <a:t>abnormal</a:t>
            </a:r>
            <a:endParaRPr lang="en-US" sz="1050" dirty="0"/>
          </a:p>
        </p:txBody>
      </p:sp>
      <p:sp>
        <p:nvSpPr>
          <p:cNvPr id="11" name="Text 9"/>
          <p:cNvSpPr txBox="1"/>
          <p:nvPr/>
        </p:nvSpPr>
        <p:spPr>
          <a:xfrm>
            <a:off x="457200" y="1591056"/>
            <a:ext cx="868680" cy="329184"/>
          </a:xfrm>
          <a:prstGeom prst="rect">
            <a:avLst/>
          </a:prstGeom>
          <a:noFill/>
          <a:ln/>
        </p:spPr>
        <p:txBody>
          <a:bodyPr wrap="square" lIns="0" tIns="0" rIns="0" bIns="0" rtlCol="0" anchor="ctr"/>
          <a:lstStyle/>
          <a:p>
            <a:pPr marL="0" indent="0">
              <a:buNone/>
            </a:pPr>
            <a:r>
              <a:rPr lang="en-US" sz="1000" b="1" kern="0" spc="150" dirty="0">
                <a:solidFill>
                  <a:srgbClr val="028090"/>
                </a:solidFill>
                <a:latin typeface="Calibri" pitchFamily="34" charset="0"/>
                <a:ea typeface="Calibri" pitchFamily="34" charset="-122"/>
                <a:cs typeface="Calibri" pitchFamily="34" charset="-120"/>
              </a:rPr>
              <a:t>GOAL</a:t>
            </a:r>
            <a:endParaRPr lang="en-US" sz="1000" dirty="0"/>
          </a:p>
        </p:txBody>
      </p:sp>
      <p:sp>
        <p:nvSpPr>
          <p:cNvPr id="12" name="Shape 10"/>
          <p:cNvSpPr/>
          <p:nvPr/>
        </p:nvSpPr>
        <p:spPr>
          <a:xfrm>
            <a:off x="1371600" y="1591056"/>
            <a:ext cx="1444752" cy="329184"/>
          </a:xfrm>
          <a:prstGeom prst="roundRect">
            <a:avLst>
              <a:gd name="adj" fmla="val 16667"/>
            </a:avLst>
          </a:prstGeom>
          <a:solidFill>
            <a:srgbClr val="EDF5F5"/>
          </a:solidFill>
          <a:ln w="12700">
            <a:solidFill>
              <a:srgbClr val="EDF5F5"/>
            </a:solidFill>
            <a:prstDash val="solid"/>
          </a:ln>
        </p:spPr>
        <p:txBody>
          <a:bodyPr/>
          <a:lstStyle/>
          <a:p>
            <a:endParaRPr lang="sv-SE"/>
          </a:p>
        </p:txBody>
      </p:sp>
      <p:sp>
        <p:nvSpPr>
          <p:cNvPr id="13" name="Shape 11"/>
          <p:cNvSpPr/>
          <p:nvPr/>
        </p:nvSpPr>
        <p:spPr>
          <a:xfrm>
            <a:off x="1508760" y="1691640"/>
            <a:ext cx="128016" cy="128016"/>
          </a:xfrm>
          <a:prstGeom prst="ellipse">
            <a:avLst/>
          </a:prstGeom>
          <a:solidFill>
            <a:srgbClr val="028090"/>
          </a:solidFill>
          <a:ln w="12700">
            <a:solidFill>
              <a:srgbClr val="333333"/>
            </a:solidFill>
            <a:prstDash val="solid"/>
          </a:ln>
        </p:spPr>
        <p:txBody>
          <a:bodyPr/>
          <a:lstStyle/>
          <a:p>
            <a:endParaRPr lang="sv-SE"/>
          </a:p>
        </p:txBody>
      </p:sp>
      <p:sp>
        <p:nvSpPr>
          <p:cNvPr id="14" name="Text 12"/>
          <p:cNvSpPr txBox="1"/>
          <p:nvPr/>
        </p:nvSpPr>
        <p:spPr>
          <a:xfrm>
            <a:off x="1719072" y="1591056"/>
            <a:ext cx="1051560" cy="329184"/>
          </a:xfrm>
          <a:prstGeom prst="rect">
            <a:avLst/>
          </a:prstGeom>
          <a:noFill/>
          <a:ln/>
        </p:spPr>
        <p:txBody>
          <a:bodyPr wrap="square" lIns="0" tIns="0" rIns="0" bIns="0" rtlCol="0" anchor="ctr"/>
          <a:lstStyle/>
          <a:p>
            <a:pPr marL="0" indent="0">
              <a:buNone/>
            </a:pPr>
            <a:r>
              <a:rPr lang="en-US" sz="1050" b="1" dirty="0">
                <a:solidFill>
                  <a:srgbClr val="16262B"/>
                </a:solidFill>
                <a:latin typeface="Calibri" pitchFamily="34" charset="0"/>
                <a:ea typeface="Calibri" pitchFamily="34" charset="-122"/>
                <a:cs typeface="Calibri" pitchFamily="34" charset="-120"/>
              </a:rPr>
              <a:t>normal</a:t>
            </a:r>
            <a:endParaRPr lang="en-US" sz="1050" dirty="0"/>
          </a:p>
        </p:txBody>
      </p:sp>
      <p:sp>
        <p:nvSpPr>
          <p:cNvPr id="15" name="Shape 13"/>
          <p:cNvSpPr/>
          <p:nvPr/>
        </p:nvSpPr>
        <p:spPr>
          <a:xfrm>
            <a:off x="2898648" y="1591056"/>
            <a:ext cx="1444752" cy="329184"/>
          </a:xfrm>
          <a:prstGeom prst="roundRect">
            <a:avLst>
              <a:gd name="adj" fmla="val 16667"/>
            </a:avLst>
          </a:prstGeom>
          <a:solidFill>
            <a:srgbClr val="EDF5F5"/>
          </a:solidFill>
          <a:ln w="12700">
            <a:solidFill>
              <a:srgbClr val="EDF5F5"/>
            </a:solidFill>
            <a:prstDash val="solid"/>
          </a:ln>
        </p:spPr>
        <p:txBody>
          <a:bodyPr/>
          <a:lstStyle/>
          <a:p>
            <a:endParaRPr lang="sv-SE"/>
          </a:p>
        </p:txBody>
      </p:sp>
      <p:sp>
        <p:nvSpPr>
          <p:cNvPr id="16" name="Shape 14"/>
          <p:cNvSpPr/>
          <p:nvPr/>
        </p:nvSpPr>
        <p:spPr>
          <a:xfrm>
            <a:off x="3035808" y="1691640"/>
            <a:ext cx="128016" cy="128016"/>
          </a:xfrm>
          <a:prstGeom prst="ellipse">
            <a:avLst/>
          </a:prstGeom>
          <a:solidFill>
            <a:srgbClr val="0095AD"/>
          </a:solidFill>
          <a:ln w="12700">
            <a:solidFill>
              <a:srgbClr val="333333"/>
            </a:solidFill>
            <a:prstDash val="solid"/>
          </a:ln>
        </p:spPr>
        <p:txBody>
          <a:bodyPr/>
          <a:lstStyle/>
          <a:p>
            <a:endParaRPr lang="sv-SE"/>
          </a:p>
        </p:txBody>
      </p:sp>
      <p:sp>
        <p:nvSpPr>
          <p:cNvPr id="17" name="Text 15"/>
          <p:cNvSpPr txBox="1"/>
          <p:nvPr/>
        </p:nvSpPr>
        <p:spPr>
          <a:xfrm>
            <a:off x="3246120" y="1591056"/>
            <a:ext cx="1051560" cy="329184"/>
          </a:xfrm>
          <a:prstGeom prst="rect">
            <a:avLst/>
          </a:prstGeom>
          <a:noFill/>
          <a:ln/>
        </p:spPr>
        <p:txBody>
          <a:bodyPr wrap="square" lIns="0" tIns="0" rIns="0" bIns="0" rtlCol="0" anchor="ctr"/>
          <a:lstStyle/>
          <a:p>
            <a:pPr marL="0" indent="0">
              <a:buNone/>
            </a:pPr>
            <a:r>
              <a:rPr lang="en-US" sz="1050" b="1" dirty="0">
                <a:solidFill>
                  <a:srgbClr val="16262B"/>
                </a:solidFill>
                <a:latin typeface="Calibri" pitchFamily="34" charset="0"/>
                <a:ea typeface="Calibri" pitchFamily="34" charset="-122"/>
                <a:cs typeface="Calibri" pitchFamily="34" charset="-120"/>
              </a:rPr>
              <a:t>gauge fault</a:t>
            </a:r>
            <a:endParaRPr lang="en-US" sz="1050" dirty="0"/>
          </a:p>
        </p:txBody>
      </p:sp>
      <p:sp>
        <p:nvSpPr>
          <p:cNvPr id="18" name="Shape 16"/>
          <p:cNvSpPr/>
          <p:nvPr/>
        </p:nvSpPr>
        <p:spPr>
          <a:xfrm>
            <a:off x="4425696" y="1591056"/>
            <a:ext cx="1444752" cy="329184"/>
          </a:xfrm>
          <a:prstGeom prst="roundRect">
            <a:avLst>
              <a:gd name="adj" fmla="val 16667"/>
            </a:avLst>
          </a:prstGeom>
          <a:solidFill>
            <a:srgbClr val="EDF5F5"/>
          </a:solidFill>
          <a:ln w="12700">
            <a:solidFill>
              <a:srgbClr val="EDF5F5"/>
            </a:solidFill>
            <a:prstDash val="solid"/>
          </a:ln>
        </p:spPr>
        <p:txBody>
          <a:bodyPr/>
          <a:lstStyle/>
          <a:p>
            <a:endParaRPr lang="sv-SE"/>
          </a:p>
        </p:txBody>
      </p:sp>
      <p:sp>
        <p:nvSpPr>
          <p:cNvPr id="19" name="Shape 17"/>
          <p:cNvSpPr/>
          <p:nvPr/>
        </p:nvSpPr>
        <p:spPr>
          <a:xfrm>
            <a:off x="4562856" y="1691640"/>
            <a:ext cx="128016" cy="128016"/>
          </a:xfrm>
          <a:prstGeom prst="ellipse">
            <a:avLst/>
          </a:prstGeom>
          <a:solidFill>
            <a:srgbClr val="E8604C"/>
          </a:solidFill>
          <a:ln w="12700">
            <a:solidFill>
              <a:srgbClr val="333333"/>
            </a:solidFill>
            <a:prstDash val="solid"/>
          </a:ln>
        </p:spPr>
        <p:txBody>
          <a:bodyPr/>
          <a:lstStyle/>
          <a:p>
            <a:endParaRPr lang="sv-SE"/>
          </a:p>
        </p:txBody>
      </p:sp>
      <p:sp>
        <p:nvSpPr>
          <p:cNvPr id="20" name="Text 18"/>
          <p:cNvSpPr txBox="1"/>
          <p:nvPr/>
        </p:nvSpPr>
        <p:spPr>
          <a:xfrm>
            <a:off x="4773168" y="1591056"/>
            <a:ext cx="1051560" cy="329184"/>
          </a:xfrm>
          <a:prstGeom prst="rect">
            <a:avLst/>
          </a:prstGeom>
          <a:noFill/>
          <a:ln/>
        </p:spPr>
        <p:txBody>
          <a:bodyPr wrap="square" lIns="0" tIns="0" rIns="0" bIns="0" rtlCol="0" anchor="ctr"/>
          <a:lstStyle/>
          <a:p>
            <a:pPr marL="0" indent="0">
              <a:buNone/>
            </a:pPr>
            <a:r>
              <a:rPr lang="en-US" sz="1050" b="1" dirty="0">
                <a:solidFill>
                  <a:srgbClr val="16262B"/>
                </a:solidFill>
                <a:latin typeface="Calibri" pitchFamily="34" charset="0"/>
                <a:ea typeface="Calibri" pitchFamily="34" charset="-122"/>
                <a:cs typeface="Calibri" pitchFamily="34" charset="-120"/>
              </a:rPr>
              <a:t>twist fault</a:t>
            </a:r>
            <a:endParaRPr lang="en-US" sz="1050" dirty="0"/>
          </a:p>
        </p:txBody>
      </p:sp>
      <p:sp>
        <p:nvSpPr>
          <p:cNvPr id="21" name="Shape 19"/>
          <p:cNvSpPr/>
          <p:nvPr/>
        </p:nvSpPr>
        <p:spPr>
          <a:xfrm>
            <a:off x="5952744" y="1591056"/>
            <a:ext cx="1444752" cy="329184"/>
          </a:xfrm>
          <a:prstGeom prst="roundRect">
            <a:avLst>
              <a:gd name="adj" fmla="val 16667"/>
            </a:avLst>
          </a:prstGeom>
          <a:solidFill>
            <a:srgbClr val="EDF5F5"/>
          </a:solidFill>
          <a:ln w="12700">
            <a:solidFill>
              <a:srgbClr val="EDF5F5"/>
            </a:solidFill>
            <a:prstDash val="solid"/>
          </a:ln>
        </p:spPr>
        <p:txBody>
          <a:bodyPr/>
          <a:lstStyle/>
          <a:p>
            <a:endParaRPr lang="sv-SE"/>
          </a:p>
        </p:txBody>
      </p:sp>
      <p:sp>
        <p:nvSpPr>
          <p:cNvPr id="22" name="Shape 20"/>
          <p:cNvSpPr/>
          <p:nvPr/>
        </p:nvSpPr>
        <p:spPr>
          <a:xfrm>
            <a:off x="6089904" y="1691640"/>
            <a:ext cx="128016" cy="128016"/>
          </a:xfrm>
          <a:prstGeom prst="ellipse">
            <a:avLst/>
          </a:prstGeom>
          <a:solidFill>
            <a:srgbClr val="4A3AA7"/>
          </a:solidFill>
          <a:ln w="12700">
            <a:solidFill>
              <a:srgbClr val="333333"/>
            </a:solidFill>
            <a:prstDash val="solid"/>
          </a:ln>
        </p:spPr>
        <p:txBody>
          <a:bodyPr/>
          <a:lstStyle/>
          <a:p>
            <a:endParaRPr lang="sv-SE"/>
          </a:p>
        </p:txBody>
      </p:sp>
      <p:sp>
        <p:nvSpPr>
          <p:cNvPr id="23" name="Text 21"/>
          <p:cNvSpPr txBox="1"/>
          <p:nvPr/>
        </p:nvSpPr>
        <p:spPr>
          <a:xfrm>
            <a:off x="6300216" y="1591056"/>
            <a:ext cx="1051560" cy="329184"/>
          </a:xfrm>
          <a:prstGeom prst="rect">
            <a:avLst/>
          </a:prstGeom>
          <a:noFill/>
          <a:ln/>
        </p:spPr>
        <p:txBody>
          <a:bodyPr wrap="square" lIns="0" tIns="0" rIns="0" bIns="0" rtlCol="0" anchor="ctr"/>
          <a:lstStyle/>
          <a:p>
            <a:pPr marL="0" indent="0">
              <a:buNone/>
            </a:pPr>
            <a:r>
              <a:rPr lang="en-US" sz="1050" b="1" dirty="0">
                <a:solidFill>
                  <a:srgbClr val="16262B"/>
                </a:solidFill>
                <a:latin typeface="Calibri" pitchFamily="34" charset="0"/>
                <a:ea typeface="Calibri" pitchFamily="34" charset="-122"/>
                <a:cs typeface="Calibri" pitchFamily="34" charset="-120"/>
              </a:rPr>
              <a:t>surface fault</a:t>
            </a:r>
            <a:endParaRPr lang="en-US" sz="1050" dirty="0"/>
          </a:p>
        </p:txBody>
      </p:sp>
      <p:sp>
        <p:nvSpPr>
          <p:cNvPr id="24" name="Text 22"/>
          <p:cNvSpPr txBox="1"/>
          <p:nvPr/>
        </p:nvSpPr>
        <p:spPr>
          <a:xfrm>
            <a:off x="457200" y="2029968"/>
            <a:ext cx="8229600" cy="274320"/>
          </a:xfrm>
          <a:prstGeom prst="rect">
            <a:avLst/>
          </a:prstGeom>
          <a:noFill/>
          <a:ln/>
        </p:spPr>
        <p:txBody>
          <a:bodyPr wrap="square" lIns="0" tIns="0" rIns="0" bIns="0" rtlCol="0" anchor="ctr"/>
          <a:lstStyle/>
          <a:p>
            <a:pPr marL="0" indent="0">
              <a:buNone/>
            </a:pPr>
            <a:r>
              <a:rPr lang="en-US" sz="1200" dirty="0">
                <a:solidFill>
                  <a:srgbClr val="16262B"/>
                </a:solidFill>
                <a:latin typeface="Calibri" pitchFamily="34" charset="0"/>
                <a:ea typeface="Calibri" pitchFamily="34" charset="-122"/>
                <a:cs typeface="Calibri" pitchFamily="34" charset="-120"/>
              </a:rPr>
              <a:t>The vibration model already separates normal from abnormal. Clustering those abnormal events on their geometry is what splits them further.</a:t>
            </a:r>
            <a:endParaRPr lang="en-US" sz="1200" dirty="0"/>
          </a:p>
        </p:txBody>
      </p:sp>
      <p:sp>
        <p:nvSpPr>
          <p:cNvPr id="25" name="Shape 23"/>
          <p:cNvSpPr/>
          <p:nvPr/>
        </p:nvSpPr>
        <p:spPr>
          <a:xfrm>
            <a:off x="457200" y="2359152"/>
            <a:ext cx="8229600" cy="1755648"/>
          </a:xfrm>
          <a:prstGeom prst="roundRect">
            <a:avLst>
              <a:gd name="adj" fmla="val 3125"/>
            </a:avLst>
          </a:prstGeom>
          <a:solidFill>
            <a:srgbClr val="EDF5F5"/>
          </a:solidFill>
          <a:ln w="12700">
            <a:solidFill>
              <a:srgbClr val="EDF5F5"/>
            </a:solidFill>
            <a:prstDash val="solid"/>
          </a:ln>
        </p:spPr>
        <p:txBody>
          <a:bodyPr/>
          <a:lstStyle/>
          <a:p>
            <a:endParaRPr lang="sv-SE"/>
          </a:p>
        </p:txBody>
      </p:sp>
      <p:sp>
        <p:nvSpPr>
          <p:cNvPr id="26" name="Shape 24"/>
          <p:cNvSpPr/>
          <p:nvPr/>
        </p:nvSpPr>
        <p:spPr>
          <a:xfrm>
            <a:off x="1051560" y="2505456"/>
            <a:ext cx="0" cy="1261872"/>
          </a:xfrm>
          <a:prstGeom prst="line">
            <a:avLst/>
          </a:prstGeom>
          <a:noFill/>
          <a:ln w="12700">
            <a:solidFill>
              <a:srgbClr val="C3D2D5"/>
            </a:solidFill>
            <a:prstDash val="solid"/>
          </a:ln>
        </p:spPr>
        <p:txBody>
          <a:bodyPr/>
          <a:lstStyle/>
          <a:p>
            <a:endParaRPr lang="sv-SE"/>
          </a:p>
        </p:txBody>
      </p:sp>
      <p:sp>
        <p:nvSpPr>
          <p:cNvPr id="27" name="Shape 25"/>
          <p:cNvSpPr/>
          <p:nvPr/>
        </p:nvSpPr>
        <p:spPr>
          <a:xfrm>
            <a:off x="1051560" y="3767328"/>
            <a:ext cx="7223760" cy="0"/>
          </a:xfrm>
          <a:prstGeom prst="line">
            <a:avLst/>
          </a:prstGeom>
          <a:noFill/>
          <a:ln w="12700">
            <a:solidFill>
              <a:srgbClr val="C3D2D5"/>
            </a:solidFill>
            <a:prstDash val="solid"/>
          </a:ln>
        </p:spPr>
        <p:txBody>
          <a:bodyPr/>
          <a:lstStyle/>
          <a:p>
            <a:endParaRPr lang="sv-SE"/>
          </a:p>
        </p:txBody>
      </p:sp>
      <p:sp>
        <p:nvSpPr>
          <p:cNvPr id="28" name="Shape 26"/>
          <p:cNvSpPr/>
          <p:nvPr/>
        </p:nvSpPr>
        <p:spPr>
          <a:xfrm>
            <a:off x="2245819" y="3370403"/>
            <a:ext cx="91440" cy="91440"/>
          </a:xfrm>
          <a:prstGeom prst="ellipse">
            <a:avLst/>
          </a:prstGeom>
          <a:solidFill>
            <a:srgbClr val="0095AD"/>
          </a:solidFill>
          <a:ln w="9525">
            <a:solidFill>
              <a:srgbClr val="FFFFFF"/>
            </a:solidFill>
            <a:prstDash val="solid"/>
          </a:ln>
        </p:spPr>
        <p:txBody>
          <a:bodyPr/>
          <a:lstStyle/>
          <a:p>
            <a:endParaRPr lang="sv-SE"/>
          </a:p>
        </p:txBody>
      </p:sp>
      <p:sp>
        <p:nvSpPr>
          <p:cNvPr id="29" name="Shape 27"/>
          <p:cNvSpPr/>
          <p:nvPr/>
        </p:nvSpPr>
        <p:spPr>
          <a:xfrm>
            <a:off x="2051809" y="3202188"/>
            <a:ext cx="91440" cy="91440"/>
          </a:xfrm>
          <a:prstGeom prst="ellipse">
            <a:avLst/>
          </a:prstGeom>
          <a:solidFill>
            <a:srgbClr val="0095AD"/>
          </a:solidFill>
          <a:ln w="9525">
            <a:solidFill>
              <a:srgbClr val="FFFFFF"/>
            </a:solidFill>
            <a:prstDash val="solid"/>
          </a:ln>
        </p:spPr>
        <p:txBody>
          <a:bodyPr/>
          <a:lstStyle/>
          <a:p>
            <a:endParaRPr lang="sv-SE"/>
          </a:p>
        </p:txBody>
      </p:sp>
      <p:sp>
        <p:nvSpPr>
          <p:cNvPr id="30" name="Shape 28"/>
          <p:cNvSpPr/>
          <p:nvPr/>
        </p:nvSpPr>
        <p:spPr>
          <a:xfrm>
            <a:off x="2179764" y="3296070"/>
            <a:ext cx="91440" cy="91440"/>
          </a:xfrm>
          <a:prstGeom prst="ellipse">
            <a:avLst/>
          </a:prstGeom>
          <a:solidFill>
            <a:srgbClr val="0095AD"/>
          </a:solidFill>
          <a:ln w="9525">
            <a:solidFill>
              <a:srgbClr val="FFFFFF"/>
            </a:solidFill>
            <a:prstDash val="solid"/>
          </a:ln>
        </p:spPr>
        <p:txBody>
          <a:bodyPr/>
          <a:lstStyle/>
          <a:p>
            <a:endParaRPr lang="sv-SE"/>
          </a:p>
        </p:txBody>
      </p:sp>
      <p:sp>
        <p:nvSpPr>
          <p:cNvPr id="31" name="Shape 29"/>
          <p:cNvSpPr/>
          <p:nvPr/>
        </p:nvSpPr>
        <p:spPr>
          <a:xfrm>
            <a:off x="2070173" y="3234495"/>
            <a:ext cx="91440" cy="91440"/>
          </a:xfrm>
          <a:prstGeom prst="ellipse">
            <a:avLst/>
          </a:prstGeom>
          <a:solidFill>
            <a:srgbClr val="0095AD"/>
          </a:solidFill>
          <a:ln w="9525">
            <a:solidFill>
              <a:srgbClr val="FFFFFF"/>
            </a:solidFill>
            <a:prstDash val="solid"/>
          </a:ln>
        </p:spPr>
        <p:txBody>
          <a:bodyPr/>
          <a:lstStyle/>
          <a:p>
            <a:endParaRPr lang="sv-SE"/>
          </a:p>
        </p:txBody>
      </p:sp>
      <p:sp>
        <p:nvSpPr>
          <p:cNvPr id="32" name="Shape 30"/>
          <p:cNvSpPr/>
          <p:nvPr/>
        </p:nvSpPr>
        <p:spPr>
          <a:xfrm>
            <a:off x="1968262" y="3115847"/>
            <a:ext cx="91440" cy="91440"/>
          </a:xfrm>
          <a:prstGeom prst="ellipse">
            <a:avLst/>
          </a:prstGeom>
          <a:solidFill>
            <a:srgbClr val="0095AD"/>
          </a:solidFill>
          <a:ln w="9525">
            <a:solidFill>
              <a:srgbClr val="FFFFFF"/>
            </a:solidFill>
            <a:prstDash val="solid"/>
          </a:ln>
        </p:spPr>
        <p:txBody>
          <a:bodyPr/>
          <a:lstStyle/>
          <a:p>
            <a:endParaRPr lang="sv-SE"/>
          </a:p>
        </p:txBody>
      </p:sp>
      <p:sp>
        <p:nvSpPr>
          <p:cNvPr id="33" name="Shape 31"/>
          <p:cNvSpPr/>
          <p:nvPr/>
        </p:nvSpPr>
        <p:spPr>
          <a:xfrm>
            <a:off x="1810365" y="3133411"/>
            <a:ext cx="91440" cy="91440"/>
          </a:xfrm>
          <a:prstGeom prst="ellipse">
            <a:avLst/>
          </a:prstGeom>
          <a:solidFill>
            <a:srgbClr val="0095AD"/>
          </a:solidFill>
          <a:ln w="9525">
            <a:solidFill>
              <a:srgbClr val="FFFFFF"/>
            </a:solidFill>
            <a:prstDash val="solid"/>
          </a:ln>
        </p:spPr>
        <p:txBody>
          <a:bodyPr/>
          <a:lstStyle/>
          <a:p>
            <a:endParaRPr lang="sv-SE"/>
          </a:p>
        </p:txBody>
      </p:sp>
      <p:sp>
        <p:nvSpPr>
          <p:cNvPr id="34" name="Shape 32"/>
          <p:cNvSpPr/>
          <p:nvPr/>
        </p:nvSpPr>
        <p:spPr>
          <a:xfrm>
            <a:off x="1652458" y="3272447"/>
            <a:ext cx="91440" cy="91440"/>
          </a:xfrm>
          <a:prstGeom prst="ellipse">
            <a:avLst/>
          </a:prstGeom>
          <a:solidFill>
            <a:srgbClr val="0095AD"/>
          </a:solidFill>
          <a:ln w="9525">
            <a:solidFill>
              <a:srgbClr val="FFFFFF"/>
            </a:solidFill>
            <a:prstDash val="solid"/>
          </a:ln>
        </p:spPr>
        <p:txBody>
          <a:bodyPr/>
          <a:lstStyle/>
          <a:p>
            <a:endParaRPr lang="sv-SE"/>
          </a:p>
        </p:txBody>
      </p:sp>
      <p:sp>
        <p:nvSpPr>
          <p:cNvPr id="35" name="Shape 33"/>
          <p:cNvSpPr/>
          <p:nvPr/>
        </p:nvSpPr>
        <p:spPr>
          <a:xfrm>
            <a:off x="2609993" y="3179461"/>
            <a:ext cx="91440" cy="91440"/>
          </a:xfrm>
          <a:prstGeom prst="ellipse">
            <a:avLst/>
          </a:prstGeom>
          <a:solidFill>
            <a:srgbClr val="0095AD"/>
          </a:solidFill>
          <a:ln w="9525">
            <a:solidFill>
              <a:srgbClr val="FFFFFF"/>
            </a:solidFill>
            <a:prstDash val="solid"/>
          </a:ln>
        </p:spPr>
        <p:txBody>
          <a:bodyPr/>
          <a:lstStyle/>
          <a:p>
            <a:endParaRPr lang="sv-SE"/>
          </a:p>
        </p:txBody>
      </p:sp>
      <p:sp>
        <p:nvSpPr>
          <p:cNvPr id="36" name="Shape 34"/>
          <p:cNvSpPr/>
          <p:nvPr/>
        </p:nvSpPr>
        <p:spPr>
          <a:xfrm>
            <a:off x="2618564" y="3085425"/>
            <a:ext cx="91440" cy="91440"/>
          </a:xfrm>
          <a:prstGeom prst="ellipse">
            <a:avLst/>
          </a:prstGeom>
          <a:solidFill>
            <a:srgbClr val="0095AD"/>
          </a:solidFill>
          <a:ln w="9525">
            <a:solidFill>
              <a:srgbClr val="FFFFFF"/>
            </a:solidFill>
            <a:prstDash val="solid"/>
          </a:ln>
        </p:spPr>
        <p:txBody>
          <a:bodyPr/>
          <a:lstStyle/>
          <a:p>
            <a:endParaRPr lang="sv-SE"/>
          </a:p>
        </p:txBody>
      </p:sp>
      <p:sp>
        <p:nvSpPr>
          <p:cNvPr id="37" name="Shape 35"/>
          <p:cNvSpPr/>
          <p:nvPr/>
        </p:nvSpPr>
        <p:spPr>
          <a:xfrm>
            <a:off x="2081931" y="3232063"/>
            <a:ext cx="91440" cy="91440"/>
          </a:xfrm>
          <a:prstGeom prst="ellipse">
            <a:avLst/>
          </a:prstGeom>
          <a:solidFill>
            <a:srgbClr val="0095AD"/>
          </a:solidFill>
          <a:ln w="9525">
            <a:solidFill>
              <a:srgbClr val="FFFFFF"/>
            </a:solidFill>
            <a:prstDash val="solid"/>
          </a:ln>
        </p:spPr>
        <p:txBody>
          <a:bodyPr/>
          <a:lstStyle/>
          <a:p>
            <a:endParaRPr lang="sv-SE"/>
          </a:p>
        </p:txBody>
      </p:sp>
      <p:sp>
        <p:nvSpPr>
          <p:cNvPr id="38" name="Shape 36"/>
          <p:cNvSpPr/>
          <p:nvPr/>
        </p:nvSpPr>
        <p:spPr>
          <a:xfrm>
            <a:off x="1788875" y="3295689"/>
            <a:ext cx="91440" cy="91440"/>
          </a:xfrm>
          <a:prstGeom prst="ellipse">
            <a:avLst/>
          </a:prstGeom>
          <a:solidFill>
            <a:srgbClr val="0095AD"/>
          </a:solidFill>
          <a:ln w="9525">
            <a:solidFill>
              <a:srgbClr val="FFFFFF"/>
            </a:solidFill>
            <a:prstDash val="solid"/>
          </a:ln>
        </p:spPr>
        <p:txBody>
          <a:bodyPr/>
          <a:lstStyle/>
          <a:p>
            <a:endParaRPr lang="sv-SE"/>
          </a:p>
        </p:txBody>
      </p:sp>
      <p:sp>
        <p:nvSpPr>
          <p:cNvPr id="39" name="Shape 37"/>
          <p:cNvSpPr/>
          <p:nvPr/>
        </p:nvSpPr>
        <p:spPr>
          <a:xfrm>
            <a:off x="2203380" y="3168289"/>
            <a:ext cx="91440" cy="91440"/>
          </a:xfrm>
          <a:prstGeom prst="ellipse">
            <a:avLst/>
          </a:prstGeom>
          <a:solidFill>
            <a:srgbClr val="0095AD"/>
          </a:solidFill>
          <a:ln w="9525">
            <a:solidFill>
              <a:srgbClr val="FFFFFF"/>
            </a:solidFill>
            <a:prstDash val="solid"/>
          </a:ln>
        </p:spPr>
        <p:txBody>
          <a:bodyPr/>
          <a:lstStyle/>
          <a:p>
            <a:endParaRPr lang="sv-SE"/>
          </a:p>
        </p:txBody>
      </p:sp>
      <p:sp>
        <p:nvSpPr>
          <p:cNvPr id="40" name="Shape 38"/>
          <p:cNvSpPr/>
          <p:nvPr/>
        </p:nvSpPr>
        <p:spPr>
          <a:xfrm>
            <a:off x="1802581" y="3175199"/>
            <a:ext cx="91440" cy="91440"/>
          </a:xfrm>
          <a:prstGeom prst="ellipse">
            <a:avLst/>
          </a:prstGeom>
          <a:solidFill>
            <a:srgbClr val="0095AD"/>
          </a:solidFill>
          <a:ln w="9525">
            <a:solidFill>
              <a:srgbClr val="FFFFFF"/>
            </a:solidFill>
            <a:prstDash val="solid"/>
          </a:ln>
        </p:spPr>
        <p:txBody>
          <a:bodyPr/>
          <a:lstStyle/>
          <a:p>
            <a:endParaRPr lang="sv-SE"/>
          </a:p>
        </p:txBody>
      </p:sp>
      <p:sp>
        <p:nvSpPr>
          <p:cNvPr id="41" name="Shape 39"/>
          <p:cNvSpPr/>
          <p:nvPr/>
        </p:nvSpPr>
        <p:spPr>
          <a:xfrm>
            <a:off x="2451357" y="3180966"/>
            <a:ext cx="91440" cy="91440"/>
          </a:xfrm>
          <a:prstGeom prst="ellipse">
            <a:avLst/>
          </a:prstGeom>
          <a:solidFill>
            <a:srgbClr val="0095AD"/>
          </a:solidFill>
          <a:ln w="9525">
            <a:solidFill>
              <a:srgbClr val="FFFFFF"/>
            </a:solidFill>
            <a:prstDash val="solid"/>
          </a:ln>
        </p:spPr>
        <p:txBody>
          <a:bodyPr/>
          <a:lstStyle/>
          <a:p>
            <a:endParaRPr lang="sv-SE"/>
          </a:p>
        </p:txBody>
      </p:sp>
      <p:sp>
        <p:nvSpPr>
          <p:cNvPr id="42" name="Text 40"/>
          <p:cNvSpPr txBox="1"/>
          <p:nvPr/>
        </p:nvSpPr>
        <p:spPr>
          <a:xfrm>
            <a:off x="1701698" y="2593787"/>
            <a:ext cx="1097280" cy="201168"/>
          </a:xfrm>
          <a:prstGeom prst="rect">
            <a:avLst/>
          </a:prstGeom>
          <a:noFill/>
          <a:ln/>
        </p:spPr>
        <p:txBody>
          <a:bodyPr wrap="square" lIns="0" tIns="0" rIns="0" bIns="0" rtlCol="0" anchor="ctr"/>
          <a:lstStyle/>
          <a:p>
            <a:pPr marL="0" indent="0">
              <a:buNone/>
            </a:pPr>
            <a:r>
              <a:rPr lang="en-US" sz="1000" b="1" dirty="0">
                <a:solidFill>
                  <a:srgbClr val="0095AD"/>
                </a:solidFill>
                <a:latin typeface="Calibri" pitchFamily="34" charset="0"/>
                <a:ea typeface="Calibri" pitchFamily="34" charset="-122"/>
                <a:cs typeface="Calibri" pitchFamily="34" charset="-120"/>
              </a:rPr>
              <a:t>gauge</a:t>
            </a:r>
            <a:endParaRPr lang="en-US" sz="1000" dirty="0"/>
          </a:p>
        </p:txBody>
      </p:sp>
      <p:sp>
        <p:nvSpPr>
          <p:cNvPr id="43" name="Shape 41"/>
          <p:cNvSpPr/>
          <p:nvPr/>
        </p:nvSpPr>
        <p:spPr>
          <a:xfrm>
            <a:off x="4583364" y="2927482"/>
            <a:ext cx="91440" cy="91440"/>
          </a:xfrm>
          <a:prstGeom prst="ellipse">
            <a:avLst/>
          </a:prstGeom>
          <a:solidFill>
            <a:srgbClr val="E8604C"/>
          </a:solidFill>
          <a:ln w="9525">
            <a:solidFill>
              <a:srgbClr val="FFFFFF"/>
            </a:solidFill>
            <a:prstDash val="solid"/>
          </a:ln>
        </p:spPr>
        <p:txBody>
          <a:bodyPr/>
          <a:lstStyle/>
          <a:p>
            <a:endParaRPr lang="sv-SE"/>
          </a:p>
        </p:txBody>
      </p:sp>
      <p:sp>
        <p:nvSpPr>
          <p:cNvPr id="44" name="Shape 42"/>
          <p:cNvSpPr/>
          <p:nvPr/>
        </p:nvSpPr>
        <p:spPr>
          <a:xfrm>
            <a:off x="4971703" y="2810327"/>
            <a:ext cx="91440" cy="91440"/>
          </a:xfrm>
          <a:prstGeom prst="ellipse">
            <a:avLst/>
          </a:prstGeom>
          <a:solidFill>
            <a:srgbClr val="E8604C"/>
          </a:solidFill>
          <a:ln w="9525">
            <a:solidFill>
              <a:srgbClr val="FFFFFF"/>
            </a:solidFill>
            <a:prstDash val="solid"/>
          </a:ln>
        </p:spPr>
        <p:txBody>
          <a:bodyPr/>
          <a:lstStyle/>
          <a:p>
            <a:endParaRPr lang="sv-SE"/>
          </a:p>
        </p:txBody>
      </p:sp>
      <p:sp>
        <p:nvSpPr>
          <p:cNvPr id="45" name="Shape 43"/>
          <p:cNvSpPr/>
          <p:nvPr/>
        </p:nvSpPr>
        <p:spPr>
          <a:xfrm>
            <a:off x="4199511" y="2985976"/>
            <a:ext cx="91440" cy="91440"/>
          </a:xfrm>
          <a:prstGeom prst="ellipse">
            <a:avLst/>
          </a:prstGeom>
          <a:solidFill>
            <a:srgbClr val="E8604C"/>
          </a:solidFill>
          <a:ln w="9525">
            <a:solidFill>
              <a:srgbClr val="FFFFFF"/>
            </a:solidFill>
            <a:prstDash val="solid"/>
          </a:ln>
        </p:spPr>
        <p:txBody>
          <a:bodyPr/>
          <a:lstStyle/>
          <a:p>
            <a:endParaRPr lang="sv-SE"/>
          </a:p>
        </p:txBody>
      </p:sp>
      <p:sp>
        <p:nvSpPr>
          <p:cNvPr id="46" name="Shape 44"/>
          <p:cNvSpPr/>
          <p:nvPr/>
        </p:nvSpPr>
        <p:spPr>
          <a:xfrm>
            <a:off x="4365093" y="2876427"/>
            <a:ext cx="91440" cy="91440"/>
          </a:xfrm>
          <a:prstGeom prst="ellipse">
            <a:avLst/>
          </a:prstGeom>
          <a:solidFill>
            <a:srgbClr val="E8604C"/>
          </a:solidFill>
          <a:ln w="9525">
            <a:solidFill>
              <a:srgbClr val="FFFFFF"/>
            </a:solidFill>
            <a:prstDash val="solid"/>
          </a:ln>
        </p:spPr>
        <p:txBody>
          <a:bodyPr/>
          <a:lstStyle/>
          <a:p>
            <a:endParaRPr lang="sv-SE"/>
          </a:p>
        </p:txBody>
      </p:sp>
      <p:sp>
        <p:nvSpPr>
          <p:cNvPr id="47" name="Shape 45"/>
          <p:cNvSpPr/>
          <p:nvPr/>
        </p:nvSpPr>
        <p:spPr>
          <a:xfrm>
            <a:off x="4373596" y="2961078"/>
            <a:ext cx="91440" cy="91440"/>
          </a:xfrm>
          <a:prstGeom prst="ellipse">
            <a:avLst/>
          </a:prstGeom>
          <a:solidFill>
            <a:srgbClr val="E8604C"/>
          </a:solidFill>
          <a:ln w="9525">
            <a:solidFill>
              <a:srgbClr val="FFFFFF"/>
            </a:solidFill>
            <a:prstDash val="solid"/>
          </a:ln>
        </p:spPr>
        <p:txBody>
          <a:bodyPr/>
          <a:lstStyle/>
          <a:p>
            <a:endParaRPr lang="sv-SE"/>
          </a:p>
        </p:txBody>
      </p:sp>
      <p:sp>
        <p:nvSpPr>
          <p:cNvPr id="48" name="Shape 46"/>
          <p:cNvSpPr/>
          <p:nvPr/>
        </p:nvSpPr>
        <p:spPr>
          <a:xfrm>
            <a:off x="4615827" y="2927719"/>
            <a:ext cx="91440" cy="91440"/>
          </a:xfrm>
          <a:prstGeom prst="ellipse">
            <a:avLst/>
          </a:prstGeom>
          <a:solidFill>
            <a:srgbClr val="E8604C"/>
          </a:solidFill>
          <a:ln w="9525">
            <a:solidFill>
              <a:srgbClr val="FFFFFF"/>
            </a:solidFill>
            <a:prstDash val="solid"/>
          </a:ln>
        </p:spPr>
        <p:txBody>
          <a:bodyPr/>
          <a:lstStyle/>
          <a:p>
            <a:endParaRPr lang="sv-SE"/>
          </a:p>
        </p:txBody>
      </p:sp>
      <p:sp>
        <p:nvSpPr>
          <p:cNvPr id="49" name="Shape 47"/>
          <p:cNvSpPr/>
          <p:nvPr/>
        </p:nvSpPr>
        <p:spPr>
          <a:xfrm>
            <a:off x="4375974" y="2905000"/>
            <a:ext cx="91440" cy="91440"/>
          </a:xfrm>
          <a:prstGeom prst="ellipse">
            <a:avLst/>
          </a:prstGeom>
          <a:solidFill>
            <a:srgbClr val="E8604C"/>
          </a:solidFill>
          <a:ln w="9525">
            <a:solidFill>
              <a:srgbClr val="FFFFFF"/>
            </a:solidFill>
            <a:prstDash val="solid"/>
          </a:ln>
        </p:spPr>
        <p:txBody>
          <a:bodyPr/>
          <a:lstStyle/>
          <a:p>
            <a:endParaRPr lang="sv-SE"/>
          </a:p>
        </p:txBody>
      </p:sp>
      <p:sp>
        <p:nvSpPr>
          <p:cNvPr id="50" name="Shape 48"/>
          <p:cNvSpPr/>
          <p:nvPr/>
        </p:nvSpPr>
        <p:spPr>
          <a:xfrm>
            <a:off x="4829435" y="2850937"/>
            <a:ext cx="91440" cy="91440"/>
          </a:xfrm>
          <a:prstGeom prst="ellipse">
            <a:avLst/>
          </a:prstGeom>
          <a:solidFill>
            <a:srgbClr val="E8604C"/>
          </a:solidFill>
          <a:ln w="9525">
            <a:solidFill>
              <a:srgbClr val="FFFFFF"/>
            </a:solidFill>
            <a:prstDash val="solid"/>
          </a:ln>
        </p:spPr>
        <p:txBody>
          <a:bodyPr/>
          <a:lstStyle/>
          <a:p>
            <a:endParaRPr lang="sv-SE"/>
          </a:p>
        </p:txBody>
      </p:sp>
      <p:sp>
        <p:nvSpPr>
          <p:cNvPr id="51" name="Shape 49"/>
          <p:cNvSpPr/>
          <p:nvPr/>
        </p:nvSpPr>
        <p:spPr>
          <a:xfrm>
            <a:off x="4077278" y="2803757"/>
            <a:ext cx="91440" cy="91440"/>
          </a:xfrm>
          <a:prstGeom prst="ellipse">
            <a:avLst/>
          </a:prstGeom>
          <a:solidFill>
            <a:srgbClr val="E8604C"/>
          </a:solidFill>
          <a:ln w="9525">
            <a:solidFill>
              <a:srgbClr val="FFFFFF"/>
            </a:solidFill>
            <a:prstDash val="solid"/>
          </a:ln>
        </p:spPr>
        <p:txBody>
          <a:bodyPr/>
          <a:lstStyle/>
          <a:p>
            <a:endParaRPr lang="sv-SE"/>
          </a:p>
        </p:txBody>
      </p:sp>
      <p:sp>
        <p:nvSpPr>
          <p:cNvPr id="52" name="Shape 50"/>
          <p:cNvSpPr/>
          <p:nvPr/>
        </p:nvSpPr>
        <p:spPr>
          <a:xfrm>
            <a:off x="5102686" y="2810153"/>
            <a:ext cx="91440" cy="91440"/>
          </a:xfrm>
          <a:prstGeom prst="ellipse">
            <a:avLst/>
          </a:prstGeom>
          <a:solidFill>
            <a:srgbClr val="E8604C"/>
          </a:solidFill>
          <a:ln w="9525">
            <a:solidFill>
              <a:srgbClr val="FFFFFF"/>
            </a:solidFill>
            <a:prstDash val="solid"/>
          </a:ln>
        </p:spPr>
        <p:txBody>
          <a:bodyPr/>
          <a:lstStyle/>
          <a:p>
            <a:endParaRPr lang="sv-SE"/>
          </a:p>
        </p:txBody>
      </p:sp>
      <p:sp>
        <p:nvSpPr>
          <p:cNvPr id="53" name="Shape 51"/>
          <p:cNvSpPr/>
          <p:nvPr/>
        </p:nvSpPr>
        <p:spPr>
          <a:xfrm>
            <a:off x="4313984" y="2796331"/>
            <a:ext cx="91440" cy="91440"/>
          </a:xfrm>
          <a:prstGeom prst="ellipse">
            <a:avLst/>
          </a:prstGeom>
          <a:solidFill>
            <a:srgbClr val="E8604C"/>
          </a:solidFill>
          <a:ln w="9525">
            <a:solidFill>
              <a:srgbClr val="FFFFFF"/>
            </a:solidFill>
            <a:prstDash val="solid"/>
          </a:ln>
        </p:spPr>
        <p:txBody>
          <a:bodyPr/>
          <a:lstStyle/>
          <a:p>
            <a:endParaRPr lang="sv-SE"/>
          </a:p>
        </p:txBody>
      </p:sp>
      <p:sp>
        <p:nvSpPr>
          <p:cNvPr id="54" name="Shape 52"/>
          <p:cNvSpPr/>
          <p:nvPr/>
        </p:nvSpPr>
        <p:spPr>
          <a:xfrm>
            <a:off x="4423783" y="2850614"/>
            <a:ext cx="91440" cy="91440"/>
          </a:xfrm>
          <a:prstGeom prst="ellipse">
            <a:avLst/>
          </a:prstGeom>
          <a:solidFill>
            <a:srgbClr val="E8604C"/>
          </a:solidFill>
          <a:ln w="9525">
            <a:solidFill>
              <a:srgbClr val="FFFFFF"/>
            </a:solidFill>
            <a:prstDash val="solid"/>
          </a:ln>
        </p:spPr>
        <p:txBody>
          <a:bodyPr/>
          <a:lstStyle/>
          <a:p>
            <a:endParaRPr lang="sv-SE"/>
          </a:p>
        </p:txBody>
      </p:sp>
      <p:sp>
        <p:nvSpPr>
          <p:cNvPr id="55" name="Shape 53"/>
          <p:cNvSpPr/>
          <p:nvPr/>
        </p:nvSpPr>
        <p:spPr>
          <a:xfrm>
            <a:off x="4677743" y="3008930"/>
            <a:ext cx="91440" cy="91440"/>
          </a:xfrm>
          <a:prstGeom prst="ellipse">
            <a:avLst/>
          </a:prstGeom>
          <a:solidFill>
            <a:srgbClr val="E8604C"/>
          </a:solidFill>
          <a:ln w="9525">
            <a:solidFill>
              <a:srgbClr val="FFFFFF"/>
            </a:solidFill>
            <a:prstDash val="solid"/>
          </a:ln>
        </p:spPr>
        <p:txBody>
          <a:bodyPr/>
          <a:lstStyle/>
          <a:p>
            <a:endParaRPr lang="sv-SE"/>
          </a:p>
        </p:txBody>
      </p:sp>
      <p:sp>
        <p:nvSpPr>
          <p:cNvPr id="56" name="Shape 54"/>
          <p:cNvSpPr/>
          <p:nvPr/>
        </p:nvSpPr>
        <p:spPr>
          <a:xfrm>
            <a:off x="4677746" y="2884119"/>
            <a:ext cx="91440" cy="91440"/>
          </a:xfrm>
          <a:prstGeom prst="ellipse">
            <a:avLst/>
          </a:prstGeom>
          <a:solidFill>
            <a:srgbClr val="E8604C"/>
          </a:solidFill>
          <a:ln w="9525">
            <a:solidFill>
              <a:srgbClr val="FFFFFF"/>
            </a:solidFill>
            <a:prstDash val="solid"/>
          </a:ln>
        </p:spPr>
        <p:txBody>
          <a:bodyPr/>
          <a:lstStyle/>
          <a:p>
            <a:endParaRPr lang="sv-SE"/>
          </a:p>
        </p:txBody>
      </p:sp>
      <p:sp>
        <p:nvSpPr>
          <p:cNvPr id="57" name="Text 55"/>
          <p:cNvSpPr txBox="1"/>
          <p:nvPr/>
        </p:nvSpPr>
        <p:spPr>
          <a:xfrm>
            <a:off x="4374490" y="3451860"/>
            <a:ext cx="1097280" cy="201168"/>
          </a:xfrm>
          <a:prstGeom prst="rect">
            <a:avLst/>
          </a:prstGeom>
          <a:noFill/>
          <a:ln/>
        </p:spPr>
        <p:txBody>
          <a:bodyPr wrap="square" lIns="0" tIns="0" rIns="0" bIns="0" rtlCol="0" anchor="ctr"/>
          <a:lstStyle/>
          <a:p>
            <a:pPr marL="0" indent="0">
              <a:buNone/>
            </a:pPr>
            <a:r>
              <a:rPr lang="en-US" sz="1000" b="1" dirty="0">
                <a:solidFill>
                  <a:srgbClr val="E8604C"/>
                </a:solidFill>
                <a:latin typeface="Calibri" pitchFamily="34" charset="0"/>
                <a:ea typeface="Calibri" pitchFamily="34" charset="-122"/>
                <a:cs typeface="Calibri" pitchFamily="34" charset="-120"/>
              </a:rPr>
              <a:t>twist</a:t>
            </a:r>
            <a:endParaRPr lang="en-US" sz="1000" dirty="0"/>
          </a:p>
        </p:txBody>
      </p:sp>
      <p:sp>
        <p:nvSpPr>
          <p:cNvPr id="58" name="Shape 56"/>
          <p:cNvSpPr/>
          <p:nvPr/>
        </p:nvSpPr>
        <p:spPr>
          <a:xfrm>
            <a:off x="6927159" y="3208240"/>
            <a:ext cx="91440" cy="91440"/>
          </a:xfrm>
          <a:prstGeom prst="ellipse">
            <a:avLst/>
          </a:prstGeom>
          <a:solidFill>
            <a:srgbClr val="4A3AA7"/>
          </a:solidFill>
          <a:ln w="9525">
            <a:solidFill>
              <a:srgbClr val="FFFFFF"/>
            </a:solidFill>
            <a:prstDash val="solid"/>
          </a:ln>
        </p:spPr>
        <p:txBody>
          <a:bodyPr/>
          <a:lstStyle/>
          <a:p>
            <a:endParaRPr lang="sv-SE"/>
          </a:p>
        </p:txBody>
      </p:sp>
      <p:sp>
        <p:nvSpPr>
          <p:cNvPr id="59" name="Shape 57"/>
          <p:cNvSpPr/>
          <p:nvPr/>
        </p:nvSpPr>
        <p:spPr>
          <a:xfrm>
            <a:off x="6586140" y="3229013"/>
            <a:ext cx="91440" cy="91440"/>
          </a:xfrm>
          <a:prstGeom prst="ellipse">
            <a:avLst/>
          </a:prstGeom>
          <a:solidFill>
            <a:srgbClr val="4A3AA7"/>
          </a:solidFill>
          <a:ln w="9525">
            <a:solidFill>
              <a:srgbClr val="FFFFFF"/>
            </a:solidFill>
            <a:prstDash val="solid"/>
          </a:ln>
        </p:spPr>
        <p:txBody>
          <a:bodyPr/>
          <a:lstStyle/>
          <a:p>
            <a:endParaRPr lang="sv-SE"/>
          </a:p>
        </p:txBody>
      </p:sp>
      <p:sp>
        <p:nvSpPr>
          <p:cNvPr id="60" name="Shape 58"/>
          <p:cNvSpPr/>
          <p:nvPr/>
        </p:nvSpPr>
        <p:spPr>
          <a:xfrm>
            <a:off x="7108359" y="3303770"/>
            <a:ext cx="91440" cy="91440"/>
          </a:xfrm>
          <a:prstGeom prst="ellipse">
            <a:avLst/>
          </a:prstGeom>
          <a:solidFill>
            <a:srgbClr val="4A3AA7"/>
          </a:solidFill>
          <a:ln w="9525">
            <a:solidFill>
              <a:srgbClr val="FFFFFF"/>
            </a:solidFill>
            <a:prstDash val="solid"/>
          </a:ln>
        </p:spPr>
        <p:txBody>
          <a:bodyPr/>
          <a:lstStyle/>
          <a:p>
            <a:endParaRPr lang="sv-SE"/>
          </a:p>
        </p:txBody>
      </p:sp>
      <p:sp>
        <p:nvSpPr>
          <p:cNvPr id="61" name="Shape 59"/>
          <p:cNvSpPr/>
          <p:nvPr/>
        </p:nvSpPr>
        <p:spPr>
          <a:xfrm>
            <a:off x="7291848" y="3023553"/>
            <a:ext cx="91440" cy="91440"/>
          </a:xfrm>
          <a:prstGeom prst="ellipse">
            <a:avLst/>
          </a:prstGeom>
          <a:solidFill>
            <a:srgbClr val="4A3AA7"/>
          </a:solidFill>
          <a:ln w="9525">
            <a:solidFill>
              <a:srgbClr val="FFFFFF"/>
            </a:solidFill>
            <a:prstDash val="solid"/>
          </a:ln>
        </p:spPr>
        <p:txBody>
          <a:bodyPr/>
          <a:lstStyle/>
          <a:p>
            <a:endParaRPr lang="sv-SE"/>
          </a:p>
        </p:txBody>
      </p:sp>
      <p:sp>
        <p:nvSpPr>
          <p:cNvPr id="62" name="Shape 60"/>
          <p:cNvSpPr/>
          <p:nvPr/>
        </p:nvSpPr>
        <p:spPr>
          <a:xfrm>
            <a:off x="7164975" y="3087050"/>
            <a:ext cx="91440" cy="91440"/>
          </a:xfrm>
          <a:prstGeom prst="ellipse">
            <a:avLst/>
          </a:prstGeom>
          <a:solidFill>
            <a:srgbClr val="4A3AA7"/>
          </a:solidFill>
          <a:ln w="9525">
            <a:solidFill>
              <a:srgbClr val="FFFFFF"/>
            </a:solidFill>
            <a:prstDash val="solid"/>
          </a:ln>
        </p:spPr>
        <p:txBody>
          <a:bodyPr/>
          <a:lstStyle/>
          <a:p>
            <a:endParaRPr lang="sv-SE"/>
          </a:p>
        </p:txBody>
      </p:sp>
      <p:sp>
        <p:nvSpPr>
          <p:cNvPr id="63" name="Shape 61"/>
          <p:cNvSpPr/>
          <p:nvPr/>
        </p:nvSpPr>
        <p:spPr>
          <a:xfrm>
            <a:off x="7435003" y="3210058"/>
            <a:ext cx="91440" cy="91440"/>
          </a:xfrm>
          <a:prstGeom prst="ellipse">
            <a:avLst/>
          </a:prstGeom>
          <a:solidFill>
            <a:srgbClr val="4A3AA7"/>
          </a:solidFill>
          <a:ln w="9525">
            <a:solidFill>
              <a:srgbClr val="FFFFFF"/>
            </a:solidFill>
            <a:prstDash val="solid"/>
          </a:ln>
        </p:spPr>
        <p:txBody>
          <a:bodyPr/>
          <a:lstStyle/>
          <a:p>
            <a:endParaRPr lang="sv-SE"/>
          </a:p>
        </p:txBody>
      </p:sp>
      <p:sp>
        <p:nvSpPr>
          <p:cNvPr id="64" name="Shape 62"/>
          <p:cNvSpPr/>
          <p:nvPr/>
        </p:nvSpPr>
        <p:spPr>
          <a:xfrm>
            <a:off x="6815629" y="3253821"/>
            <a:ext cx="91440" cy="91440"/>
          </a:xfrm>
          <a:prstGeom prst="ellipse">
            <a:avLst/>
          </a:prstGeom>
          <a:solidFill>
            <a:srgbClr val="4A3AA7"/>
          </a:solidFill>
          <a:ln w="9525">
            <a:solidFill>
              <a:srgbClr val="FFFFFF"/>
            </a:solidFill>
            <a:prstDash val="solid"/>
          </a:ln>
        </p:spPr>
        <p:txBody>
          <a:bodyPr/>
          <a:lstStyle/>
          <a:p>
            <a:endParaRPr lang="sv-SE"/>
          </a:p>
        </p:txBody>
      </p:sp>
      <p:sp>
        <p:nvSpPr>
          <p:cNvPr id="65" name="Shape 63"/>
          <p:cNvSpPr/>
          <p:nvPr/>
        </p:nvSpPr>
        <p:spPr>
          <a:xfrm>
            <a:off x="7060486" y="3163790"/>
            <a:ext cx="91440" cy="91440"/>
          </a:xfrm>
          <a:prstGeom prst="ellipse">
            <a:avLst/>
          </a:prstGeom>
          <a:solidFill>
            <a:srgbClr val="4A3AA7"/>
          </a:solidFill>
          <a:ln w="9525">
            <a:solidFill>
              <a:srgbClr val="FFFFFF"/>
            </a:solidFill>
            <a:prstDash val="solid"/>
          </a:ln>
        </p:spPr>
        <p:txBody>
          <a:bodyPr/>
          <a:lstStyle/>
          <a:p>
            <a:endParaRPr lang="sv-SE"/>
          </a:p>
        </p:txBody>
      </p:sp>
      <p:sp>
        <p:nvSpPr>
          <p:cNvPr id="66" name="Shape 64"/>
          <p:cNvSpPr/>
          <p:nvPr/>
        </p:nvSpPr>
        <p:spPr>
          <a:xfrm>
            <a:off x="7094836" y="3214438"/>
            <a:ext cx="91440" cy="91440"/>
          </a:xfrm>
          <a:prstGeom prst="ellipse">
            <a:avLst/>
          </a:prstGeom>
          <a:solidFill>
            <a:srgbClr val="4A3AA7"/>
          </a:solidFill>
          <a:ln w="9525">
            <a:solidFill>
              <a:srgbClr val="FFFFFF"/>
            </a:solidFill>
            <a:prstDash val="solid"/>
          </a:ln>
        </p:spPr>
        <p:txBody>
          <a:bodyPr/>
          <a:lstStyle/>
          <a:p>
            <a:endParaRPr lang="sv-SE"/>
          </a:p>
        </p:txBody>
      </p:sp>
      <p:sp>
        <p:nvSpPr>
          <p:cNvPr id="67" name="Shape 65"/>
          <p:cNvSpPr/>
          <p:nvPr/>
        </p:nvSpPr>
        <p:spPr>
          <a:xfrm>
            <a:off x="6733959" y="3225493"/>
            <a:ext cx="91440" cy="91440"/>
          </a:xfrm>
          <a:prstGeom prst="ellipse">
            <a:avLst/>
          </a:prstGeom>
          <a:solidFill>
            <a:srgbClr val="4A3AA7"/>
          </a:solidFill>
          <a:ln w="9525">
            <a:solidFill>
              <a:srgbClr val="FFFFFF"/>
            </a:solidFill>
            <a:prstDash val="solid"/>
          </a:ln>
        </p:spPr>
        <p:txBody>
          <a:bodyPr/>
          <a:lstStyle/>
          <a:p>
            <a:endParaRPr lang="sv-SE"/>
          </a:p>
        </p:txBody>
      </p:sp>
      <p:sp>
        <p:nvSpPr>
          <p:cNvPr id="68" name="Shape 66"/>
          <p:cNvSpPr/>
          <p:nvPr/>
        </p:nvSpPr>
        <p:spPr>
          <a:xfrm>
            <a:off x="6690831" y="3174386"/>
            <a:ext cx="91440" cy="91440"/>
          </a:xfrm>
          <a:prstGeom prst="ellipse">
            <a:avLst/>
          </a:prstGeom>
          <a:solidFill>
            <a:srgbClr val="4A3AA7"/>
          </a:solidFill>
          <a:ln w="9525">
            <a:solidFill>
              <a:srgbClr val="FFFFFF"/>
            </a:solidFill>
            <a:prstDash val="solid"/>
          </a:ln>
        </p:spPr>
        <p:txBody>
          <a:bodyPr/>
          <a:lstStyle/>
          <a:p>
            <a:endParaRPr lang="sv-SE"/>
          </a:p>
        </p:txBody>
      </p:sp>
      <p:sp>
        <p:nvSpPr>
          <p:cNvPr id="69" name="Shape 67"/>
          <p:cNvSpPr/>
          <p:nvPr/>
        </p:nvSpPr>
        <p:spPr>
          <a:xfrm>
            <a:off x="7072829" y="3025154"/>
            <a:ext cx="91440" cy="91440"/>
          </a:xfrm>
          <a:prstGeom prst="ellipse">
            <a:avLst/>
          </a:prstGeom>
          <a:solidFill>
            <a:srgbClr val="4A3AA7"/>
          </a:solidFill>
          <a:ln w="9525">
            <a:solidFill>
              <a:srgbClr val="FFFFFF"/>
            </a:solidFill>
            <a:prstDash val="solid"/>
          </a:ln>
        </p:spPr>
        <p:txBody>
          <a:bodyPr/>
          <a:lstStyle/>
          <a:p>
            <a:endParaRPr lang="sv-SE"/>
          </a:p>
        </p:txBody>
      </p:sp>
      <p:sp>
        <p:nvSpPr>
          <p:cNvPr id="70" name="Shape 68"/>
          <p:cNvSpPr/>
          <p:nvPr/>
        </p:nvSpPr>
        <p:spPr>
          <a:xfrm>
            <a:off x="6822339" y="3411335"/>
            <a:ext cx="91440" cy="91440"/>
          </a:xfrm>
          <a:prstGeom prst="ellipse">
            <a:avLst/>
          </a:prstGeom>
          <a:solidFill>
            <a:srgbClr val="4A3AA7"/>
          </a:solidFill>
          <a:ln w="9525">
            <a:solidFill>
              <a:srgbClr val="FFFFFF"/>
            </a:solidFill>
            <a:prstDash val="solid"/>
          </a:ln>
        </p:spPr>
        <p:txBody>
          <a:bodyPr/>
          <a:lstStyle/>
          <a:p>
            <a:endParaRPr lang="sv-SE"/>
          </a:p>
        </p:txBody>
      </p:sp>
      <p:sp>
        <p:nvSpPr>
          <p:cNvPr id="71" name="Shape 69"/>
          <p:cNvSpPr/>
          <p:nvPr/>
        </p:nvSpPr>
        <p:spPr>
          <a:xfrm>
            <a:off x="6777279" y="3270528"/>
            <a:ext cx="91440" cy="91440"/>
          </a:xfrm>
          <a:prstGeom prst="ellipse">
            <a:avLst/>
          </a:prstGeom>
          <a:solidFill>
            <a:srgbClr val="4A3AA7"/>
          </a:solidFill>
          <a:ln w="9525">
            <a:solidFill>
              <a:srgbClr val="FFFFFF"/>
            </a:solidFill>
            <a:prstDash val="solid"/>
          </a:ln>
        </p:spPr>
        <p:txBody>
          <a:bodyPr/>
          <a:lstStyle/>
          <a:p>
            <a:endParaRPr lang="sv-SE"/>
          </a:p>
        </p:txBody>
      </p:sp>
      <p:sp>
        <p:nvSpPr>
          <p:cNvPr id="72" name="Text 70"/>
          <p:cNvSpPr txBox="1"/>
          <p:nvPr/>
        </p:nvSpPr>
        <p:spPr>
          <a:xfrm>
            <a:off x="6613855" y="2593787"/>
            <a:ext cx="1097280" cy="201168"/>
          </a:xfrm>
          <a:prstGeom prst="rect">
            <a:avLst/>
          </a:prstGeom>
          <a:noFill/>
          <a:ln/>
        </p:spPr>
        <p:txBody>
          <a:bodyPr wrap="square" lIns="0" tIns="0" rIns="0" bIns="0" rtlCol="0" anchor="ctr"/>
          <a:lstStyle/>
          <a:p>
            <a:pPr marL="0" indent="0">
              <a:buNone/>
            </a:pPr>
            <a:r>
              <a:rPr lang="en-US" sz="1000" b="1" dirty="0">
                <a:solidFill>
                  <a:srgbClr val="4A3AA7"/>
                </a:solidFill>
                <a:latin typeface="Calibri" pitchFamily="34" charset="0"/>
                <a:ea typeface="Calibri" pitchFamily="34" charset="-122"/>
                <a:cs typeface="Calibri" pitchFamily="34" charset="-120"/>
              </a:rPr>
              <a:t>surface</a:t>
            </a:r>
            <a:endParaRPr lang="en-US" sz="1000" dirty="0"/>
          </a:p>
        </p:txBody>
      </p:sp>
      <p:sp>
        <p:nvSpPr>
          <p:cNvPr id="73" name="Text 71"/>
          <p:cNvSpPr txBox="1"/>
          <p:nvPr/>
        </p:nvSpPr>
        <p:spPr>
          <a:xfrm>
            <a:off x="658368" y="2487168"/>
            <a:ext cx="365760" cy="182880"/>
          </a:xfrm>
          <a:prstGeom prst="rect">
            <a:avLst/>
          </a:prstGeom>
          <a:noFill/>
          <a:ln/>
        </p:spPr>
        <p:txBody>
          <a:bodyPr wrap="square" lIns="0" tIns="0" rIns="0" bIns="0" rtlCol="0" anchor="ctr"/>
          <a:lstStyle/>
          <a:p>
            <a:pPr marL="0" indent="0">
              <a:buNone/>
            </a:pPr>
            <a:r>
              <a:rPr lang="en-US" sz="900" dirty="0">
                <a:solidFill>
                  <a:srgbClr val="5F7178"/>
                </a:solidFill>
                <a:latin typeface="Calibri" pitchFamily="34" charset="0"/>
                <a:ea typeface="Calibri" pitchFamily="34" charset="-122"/>
                <a:cs typeface="Calibri" pitchFamily="34" charset="-120"/>
              </a:rPr>
              <a:t>PC2</a:t>
            </a:r>
            <a:endParaRPr lang="en-US" sz="900" dirty="0"/>
          </a:p>
        </p:txBody>
      </p:sp>
      <p:sp>
        <p:nvSpPr>
          <p:cNvPr id="74" name="Text 72"/>
          <p:cNvSpPr txBox="1"/>
          <p:nvPr/>
        </p:nvSpPr>
        <p:spPr>
          <a:xfrm>
            <a:off x="7863840" y="3803904"/>
            <a:ext cx="411480" cy="182880"/>
          </a:xfrm>
          <a:prstGeom prst="rect">
            <a:avLst/>
          </a:prstGeom>
          <a:noFill/>
          <a:ln/>
        </p:spPr>
        <p:txBody>
          <a:bodyPr wrap="square" lIns="0" tIns="0" rIns="0" bIns="0" rtlCol="0" anchor="ctr"/>
          <a:lstStyle/>
          <a:p>
            <a:pPr marL="0" indent="0" algn="r">
              <a:buNone/>
            </a:pPr>
            <a:r>
              <a:rPr lang="en-US" sz="900" dirty="0">
                <a:solidFill>
                  <a:srgbClr val="5F7178"/>
                </a:solidFill>
                <a:latin typeface="Calibri" pitchFamily="34" charset="0"/>
                <a:ea typeface="Calibri" pitchFamily="34" charset="-122"/>
                <a:cs typeface="Calibri" pitchFamily="34" charset="-120"/>
              </a:rPr>
              <a:t>PC1</a:t>
            </a:r>
            <a:endParaRPr lang="en-US" sz="900" dirty="0"/>
          </a:p>
        </p:txBody>
      </p:sp>
      <p:sp>
        <p:nvSpPr>
          <p:cNvPr id="75" name="Text 73"/>
          <p:cNvSpPr txBox="1"/>
          <p:nvPr/>
        </p:nvSpPr>
        <p:spPr>
          <a:xfrm>
            <a:off x="1051560" y="3803904"/>
            <a:ext cx="6766560" cy="182880"/>
          </a:xfrm>
          <a:prstGeom prst="rect">
            <a:avLst/>
          </a:prstGeom>
          <a:noFill/>
          <a:ln/>
        </p:spPr>
        <p:txBody>
          <a:bodyPr wrap="square" lIns="0" tIns="0" rIns="0" bIns="0" rtlCol="0" anchor="ctr"/>
          <a:lstStyle/>
          <a:p>
            <a:pPr marL="0" indent="0" algn="ctr">
              <a:buNone/>
            </a:pPr>
            <a:r>
              <a:rPr lang="en-US" sz="900" i="1" dirty="0">
                <a:solidFill>
                  <a:srgbClr val="5F7178"/>
                </a:solidFill>
                <a:latin typeface="Calibri" pitchFamily="34" charset="0"/>
                <a:ea typeface="Calibri" pitchFamily="34" charset="-122"/>
                <a:cs typeface="Calibri" pitchFamily="34" charset="-120"/>
              </a:rPr>
              <a:t>PC1 and PC2 — the five geometry parameters projected to two dimensions  ·  illustrative</a:t>
            </a:r>
            <a:endParaRPr lang="en-US" sz="900" dirty="0"/>
          </a:p>
        </p:txBody>
      </p:sp>
      <p:sp>
        <p:nvSpPr>
          <p:cNvPr id="76" name="Text 74"/>
          <p:cNvSpPr txBox="1"/>
          <p:nvPr/>
        </p:nvSpPr>
        <p:spPr>
          <a:xfrm>
            <a:off x="457200" y="4261104"/>
            <a:ext cx="8229600" cy="310896"/>
          </a:xfrm>
          <a:prstGeom prst="rect">
            <a:avLst/>
          </a:prstGeom>
          <a:noFill/>
          <a:ln/>
        </p:spPr>
        <p:txBody>
          <a:bodyPr wrap="square" lIns="0" tIns="0" rIns="0" bIns="0" rtlCol="0" anchor="ctr"/>
          <a:lstStyle/>
          <a:p>
            <a:pPr marL="0" indent="0" algn="ctr">
              <a:buNone/>
            </a:pPr>
            <a:r>
              <a:rPr lang="en-US" sz="1300" b="1" i="1" dirty="0">
                <a:solidFill>
                  <a:srgbClr val="028090"/>
                </a:solidFill>
                <a:latin typeface="Cambria" pitchFamily="34" charset="0"/>
                <a:ea typeface="Cambria" pitchFamily="34" charset="-122"/>
                <a:cs typeface="Cambria" pitchFamily="34" charset="-120"/>
              </a:rPr>
              <a:t>Instead of “something is wrong here”, the answer becomes “the gauge is wrong here”.</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ctr"/>
          <a:lstStyle/>
          <a:p>
            <a:pPr marL="0" indent="0">
              <a:buNone/>
            </a:pPr>
            <a:r>
              <a:rPr lang="en-US" sz="1100" b="1" kern="0" spc="200" dirty="0">
                <a:solidFill>
                  <a:srgbClr val="028090"/>
                </a:solidFill>
                <a:latin typeface="Calibri" pitchFamily="34" charset="0"/>
                <a:ea typeface="Calibri" pitchFamily="34" charset="-122"/>
                <a:cs typeface="Calibri" pitchFamily="34" charset="-120"/>
              </a:rPr>
              <a:t>ANALYSIS</a:t>
            </a:r>
            <a:endParaRPr lang="en-US" sz="11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marL="0" indent="0">
              <a:buNone/>
            </a:pPr>
            <a:r>
              <a:rPr lang="en-US" sz="2700" b="1" dirty="0">
                <a:solidFill>
                  <a:srgbClr val="16262B"/>
                </a:solidFill>
                <a:latin typeface="Cambria" pitchFamily="34" charset="0"/>
                <a:ea typeface="Cambria" pitchFamily="34" charset="-122"/>
                <a:cs typeface="Cambria" pitchFamily="34" charset="-120"/>
              </a:rPr>
              <a:t>Each fault type has a geometric signature</a:t>
            </a:r>
            <a:endParaRPr lang="en-US" sz="2700" dirty="0"/>
          </a:p>
        </p:txBody>
      </p:sp>
      <p:sp>
        <p:nvSpPr>
          <p:cNvPr id="4" name="Text 2"/>
          <p:cNvSpPr txBox="1"/>
          <p:nvPr/>
        </p:nvSpPr>
        <p:spPr>
          <a:xfrm>
            <a:off x="457200" y="1115568"/>
            <a:ext cx="8229600" cy="274320"/>
          </a:xfrm>
          <a:prstGeom prst="rect">
            <a:avLst/>
          </a:prstGeom>
          <a:noFill/>
          <a:ln/>
        </p:spPr>
        <p:txBody>
          <a:bodyPr wrap="square" lIns="0" tIns="0" rIns="0" bIns="0" rtlCol="0" anchor="ctr"/>
          <a:lstStyle/>
          <a:p>
            <a:pPr marL="0" indent="0">
              <a:buNone/>
            </a:pPr>
            <a:r>
              <a:rPr lang="en-US" sz="1250" dirty="0">
                <a:solidFill>
                  <a:srgbClr val="16262B"/>
                </a:solidFill>
                <a:latin typeface="Calibri" pitchFamily="34" charset="0"/>
                <a:ea typeface="Calibri" pitchFamily="34" charset="-122"/>
                <a:cs typeface="Calibri" pitchFamily="34" charset="-120"/>
              </a:rPr>
              <a:t>For every group, the average deviation of each geometry parameter. One parameter dominates each group — that is what names it.</a:t>
            </a:r>
            <a:endParaRPr lang="en-US" sz="1250" dirty="0"/>
          </a:p>
        </p:txBody>
      </p:sp>
      <p:graphicFrame>
        <p:nvGraphicFramePr>
          <p:cNvPr id="5" name="Chart 0"/>
          <p:cNvGraphicFramePr/>
          <p:nvPr/>
        </p:nvGraphicFramePr>
        <p:xfrm>
          <a:off x="457200" y="1444752"/>
          <a:ext cx="8229600" cy="260604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3"/>
          <p:cNvSpPr txBox="1"/>
          <p:nvPr/>
        </p:nvSpPr>
        <p:spPr>
          <a:xfrm>
            <a:off x="457200" y="4206240"/>
            <a:ext cx="8229600" cy="310896"/>
          </a:xfrm>
          <a:prstGeom prst="rect">
            <a:avLst/>
          </a:prstGeom>
          <a:noFill/>
          <a:ln/>
        </p:spPr>
        <p:txBody>
          <a:bodyPr wrap="square" lIns="0" tIns="0" rIns="0" bIns="0" rtlCol="0" anchor="ctr"/>
          <a:lstStyle/>
          <a:p>
            <a:pPr marL="0" indent="0" algn="ctr">
              <a:buNone/>
            </a:pPr>
            <a:r>
              <a:rPr lang="en-US" sz="1250" b="1" i="1" dirty="0">
                <a:solidFill>
                  <a:srgbClr val="028090"/>
                </a:solidFill>
                <a:latin typeface="Cambria" pitchFamily="34" charset="0"/>
                <a:ea typeface="Cambria" pitchFamily="34" charset="-122"/>
                <a:cs typeface="Cambria" pitchFamily="34" charset="-120"/>
              </a:rPr>
              <a:t>A group is no longer just a cluster number — it is “the gauge is out here”, which is something a maintenance planner can act on.</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ctr"/>
          <a:lstStyle/>
          <a:p>
            <a:pPr marL="0" indent="0">
              <a:buNone/>
            </a:pPr>
            <a:r>
              <a:rPr lang="en-US" sz="1100" b="1" kern="0" spc="200" dirty="0">
                <a:solidFill>
                  <a:srgbClr val="028090"/>
                </a:solidFill>
                <a:latin typeface="Calibri" pitchFamily="34" charset="0"/>
                <a:ea typeface="Calibri" pitchFamily="34" charset="-122"/>
                <a:cs typeface="Calibri" pitchFamily="34" charset="-120"/>
              </a:rPr>
              <a:t>ANALYSIS</a:t>
            </a:r>
            <a:endParaRPr lang="en-US" sz="11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marL="0" indent="0">
              <a:buNone/>
            </a:pPr>
            <a:r>
              <a:rPr lang="en-US" sz="2700" b="1" dirty="0">
                <a:solidFill>
                  <a:srgbClr val="16262B"/>
                </a:solidFill>
                <a:latin typeface="Cambria" pitchFamily="34" charset="0"/>
                <a:ea typeface="Cambria" pitchFamily="34" charset="-122"/>
                <a:cs typeface="Cambria" pitchFamily="34" charset="-120"/>
              </a:rPr>
              <a:t>Can the fault type be predicted from vibration alone?</a:t>
            </a:r>
            <a:endParaRPr lang="en-US" sz="2700" dirty="0"/>
          </a:p>
        </p:txBody>
      </p:sp>
      <p:sp>
        <p:nvSpPr>
          <p:cNvPr id="4" name="Text 2"/>
          <p:cNvSpPr txBox="1"/>
          <p:nvPr/>
        </p:nvSpPr>
        <p:spPr>
          <a:xfrm>
            <a:off x="457200" y="1115568"/>
            <a:ext cx="8229600" cy="274320"/>
          </a:xfrm>
          <a:prstGeom prst="rect">
            <a:avLst/>
          </a:prstGeom>
          <a:noFill/>
          <a:ln/>
        </p:spPr>
        <p:txBody>
          <a:bodyPr wrap="square" lIns="0" tIns="0" rIns="0" bIns="0" rtlCol="0" anchor="ctr"/>
          <a:lstStyle/>
          <a:p>
            <a:pPr marL="0" indent="0">
              <a:buNone/>
            </a:pPr>
            <a:r>
              <a:rPr lang="en-US" sz="1250" dirty="0">
                <a:solidFill>
                  <a:srgbClr val="16262B"/>
                </a:solidFill>
                <a:latin typeface="Calibri" pitchFamily="34" charset="0"/>
                <a:ea typeface="Calibri" pitchFamily="34" charset="-122"/>
                <a:cs typeface="Calibri" pitchFamily="34" charset="-120"/>
              </a:rPr>
              <a:t>Geometry defines the fault types once. The classifier is then trained on the vibration features only — so no scan is needed to diagnose the next event.</a:t>
            </a:r>
            <a:endParaRPr lang="en-US" sz="12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57200" y="1481328"/>
          <a:ext cx="4846320" cy="1645920"/>
        </p:xfrm>
        <a:graphic>
          <a:graphicData uri="http://schemas.openxmlformats.org/drawingml/2006/table">
            <a:tbl>
              <a:tblPr/>
              <a:tblGrid>
                <a:gridCol w="1554480">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gridCol w="822960">
                  <a:extLst>
                    <a:ext uri="{9D8B030D-6E8A-4147-A177-3AD203B41FA5}">
                      <a16:colId xmlns:a16="http://schemas.microsoft.com/office/drawing/2014/main" val="20002"/>
                    </a:ext>
                  </a:extLst>
                </a:gridCol>
                <a:gridCol w="822960">
                  <a:extLst>
                    <a:ext uri="{9D8B030D-6E8A-4147-A177-3AD203B41FA5}">
                      <a16:colId xmlns:a16="http://schemas.microsoft.com/office/drawing/2014/main" val="20003"/>
                    </a:ext>
                  </a:extLst>
                </a:gridCol>
                <a:gridCol w="822960">
                  <a:extLst>
                    <a:ext uri="{9D8B030D-6E8A-4147-A177-3AD203B41FA5}">
                      <a16:colId xmlns:a16="http://schemas.microsoft.com/office/drawing/2014/main" val="20004"/>
                    </a:ext>
                  </a:extLst>
                </a:gridCol>
              </a:tblGrid>
              <a:tr h="329184">
                <a:tc>
                  <a:txBody>
                    <a:bodyPr/>
                    <a:lstStyle/>
                    <a:p>
                      <a:pPr marL="0" indent="0" algn="ctr">
                        <a:buNone/>
                      </a:pPr>
                      <a:r>
                        <a:rPr lang="en-US" sz="900" i="1" dirty="0">
                          <a:solidFill>
                            <a:srgbClr val="FFFFFF"/>
                          </a:solidFill>
                          <a:latin typeface="Calibri" pitchFamily="34" charset="0"/>
                          <a:ea typeface="Calibri" pitchFamily="34" charset="-122"/>
                          <a:cs typeface="Calibri" pitchFamily="34" charset="-120"/>
                        </a:rPr>
                        <a:t>true ↓   predicted →</a:t>
                      </a:r>
                      <a:endParaRPr lang="en-US" sz="900" dirty="0">
                        <a:latin typeface="Calibri" charset="0"/>
                        <a:ea typeface="Calibri" charset="0"/>
                        <a:cs typeface="Calibri"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28090"/>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normal</a:t>
                      </a:r>
                      <a:endParaRPr lang="en-US" sz="1050" dirty="0">
                        <a:latin typeface="Calibri" charset="0"/>
                        <a:ea typeface="Calibri" charset="0"/>
                        <a:cs typeface="Calibri"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28090"/>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gauge</a:t>
                      </a:r>
                      <a:endParaRPr lang="en-US" sz="1050" dirty="0">
                        <a:latin typeface="Calibri" charset="0"/>
                        <a:ea typeface="Calibri" charset="0"/>
                        <a:cs typeface="Calibri"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28090"/>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twist</a:t>
                      </a:r>
                      <a:endParaRPr lang="en-US" sz="1050" dirty="0">
                        <a:latin typeface="Calibri" charset="0"/>
                        <a:ea typeface="Calibri" charset="0"/>
                        <a:cs typeface="Calibri"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28090"/>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surface</a:t>
                      </a:r>
                      <a:endParaRPr lang="en-US" sz="1050" dirty="0">
                        <a:latin typeface="Calibri" charset="0"/>
                        <a:ea typeface="Calibri" charset="0"/>
                        <a:cs typeface="Calibri"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28090"/>
                    </a:solidFill>
                  </a:tcPr>
                </a:tc>
                <a:extLst>
                  <a:ext uri="{0D108BD9-81ED-4DB2-BD59-A6C34878D82A}">
                    <a16:rowId xmlns:a16="http://schemas.microsoft.com/office/drawing/2014/main" val="10000"/>
                  </a:ext>
                </a:extLst>
              </a:tr>
              <a:tr h="329184">
                <a:tc>
                  <a:txBody>
                    <a:bodyPr/>
                    <a:lstStyle/>
                    <a:p>
                      <a:pPr marL="0" indent="0" algn="l">
                        <a:buNone/>
                      </a:pPr>
                      <a:r>
                        <a:rPr lang="en-US" sz="1050" b="1" dirty="0">
                          <a:solidFill>
                            <a:srgbClr val="16262B"/>
                          </a:solidFill>
                          <a:latin typeface="Calibri" pitchFamily="34" charset="0"/>
                          <a:ea typeface="Calibri" pitchFamily="34" charset="-122"/>
                          <a:cs typeface="Calibri" pitchFamily="34" charset="-120"/>
                        </a:rPr>
                        <a:t>normal</a:t>
                      </a:r>
                      <a:endParaRPr lang="en-US" sz="1050" dirty="0">
                        <a:latin typeface="Calibri" charset="0"/>
                        <a:ea typeface="Calibri" charset="0"/>
                        <a:cs typeface="Calibri"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F5F5"/>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88</a:t>
                      </a:r>
                      <a:endParaRPr lang="en-US" sz="1100" dirty="0">
                        <a:latin typeface="Calibri" charset="0"/>
                        <a:ea typeface="Calibri" charset="0"/>
                        <a:cs typeface="Calibri"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26873"/>
                    </a:solidFill>
                  </a:tcPr>
                </a:tc>
                <a:tc>
                  <a:txBody>
                    <a:bodyPr/>
                    <a:lstStyle/>
                    <a:p>
                      <a:pPr marL="0" indent="0" algn="ctr">
                        <a:buNone/>
                      </a:pPr>
                      <a:r>
                        <a:rPr lang="en-US" sz="1100" dirty="0">
                          <a:solidFill>
                            <a:srgbClr val="5F7178"/>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EDEF"/>
                    </a:solidFill>
                  </a:tcPr>
                </a:tc>
                <a:tc>
                  <a:txBody>
                    <a:bodyPr/>
                    <a:lstStyle/>
                    <a:p>
                      <a:pPr marL="0" indent="0" algn="ctr">
                        <a:buNone/>
                      </a:pPr>
                      <a:r>
                        <a:rPr lang="en-US" sz="1100" dirty="0">
                          <a:solidFill>
                            <a:srgbClr val="5F7178"/>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EDEF"/>
                    </a:solidFill>
                  </a:tcPr>
                </a:tc>
                <a:tc>
                  <a:txBody>
                    <a:bodyPr/>
                    <a:lstStyle/>
                    <a:p>
                      <a:pPr marL="0" indent="0" algn="ctr">
                        <a:buNone/>
                      </a:pPr>
                      <a:r>
                        <a:rPr lang="en-US" sz="1100" dirty="0">
                          <a:solidFill>
                            <a:srgbClr val="5F7178"/>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EDEF"/>
                    </a:solidFill>
                  </a:tcPr>
                </a:tc>
                <a:extLst>
                  <a:ext uri="{0D108BD9-81ED-4DB2-BD59-A6C34878D82A}">
                    <a16:rowId xmlns:a16="http://schemas.microsoft.com/office/drawing/2014/main" val="10001"/>
                  </a:ext>
                </a:extLst>
              </a:tr>
              <a:tr h="329184">
                <a:tc>
                  <a:txBody>
                    <a:bodyPr/>
                    <a:lstStyle/>
                    <a:p>
                      <a:pPr marL="0" indent="0" algn="l">
                        <a:buNone/>
                      </a:pPr>
                      <a:r>
                        <a:rPr lang="en-US" sz="1050" b="1" dirty="0">
                          <a:solidFill>
                            <a:srgbClr val="16262B"/>
                          </a:solidFill>
                          <a:latin typeface="Calibri" pitchFamily="34" charset="0"/>
                          <a:ea typeface="Calibri" pitchFamily="34" charset="-122"/>
                          <a:cs typeface="Calibri" pitchFamily="34" charset="-120"/>
                        </a:rPr>
                        <a:t>gauge</a:t>
                      </a:r>
                      <a:endParaRPr lang="en-US" sz="1050" dirty="0">
                        <a:latin typeface="Calibri" charset="0"/>
                        <a:ea typeface="Calibri" charset="0"/>
                        <a:cs typeface="Calibri"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F5F5"/>
                    </a:solidFill>
                  </a:tcPr>
                </a:tc>
                <a:tc>
                  <a:txBody>
                    <a:bodyPr/>
                    <a:lstStyle/>
                    <a:p>
                      <a:pPr marL="0" indent="0" algn="ctr">
                        <a:buNone/>
                      </a:pPr>
                      <a:r>
                        <a:rPr lang="en-US" sz="1100" dirty="0">
                          <a:solidFill>
                            <a:srgbClr val="16262B"/>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6FBAC3"/>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14</a:t>
                      </a:r>
                      <a:endParaRPr lang="en-US" sz="1100" dirty="0">
                        <a:latin typeface="Calibri" charset="0"/>
                        <a:ea typeface="Calibri" charset="0"/>
                        <a:cs typeface="Calibri"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28090"/>
                    </a:solidFill>
                  </a:tcPr>
                </a:tc>
                <a:tc>
                  <a:txBody>
                    <a:bodyPr/>
                    <a:lstStyle/>
                    <a:p>
                      <a:pPr marL="0" indent="0" algn="ctr">
                        <a:buNone/>
                      </a:pPr>
                      <a:r>
                        <a:rPr lang="en-US" sz="1100" dirty="0">
                          <a:solidFill>
                            <a:srgbClr val="5F7178"/>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EDEF"/>
                    </a:solidFill>
                  </a:tcPr>
                </a:tc>
                <a:tc>
                  <a:txBody>
                    <a:bodyPr/>
                    <a:lstStyle/>
                    <a:p>
                      <a:pPr marL="0" indent="0" algn="ctr">
                        <a:buNone/>
                      </a:pPr>
                      <a:r>
                        <a:rPr lang="en-US" sz="1100" dirty="0">
                          <a:solidFill>
                            <a:srgbClr val="5F7178"/>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EDEF"/>
                    </a:solidFill>
                  </a:tcPr>
                </a:tc>
                <a:extLst>
                  <a:ext uri="{0D108BD9-81ED-4DB2-BD59-A6C34878D82A}">
                    <a16:rowId xmlns:a16="http://schemas.microsoft.com/office/drawing/2014/main" val="10002"/>
                  </a:ext>
                </a:extLst>
              </a:tr>
              <a:tr h="329184">
                <a:tc>
                  <a:txBody>
                    <a:bodyPr/>
                    <a:lstStyle/>
                    <a:p>
                      <a:pPr marL="0" indent="0" algn="l">
                        <a:buNone/>
                      </a:pPr>
                      <a:r>
                        <a:rPr lang="en-US" sz="1050" b="1" dirty="0">
                          <a:solidFill>
                            <a:srgbClr val="16262B"/>
                          </a:solidFill>
                          <a:latin typeface="Calibri" pitchFamily="34" charset="0"/>
                          <a:ea typeface="Calibri" pitchFamily="34" charset="-122"/>
                          <a:cs typeface="Calibri" pitchFamily="34" charset="-120"/>
                        </a:rPr>
                        <a:t>twist</a:t>
                      </a:r>
                      <a:endParaRPr lang="en-US" sz="1050" dirty="0">
                        <a:latin typeface="Calibri" charset="0"/>
                        <a:ea typeface="Calibri" charset="0"/>
                        <a:cs typeface="Calibri"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F5F5"/>
                    </a:solidFill>
                  </a:tcPr>
                </a:tc>
                <a:tc>
                  <a:txBody>
                    <a:bodyPr/>
                    <a:lstStyle/>
                    <a:p>
                      <a:pPr marL="0" indent="0" algn="ctr">
                        <a:buNone/>
                      </a:pPr>
                      <a:r>
                        <a:rPr lang="en-US" sz="1100" dirty="0">
                          <a:solidFill>
                            <a:srgbClr val="5F7178"/>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EDEF"/>
                    </a:solidFill>
                  </a:tcPr>
                </a:tc>
                <a:tc>
                  <a:txBody>
                    <a:bodyPr/>
                    <a:lstStyle/>
                    <a:p>
                      <a:pPr marL="0" indent="0" algn="ctr">
                        <a:buNone/>
                      </a:pPr>
                      <a:r>
                        <a:rPr lang="en-US" sz="1100" dirty="0">
                          <a:solidFill>
                            <a:srgbClr val="5F7178"/>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EDEF"/>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19</a:t>
                      </a:r>
                      <a:endParaRPr lang="en-US" sz="1100" dirty="0">
                        <a:latin typeface="Calibri" charset="0"/>
                        <a:ea typeface="Calibri" charset="0"/>
                        <a:cs typeface="Calibri"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28090"/>
                    </a:solidFill>
                  </a:tcPr>
                </a:tc>
                <a:tc>
                  <a:txBody>
                    <a:bodyPr/>
                    <a:lstStyle/>
                    <a:p>
                      <a:pPr marL="0" indent="0" algn="ctr">
                        <a:buNone/>
                      </a:pPr>
                      <a:r>
                        <a:rPr lang="en-US" sz="1100" dirty="0">
                          <a:solidFill>
                            <a:srgbClr val="5F7178"/>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EDEF"/>
                    </a:solidFill>
                  </a:tcPr>
                </a:tc>
                <a:extLst>
                  <a:ext uri="{0D108BD9-81ED-4DB2-BD59-A6C34878D82A}">
                    <a16:rowId xmlns:a16="http://schemas.microsoft.com/office/drawing/2014/main" val="10003"/>
                  </a:ext>
                </a:extLst>
              </a:tr>
              <a:tr h="329184">
                <a:tc>
                  <a:txBody>
                    <a:bodyPr/>
                    <a:lstStyle/>
                    <a:p>
                      <a:pPr marL="0" indent="0" algn="l">
                        <a:buNone/>
                      </a:pPr>
                      <a:r>
                        <a:rPr lang="en-US" sz="1050" b="1" dirty="0">
                          <a:solidFill>
                            <a:srgbClr val="16262B"/>
                          </a:solidFill>
                          <a:latin typeface="Calibri" pitchFamily="34" charset="0"/>
                          <a:ea typeface="Calibri" pitchFamily="34" charset="-122"/>
                          <a:cs typeface="Calibri" pitchFamily="34" charset="-120"/>
                        </a:rPr>
                        <a:t>surface</a:t>
                      </a:r>
                      <a:endParaRPr lang="en-US" sz="1050" dirty="0">
                        <a:latin typeface="Calibri" charset="0"/>
                        <a:ea typeface="Calibri" charset="0"/>
                        <a:cs typeface="Calibri"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F5F5"/>
                    </a:solidFill>
                  </a:tcPr>
                </a:tc>
                <a:tc>
                  <a:txBody>
                    <a:bodyPr/>
                    <a:lstStyle/>
                    <a:p>
                      <a:pPr marL="0" indent="0" algn="ctr">
                        <a:buNone/>
                      </a:pPr>
                      <a:r>
                        <a:rPr lang="en-US" sz="1100" dirty="0">
                          <a:solidFill>
                            <a:srgbClr val="5F7178"/>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EDEF"/>
                    </a:solidFill>
                  </a:tcPr>
                </a:tc>
                <a:tc>
                  <a:txBody>
                    <a:bodyPr/>
                    <a:lstStyle/>
                    <a:p>
                      <a:pPr marL="0" indent="0" algn="ctr">
                        <a:buNone/>
                      </a:pPr>
                      <a:r>
                        <a:rPr lang="en-US" sz="1100" dirty="0">
                          <a:solidFill>
                            <a:srgbClr val="5F7178"/>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EDEF"/>
                    </a:solidFill>
                  </a:tcPr>
                </a:tc>
                <a:tc>
                  <a:txBody>
                    <a:bodyPr/>
                    <a:lstStyle/>
                    <a:p>
                      <a:pPr marL="0" indent="0" algn="ctr">
                        <a:buNone/>
                      </a:pPr>
                      <a:r>
                        <a:rPr lang="en-US" sz="1100" dirty="0">
                          <a:solidFill>
                            <a:srgbClr val="16262B"/>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6FBAC3"/>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11</a:t>
                      </a:r>
                      <a:endParaRPr lang="en-US" sz="1100" dirty="0">
                        <a:latin typeface="Calibri" charset="0"/>
                        <a:ea typeface="Calibri" charset="0"/>
                        <a:cs typeface="Calibri"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28090"/>
                    </a:solidFill>
                  </a:tcPr>
                </a:tc>
                <a:extLst>
                  <a:ext uri="{0D108BD9-81ED-4DB2-BD59-A6C34878D82A}">
                    <a16:rowId xmlns:a16="http://schemas.microsoft.com/office/drawing/2014/main" val="10004"/>
                  </a:ext>
                </a:extLst>
              </a:tr>
            </a:tbl>
          </a:graphicData>
        </a:graphic>
      </p:graphicFrame>
      <p:sp>
        <p:nvSpPr>
          <p:cNvPr id="6" name="Text 3"/>
          <p:cNvSpPr txBox="1"/>
          <p:nvPr/>
        </p:nvSpPr>
        <p:spPr>
          <a:xfrm>
            <a:off x="457200" y="3200400"/>
            <a:ext cx="4846320" cy="219456"/>
          </a:xfrm>
          <a:prstGeom prst="rect">
            <a:avLst/>
          </a:prstGeom>
          <a:noFill/>
          <a:ln/>
        </p:spPr>
        <p:txBody>
          <a:bodyPr wrap="square" lIns="0" tIns="0" rIns="0" bIns="0" rtlCol="0" anchor="ctr"/>
          <a:lstStyle/>
          <a:p>
            <a:pPr marL="0" indent="0">
              <a:buNone/>
            </a:pPr>
            <a:r>
              <a:rPr lang="en-US" sz="950" i="1" dirty="0">
                <a:solidFill>
                  <a:srgbClr val="5F7178"/>
                </a:solidFill>
                <a:latin typeface="Calibri" pitchFamily="34" charset="0"/>
                <a:ea typeface="Calibri" pitchFamily="34" charset="-122"/>
                <a:cs typeface="Calibri" pitchFamily="34" charset="-120"/>
              </a:rPr>
              <a:t>Counts over 150 events. Diagonal = correct. Illustrative.</a:t>
            </a:r>
            <a:endParaRPr lang="en-US" sz="950" dirty="0"/>
          </a:p>
        </p:txBody>
      </p:sp>
      <p:sp>
        <p:nvSpPr>
          <p:cNvPr id="7" name="Shape 4"/>
          <p:cNvSpPr/>
          <p:nvPr/>
        </p:nvSpPr>
        <p:spPr>
          <a:xfrm>
            <a:off x="5486400" y="1481328"/>
            <a:ext cx="3200400" cy="585216"/>
          </a:xfrm>
          <a:prstGeom prst="roundRect">
            <a:avLst>
              <a:gd name="adj" fmla="val 9375"/>
            </a:avLst>
          </a:prstGeom>
          <a:solidFill>
            <a:srgbClr val="EDF5F5"/>
          </a:solidFill>
          <a:ln w="12700">
            <a:solidFill>
              <a:srgbClr val="EDF5F5"/>
            </a:solidFill>
            <a:prstDash val="solid"/>
          </a:ln>
        </p:spPr>
        <p:txBody>
          <a:bodyPr/>
          <a:lstStyle/>
          <a:p>
            <a:endParaRPr lang="sv-SE"/>
          </a:p>
        </p:txBody>
      </p:sp>
      <p:sp>
        <p:nvSpPr>
          <p:cNvPr id="8" name="Text 5"/>
          <p:cNvSpPr txBox="1"/>
          <p:nvPr/>
        </p:nvSpPr>
        <p:spPr>
          <a:xfrm>
            <a:off x="5596128" y="1481328"/>
            <a:ext cx="777240" cy="585216"/>
          </a:xfrm>
          <a:prstGeom prst="rect">
            <a:avLst/>
          </a:prstGeom>
          <a:noFill/>
          <a:ln/>
        </p:spPr>
        <p:txBody>
          <a:bodyPr wrap="square" lIns="0" tIns="0" rIns="0" bIns="0" rtlCol="0" anchor="ctr"/>
          <a:lstStyle/>
          <a:p>
            <a:pPr marL="0" indent="0" algn="ctr">
              <a:buNone/>
            </a:pPr>
            <a:r>
              <a:rPr lang="en-US" sz="1800" b="1" dirty="0">
                <a:solidFill>
                  <a:srgbClr val="028090"/>
                </a:solidFill>
                <a:latin typeface="Cambria" pitchFamily="34" charset="0"/>
                <a:ea typeface="Cambria" pitchFamily="34" charset="-122"/>
                <a:cs typeface="Cambria" pitchFamily="34" charset="-120"/>
              </a:rPr>
              <a:t>88 %</a:t>
            </a:r>
            <a:endParaRPr lang="en-US" sz="1800" dirty="0"/>
          </a:p>
        </p:txBody>
      </p:sp>
      <p:sp>
        <p:nvSpPr>
          <p:cNvPr id="9" name="Text 6"/>
          <p:cNvSpPr txBox="1"/>
          <p:nvPr/>
        </p:nvSpPr>
        <p:spPr>
          <a:xfrm>
            <a:off x="6419088" y="1536192"/>
            <a:ext cx="2194560" cy="237744"/>
          </a:xfrm>
          <a:prstGeom prst="rect">
            <a:avLst/>
          </a:prstGeom>
          <a:noFill/>
          <a:ln/>
        </p:spPr>
        <p:txBody>
          <a:bodyPr wrap="square" lIns="0" tIns="0" rIns="0" bIns="0" rtlCol="0" anchor="ctr"/>
          <a:lstStyle/>
          <a:p>
            <a:pPr marL="0" indent="0">
              <a:buNone/>
            </a:pPr>
            <a:r>
              <a:rPr lang="en-US" sz="1100" b="1" dirty="0">
                <a:solidFill>
                  <a:srgbClr val="16262B"/>
                </a:solidFill>
                <a:latin typeface="Calibri" pitchFamily="34" charset="0"/>
                <a:ea typeface="Calibri" pitchFamily="34" charset="-122"/>
                <a:cs typeface="Calibri" pitchFamily="34" charset="-120"/>
              </a:rPr>
              <a:t>correct across four classes</a:t>
            </a:r>
            <a:endParaRPr lang="en-US" sz="1100" dirty="0"/>
          </a:p>
        </p:txBody>
      </p:sp>
      <p:sp>
        <p:nvSpPr>
          <p:cNvPr id="10" name="Text 7"/>
          <p:cNvSpPr txBox="1"/>
          <p:nvPr/>
        </p:nvSpPr>
        <p:spPr>
          <a:xfrm>
            <a:off x="6419088" y="1773936"/>
            <a:ext cx="2212848" cy="256032"/>
          </a:xfrm>
          <a:prstGeom prst="rect">
            <a:avLst/>
          </a:prstGeom>
          <a:noFill/>
          <a:ln/>
        </p:spPr>
        <p:txBody>
          <a:bodyPr wrap="square" lIns="0" tIns="0" rIns="0" bIns="0" rtlCol="0" anchor="ctr"/>
          <a:lstStyle/>
          <a:p>
            <a:pPr marL="0" indent="0">
              <a:buNone/>
            </a:pPr>
            <a:r>
              <a:rPr lang="en-US" sz="900" dirty="0">
                <a:solidFill>
                  <a:srgbClr val="5F7178"/>
                </a:solidFill>
                <a:latin typeface="Calibri" pitchFamily="34" charset="0"/>
                <a:ea typeface="Calibri" pitchFamily="34" charset="-122"/>
                <a:cs typeface="Calibri" pitchFamily="34" charset="-120"/>
              </a:rPr>
              <a:t>against 93 % for the two-class model</a:t>
            </a:r>
            <a:endParaRPr lang="en-US" sz="900" dirty="0"/>
          </a:p>
        </p:txBody>
      </p:sp>
      <p:sp>
        <p:nvSpPr>
          <p:cNvPr id="11" name="Shape 8"/>
          <p:cNvSpPr/>
          <p:nvPr/>
        </p:nvSpPr>
        <p:spPr>
          <a:xfrm>
            <a:off x="5486400" y="2139696"/>
            <a:ext cx="3200400" cy="585216"/>
          </a:xfrm>
          <a:prstGeom prst="roundRect">
            <a:avLst>
              <a:gd name="adj" fmla="val 9375"/>
            </a:avLst>
          </a:prstGeom>
          <a:solidFill>
            <a:srgbClr val="EDF5F5"/>
          </a:solidFill>
          <a:ln w="12700">
            <a:solidFill>
              <a:srgbClr val="EDF5F5"/>
            </a:solidFill>
            <a:prstDash val="solid"/>
          </a:ln>
        </p:spPr>
        <p:txBody>
          <a:bodyPr/>
          <a:lstStyle/>
          <a:p>
            <a:endParaRPr lang="sv-SE"/>
          </a:p>
        </p:txBody>
      </p:sp>
      <p:sp>
        <p:nvSpPr>
          <p:cNvPr id="12" name="Text 9"/>
          <p:cNvSpPr txBox="1"/>
          <p:nvPr/>
        </p:nvSpPr>
        <p:spPr>
          <a:xfrm>
            <a:off x="5596128" y="2139696"/>
            <a:ext cx="777240" cy="585216"/>
          </a:xfrm>
          <a:prstGeom prst="rect">
            <a:avLst/>
          </a:prstGeom>
          <a:noFill/>
          <a:ln/>
        </p:spPr>
        <p:txBody>
          <a:bodyPr wrap="square" lIns="0" tIns="0" rIns="0" bIns="0" rtlCol="0" anchor="ctr"/>
          <a:lstStyle/>
          <a:p>
            <a:pPr marL="0" indent="0" algn="ctr">
              <a:buNone/>
            </a:pPr>
            <a:r>
              <a:rPr lang="en-US" sz="1800" b="1" dirty="0">
                <a:solidFill>
                  <a:srgbClr val="028090"/>
                </a:solidFill>
                <a:latin typeface="Cambria" pitchFamily="34" charset="0"/>
                <a:ea typeface="Cambria" pitchFamily="34" charset="-122"/>
                <a:cs typeface="Cambria" pitchFamily="34" charset="-120"/>
              </a:rPr>
              <a:t>4</a:t>
            </a:r>
            <a:endParaRPr lang="en-US" sz="1800" dirty="0"/>
          </a:p>
        </p:txBody>
      </p:sp>
      <p:sp>
        <p:nvSpPr>
          <p:cNvPr id="13" name="Text 10"/>
          <p:cNvSpPr txBox="1"/>
          <p:nvPr/>
        </p:nvSpPr>
        <p:spPr>
          <a:xfrm>
            <a:off x="6419088" y="2194560"/>
            <a:ext cx="2194560" cy="237744"/>
          </a:xfrm>
          <a:prstGeom prst="rect">
            <a:avLst/>
          </a:prstGeom>
          <a:noFill/>
          <a:ln/>
        </p:spPr>
        <p:txBody>
          <a:bodyPr wrap="square" lIns="0" tIns="0" rIns="0" bIns="0" rtlCol="0" anchor="ctr"/>
          <a:lstStyle/>
          <a:p>
            <a:pPr marL="0" indent="0">
              <a:buNone/>
            </a:pPr>
            <a:r>
              <a:rPr lang="en-US" sz="1100" b="1" dirty="0">
                <a:solidFill>
                  <a:srgbClr val="16262B"/>
                </a:solidFill>
                <a:latin typeface="Calibri" pitchFamily="34" charset="0"/>
                <a:ea typeface="Calibri" pitchFamily="34" charset="-122"/>
                <a:cs typeface="Calibri" pitchFamily="34" charset="-120"/>
              </a:rPr>
              <a:t>classes instead of 2</a:t>
            </a:r>
            <a:endParaRPr lang="en-US" sz="1100" dirty="0"/>
          </a:p>
        </p:txBody>
      </p:sp>
      <p:sp>
        <p:nvSpPr>
          <p:cNvPr id="5" name="Text 11"/>
          <p:cNvSpPr txBox="1"/>
          <p:nvPr/>
        </p:nvSpPr>
        <p:spPr>
          <a:xfrm>
            <a:off x="6419088" y="2432304"/>
            <a:ext cx="2212848" cy="256032"/>
          </a:xfrm>
          <a:prstGeom prst="rect">
            <a:avLst/>
          </a:prstGeom>
          <a:noFill/>
          <a:ln/>
        </p:spPr>
        <p:txBody>
          <a:bodyPr wrap="square" lIns="0" tIns="0" rIns="0" bIns="0" rtlCol="0" anchor="ctr"/>
          <a:lstStyle/>
          <a:p>
            <a:pPr marL="0" indent="0">
              <a:buNone/>
            </a:pPr>
            <a:r>
              <a:rPr lang="en-US" sz="900" dirty="0">
                <a:solidFill>
                  <a:srgbClr val="5F7178"/>
                </a:solidFill>
                <a:latin typeface="Calibri" pitchFamily="34" charset="0"/>
                <a:ea typeface="Calibri" pitchFamily="34" charset="-122"/>
                <a:cs typeface="Calibri" pitchFamily="34" charset="-120"/>
              </a:rPr>
              <a:t>normal, plus three fault types</a:t>
            </a:r>
            <a:endParaRPr lang="en-US" sz="900" dirty="0"/>
          </a:p>
        </p:txBody>
      </p:sp>
      <p:sp>
        <p:nvSpPr>
          <p:cNvPr id="15" name="Shape 12"/>
          <p:cNvSpPr/>
          <p:nvPr/>
        </p:nvSpPr>
        <p:spPr>
          <a:xfrm>
            <a:off x="5486400" y="2798064"/>
            <a:ext cx="3200400" cy="585216"/>
          </a:xfrm>
          <a:prstGeom prst="roundRect">
            <a:avLst>
              <a:gd name="adj" fmla="val 9375"/>
            </a:avLst>
          </a:prstGeom>
          <a:solidFill>
            <a:srgbClr val="EDF5F5"/>
          </a:solidFill>
          <a:ln w="12700">
            <a:solidFill>
              <a:srgbClr val="EDF5F5"/>
            </a:solidFill>
            <a:prstDash val="solid"/>
          </a:ln>
        </p:spPr>
        <p:txBody>
          <a:bodyPr/>
          <a:lstStyle/>
          <a:p>
            <a:endParaRPr lang="sv-SE"/>
          </a:p>
        </p:txBody>
      </p:sp>
      <p:sp>
        <p:nvSpPr>
          <p:cNvPr id="16" name="Text 13"/>
          <p:cNvSpPr txBox="1"/>
          <p:nvPr/>
        </p:nvSpPr>
        <p:spPr>
          <a:xfrm>
            <a:off x="5596128" y="2798064"/>
            <a:ext cx="777240" cy="585216"/>
          </a:xfrm>
          <a:prstGeom prst="rect">
            <a:avLst/>
          </a:prstGeom>
          <a:noFill/>
          <a:ln/>
        </p:spPr>
        <p:txBody>
          <a:bodyPr wrap="square" lIns="0" tIns="0" rIns="0" bIns="0" rtlCol="0" anchor="ctr"/>
          <a:lstStyle/>
          <a:p>
            <a:pPr marL="0" indent="0" algn="ctr">
              <a:buNone/>
            </a:pPr>
            <a:r>
              <a:rPr lang="en-US" sz="1800" b="1" dirty="0">
                <a:solidFill>
                  <a:srgbClr val="028090"/>
                </a:solidFill>
                <a:latin typeface="Cambria" pitchFamily="34" charset="0"/>
                <a:ea typeface="Cambria" pitchFamily="34" charset="-122"/>
                <a:cs typeface="Cambria" pitchFamily="34" charset="-120"/>
              </a:rPr>
              <a:t>0</a:t>
            </a:r>
            <a:endParaRPr lang="en-US" sz="1800" dirty="0"/>
          </a:p>
        </p:txBody>
      </p:sp>
      <p:sp>
        <p:nvSpPr>
          <p:cNvPr id="17" name="Text 14"/>
          <p:cNvSpPr txBox="1"/>
          <p:nvPr/>
        </p:nvSpPr>
        <p:spPr>
          <a:xfrm>
            <a:off x="6419088" y="2852928"/>
            <a:ext cx="2194560" cy="237744"/>
          </a:xfrm>
          <a:prstGeom prst="rect">
            <a:avLst/>
          </a:prstGeom>
          <a:noFill/>
          <a:ln/>
        </p:spPr>
        <p:txBody>
          <a:bodyPr wrap="square" lIns="0" tIns="0" rIns="0" bIns="0" rtlCol="0" anchor="ctr"/>
          <a:lstStyle/>
          <a:p>
            <a:pPr marL="0" indent="0">
              <a:buNone/>
            </a:pPr>
            <a:r>
              <a:rPr lang="en-US" sz="1100" b="1" dirty="0">
                <a:solidFill>
                  <a:srgbClr val="16262B"/>
                </a:solidFill>
                <a:latin typeface="Calibri" pitchFamily="34" charset="0"/>
                <a:ea typeface="Calibri" pitchFamily="34" charset="-122"/>
                <a:cs typeface="Calibri" pitchFamily="34" charset="-120"/>
              </a:rPr>
              <a:t>extra scans needed</a:t>
            </a:r>
            <a:endParaRPr lang="en-US" sz="1100" dirty="0"/>
          </a:p>
        </p:txBody>
      </p:sp>
      <p:sp>
        <p:nvSpPr>
          <p:cNvPr id="18" name="Text 15"/>
          <p:cNvSpPr txBox="1"/>
          <p:nvPr/>
        </p:nvSpPr>
        <p:spPr>
          <a:xfrm>
            <a:off x="6419088" y="3090672"/>
            <a:ext cx="2212848" cy="256032"/>
          </a:xfrm>
          <a:prstGeom prst="rect">
            <a:avLst/>
          </a:prstGeom>
          <a:noFill/>
          <a:ln/>
        </p:spPr>
        <p:txBody>
          <a:bodyPr wrap="square" lIns="0" tIns="0" rIns="0" bIns="0" rtlCol="0" anchor="ctr"/>
          <a:lstStyle/>
          <a:p>
            <a:pPr marL="0" indent="0">
              <a:buNone/>
            </a:pPr>
            <a:r>
              <a:rPr lang="en-US" sz="900" dirty="0">
                <a:solidFill>
                  <a:srgbClr val="5F7178"/>
                </a:solidFill>
                <a:latin typeface="Calibri" pitchFamily="34" charset="0"/>
                <a:ea typeface="Calibri" pitchFamily="34" charset="-122"/>
                <a:cs typeface="Calibri" pitchFamily="34" charset="-120"/>
              </a:rPr>
              <a:t>one survey defines the types, then vibration alone</a:t>
            </a:r>
            <a:endParaRPr lang="en-US" sz="900" dirty="0"/>
          </a:p>
        </p:txBody>
      </p:sp>
      <p:sp>
        <p:nvSpPr>
          <p:cNvPr id="19" name="Shape 16"/>
          <p:cNvSpPr/>
          <p:nvPr/>
        </p:nvSpPr>
        <p:spPr>
          <a:xfrm>
            <a:off x="457200" y="4005072"/>
            <a:ext cx="8229600" cy="603504"/>
          </a:xfrm>
          <a:prstGeom prst="roundRect">
            <a:avLst>
              <a:gd name="adj" fmla="val 9091"/>
            </a:avLst>
          </a:prstGeom>
          <a:solidFill>
            <a:srgbClr val="0B2027"/>
          </a:solidFill>
          <a:ln w="12700">
            <a:solidFill>
              <a:srgbClr val="0B2027"/>
            </a:solidFill>
            <a:prstDash val="solid"/>
          </a:ln>
        </p:spPr>
        <p:txBody>
          <a:bodyPr/>
          <a:lstStyle/>
          <a:p>
            <a:endParaRPr lang="sv-SE"/>
          </a:p>
        </p:txBody>
      </p:sp>
      <p:sp>
        <p:nvSpPr>
          <p:cNvPr id="20" name="Text 17"/>
          <p:cNvSpPr txBox="1"/>
          <p:nvPr/>
        </p:nvSpPr>
        <p:spPr>
          <a:xfrm>
            <a:off x="731520" y="4005072"/>
            <a:ext cx="7680960" cy="603504"/>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One laser scan defines what the fault types are. After that the vibration sensor alone can tell them apart — which is what makes the result useful in practice.</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ctr"/>
          <a:lstStyle/>
          <a:p>
            <a:pPr marL="0" indent="0">
              <a:buNone/>
            </a:pPr>
            <a:r>
              <a:rPr lang="en-US" sz="1100" b="1" kern="0" spc="200" dirty="0">
                <a:solidFill>
                  <a:srgbClr val="028090"/>
                </a:solidFill>
                <a:latin typeface="Calibri" pitchFamily="34" charset="0"/>
                <a:ea typeface="Calibri" pitchFamily="34" charset="-122"/>
                <a:cs typeface="Calibri" pitchFamily="34" charset="-120"/>
              </a:rPr>
              <a:t>REFERENCE</a:t>
            </a:r>
            <a:endParaRPr lang="en-US" sz="11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marL="0" indent="0">
              <a:buNone/>
            </a:pPr>
            <a:r>
              <a:rPr lang="en-US" sz="2700" b="1" dirty="0">
                <a:solidFill>
                  <a:srgbClr val="16262B"/>
                </a:solidFill>
                <a:latin typeface="Cambria" pitchFamily="34" charset="0"/>
                <a:ea typeface="Cambria" pitchFamily="34" charset="-122"/>
                <a:cs typeface="Cambria" pitchFamily="34" charset="-120"/>
              </a:rPr>
              <a:t>Worked example — TQI for gauge</a:t>
            </a:r>
            <a:endParaRPr lang="en-US" sz="2700" dirty="0"/>
          </a:p>
        </p:txBody>
      </p:sp>
      <p:sp>
        <p:nvSpPr>
          <p:cNvPr id="4" name="Text 2"/>
          <p:cNvSpPr txBox="1"/>
          <p:nvPr/>
        </p:nvSpPr>
        <p:spPr>
          <a:xfrm>
            <a:off x="457200" y="1115568"/>
            <a:ext cx="8229600" cy="274320"/>
          </a:xfrm>
          <a:prstGeom prst="rect">
            <a:avLst/>
          </a:prstGeom>
          <a:noFill/>
          <a:ln/>
        </p:spPr>
        <p:txBody>
          <a:bodyPr wrap="square" lIns="0" tIns="0" rIns="0" bIns="0" rtlCol="0" anchor="ctr"/>
          <a:lstStyle/>
          <a:p>
            <a:pPr marL="0" indent="0">
              <a:buNone/>
            </a:pPr>
            <a:r>
              <a:rPr lang="en-US" sz="1200" dirty="0">
                <a:solidFill>
                  <a:srgbClr val="16262B"/>
                </a:solidFill>
                <a:latin typeface="Calibri" pitchFamily="34" charset="0"/>
                <a:ea typeface="Calibri" pitchFamily="34" charset="-122"/>
                <a:cs typeface="Calibri" pitchFamily="34" charset="-120"/>
              </a:rPr>
              <a:t>Gauge is plotted against distance along the track. The length of that graph, compared with the straight length of the section, is the TQI. The line is the graph — not the rail.</a:t>
            </a:r>
            <a:endParaRPr lang="en-US" sz="12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57200" y="1481328"/>
          <a:ext cx="4617720" cy="1645920"/>
        </p:xfrm>
        <a:graphic>
          <a:graphicData uri="http://schemas.openxmlformats.org/drawingml/2006/table">
            <a:tbl>
              <a:tblPr/>
              <a:tblGrid>
                <a:gridCol w="91440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gridCol w="1691640">
                  <a:extLst>
                    <a:ext uri="{9D8B030D-6E8A-4147-A177-3AD203B41FA5}">
                      <a16:colId xmlns:a16="http://schemas.microsoft.com/office/drawing/2014/main" val="20003"/>
                    </a:ext>
                  </a:extLst>
                </a:gridCol>
              </a:tblGrid>
              <a:tr h="274320">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position</a:t>
                      </a:r>
                      <a:endParaRPr lang="en-US" sz="950" dirty="0">
                        <a:latin typeface="Calibri" charset="0"/>
                        <a:ea typeface="Calibri" charset="0"/>
                        <a:cs typeface="Calibri" charset="0"/>
                      </a:endParaRPr>
                    </a:p>
                  </a:txBody>
                  <a:tcPr anchor="ctr">
                    <a:lnL w="9525" cap="flat" cmpd="sng" algn="ctr">
                      <a:solidFill>
                        <a:srgbClr val="DDE7E8"/>
                      </a:solidFill>
                      <a:prstDash val="solid"/>
                      <a:round/>
                      <a:headEnd type="none" w="med" len="med"/>
                      <a:tailEnd type="none" w="med" len="med"/>
                    </a:lnL>
                    <a:lnR w="9525" cap="flat" cmpd="sng" algn="ctr">
                      <a:solidFill>
                        <a:srgbClr val="DDE7E8"/>
                      </a:solidFill>
                      <a:prstDash val="solid"/>
                      <a:round/>
                      <a:headEnd type="none" w="med" len="med"/>
                      <a:tailEnd type="none" w="med" len="med"/>
                    </a:lnR>
                    <a:lnT w="9525" cap="flat" cmpd="sng" algn="ctr">
                      <a:solidFill>
                        <a:srgbClr val="DDE7E8"/>
                      </a:solidFill>
                      <a:prstDash val="solid"/>
                      <a:round/>
                      <a:headEnd type="none" w="med" len="med"/>
                      <a:tailEnd type="none" w="med" len="med"/>
                    </a:lnT>
                    <a:lnB w="9525" cap="flat" cmpd="sng" algn="ctr">
                      <a:solidFill>
                        <a:srgbClr val="DDE7E8"/>
                      </a:solidFill>
                      <a:prstDash val="solid"/>
                      <a:round/>
                      <a:headEnd type="none" w="med" len="med"/>
                      <a:tailEnd type="none" w="med" len="med"/>
                    </a:lnB>
                    <a:solidFill>
                      <a:srgbClr val="028090"/>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gauge (m)</a:t>
                      </a:r>
                      <a:endParaRPr lang="en-US" sz="950" dirty="0">
                        <a:latin typeface="Calibri" charset="0"/>
                        <a:ea typeface="Calibri" charset="0"/>
                        <a:cs typeface="Calibri" charset="0"/>
                      </a:endParaRPr>
                    </a:p>
                  </a:txBody>
                  <a:tcPr anchor="ctr">
                    <a:lnL w="9525" cap="flat" cmpd="sng" algn="ctr">
                      <a:solidFill>
                        <a:srgbClr val="DDE7E8"/>
                      </a:solidFill>
                      <a:prstDash val="solid"/>
                      <a:round/>
                      <a:headEnd type="none" w="med" len="med"/>
                      <a:tailEnd type="none" w="med" len="med"/>
                    </a:lnL>
                    <a:lnR w="9525" cap="flat" cmpd="sng" algn="ctr">
                      <a:solidFill>
                        <a:srgbClr val="DDE7E8"/>
                      </a:solidFill>
                      <a:prstDash val="solid"/>
                      <a:round/>
                      <a:headEnd type="none" w="med" len="med"/>
                      <a:tailEnd type="none" w="med" len="med"/>
                    </a:lnR>
                    <a:lnT w="9525" cap="flat" cmpd="sng" algn="ctr">
                      <a:solidFill>
                        <a:srgbClr val="DDE7E8"/>
                      </a:solidFill>
                      <a:prstDash val="solid"/>
                      <a:round/>
                      <a:headEnd type="none" w="med" len="med"/>
                      <a:tailEnd type="none" w="med" len="med"/>
                    </a:lnT>
                    <a:lnB w="9525" cap="flat" cmpd="sng" algn="ctr">
                      <a:solidFill>
                        <a:srgbClr val="DDE7E8"/>
                      </a:solidFill>
                      <a:prstDash val="solid"/>
                      <a:round/>
                      <a:headEnd type="none" w="med" len="med"/>
                      <a:tailEnd type="none" w="med" len="med"/>
                    </a:lnB>
                    <a:solidFill>
                      <a:srgbClr val="028090"/>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Δy (m)</a:t>
                      </a:r>
                      <a:endParaRPr lang="en-US" sz="950" dirty="0">
                        <a:latin typeface="Calibri" charset="0"/>
                        <a:ea typeface="Calibri" charset="0"/>
                        <a:cs typeface="Calibri" charset="0"/>
                      </a:endParaRPr>
                    </a:p>
                  </a:txBody>
                  <a:tcPr anchor="ctr">
                    <a:lnL w="9525" cap="flat" cmpd="sng" algn="ctr">
                      <a:solidFill>
                        <a:srgbClr val="DDE7E8"/>
                      </a:solidFill>
                      <a:prstDash val="solid"/>
                      <a:round/>
                      <a:headEnd type="none" w="med" len="med"/>
                      <a:tailEnd type="none" w="med" len="med"/>
                    </a:lnL>
                    <a:lnR w="9525" cap="flat" cmpd="sng" algn="ctr">
                      <a:solidFill>
                        <a:srgbClr val="DDE7E8"/>
                      </a:solidFill>
                      <a:prstDash val="solid"/>
                      <a:round/>
                      <a:headEnd type="none" w="med" len="med"/>
                      <a:tailEnd type="none" w="med" len="med"/>
                    </a:lnR>
                    <a:lnT w="9525" cap="flat" cmpd="sng" algn="ctr">
                      <a:solidFill>
                        <a:srgbClr val="DDE7E8"/>
                      </a:solidFill>
                      <a:prstDash val="solid"/>
                      <a:round/>
                      <a:headEnd type="none" w="med" len="med"/>
                      <a:tailEnd type="none" w="med" len="med"/>
                    </a:lnT>
                    <a:lnB w="9525" cap="flat" cmpd="sng" algn="ctr">
                      <a:solidFill>
                        <a:srgbClr val="DDE7E8"/>
                      </a:solidFill>
                      <a:prstDash val="solid"/>
                      <a:round/>
                      <a:headEnd type="none" w="med" len="med"/>
                      <a:tailEnd type="none" w="med" len="med"/>
                    </a:lnB>
                    <a:solidFill>
                      <a:srgbClr val="028090"/>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segment √(Δx² + Δy²)</a:t>
                      </a:r>
                      <a:endParaRPr lang="en-US" sz="950" dirty="0">
                        <a:latin typeface="Calibri" charset="0"/>
                        <a:ea typeface="Calibri" charset="0"/>
                        <a:cs typeface="Calibri" charset="0"/>
                      </a:endParaRPr>
                    </a:p>
                  </a:txBody>
                  <a:tcPr anchor="ctr">
                    <a:lnL w="9525" cap="flat" cmpd="sng" algn="ctr">
                      <a:solidFill>
                        <a:srgbClr val="DDE7E8"/>
                      </a:solidFill>
                      <a:prstDash val="solid"/>
                      <a:round/>
                      <a:headEnd type="none" w="med" len="med"/>
                      <a:tailEnd type="none" w="med" len="med"/>
                    </a:lnL>
                    <a:lnR w="9525" cap="flat" cmpd="sng" algn="ctr">
                      <a:solidFill>
                        <a:srgbClr val="DDE7E8"/>
                      </a:solidFill>
                      <a:prstDash val="solid"/>
                      <a:round/>
                      <a:headEnd type="none" w="med" len="med"/>
                      <a:tailEnd type="none" w="med" len="med"/>
                    </a:lnR>
                    <a:lnT w="9525" cap="flat" cmpd="sng" algn="ctr">
                      <a:solidFill>
                        <a:srgbClr val="DDE7E8"/>
                      </a:solidFill>
                      <a:prstDash val="solid"/>
                      <a:round/>
                      <a:headEnd type="none" w="med" len="med"/>
                      <a:tailEnd type="none" w="med" len="med"/>
                    </a:lnT>
                    <a:lnB w="9525" cap="flat" cmpd="sng" algn="ctr">
                      <a:solidFill>
                        <a:srgbClr val="DDE7E8"/>
                      </a:solidFill>
                      <a:prstDash val="solid"/>
                      <a:round/>
                      <a:headEnd type="none" w="med" len="med"/>
                      <a:tailEnd type="none" w="med" len="med"/>
                    </a:lnB>
                    <a:solidFill>
                      <a:srgbClr val="028090"/>
                    </a:solidFill>
                  </a:tcPr>
                </a:tc>
                <a:extLst>
                  <a:ext uri="{0D108BD9-81ED-4DB2-BD59-A6C34878D82A}">
                    <a16:rowId xmlns:a16="http://schemas.microsoft.com/office/drawing/2014/main" val="10000"/>
                  </a:ext>
                </a:extLst>
              </a:tr>
              <a:tr h="274320">
                <a:tc>
                  <a:txBody>
                    <a:bodyPr/>
                    <a:lstStyle/>
                    <a:p>
                      <a:pPr marL="0" indent="0" algn="l">
                        <a:buNone/>
                      </a:pPr>
                      <a:r>
                        <a:rPr lang="en-US" sz="1050" dirty="0">
                          <a:solidFill>
                            <a:srgbClr val="16262B"/>
                          </a:solidFill>
                          <a:latin typeface="Calibri" pitchFamily="34" charset="0"/>
                          <a:ea typeface="Calibri" pitchFamily="34" charset="-122"/>
                          <a:cs typeface="Calibri" pitchFamily="34" charset="-120"/>
                        </a:rPr>
                        <a:t>0.00 m</a:t>
                      </a:r>
                      <a:endParaRPr lang="en-US" sz="1050" dirty="0">
                        <a:latin typeface="Calibri" charset="0"/>
                        <a:ea typeface="Calibri" charset="0"/>
                        <a:cs typeface="Calibri" charset="0"/>
                      </a:endParaRPr>
                    </a:p>
                  </a:txBody>
                  <a:tcPr anchor="ctr">
                    <a:lnL w="9525" cap="flat" cmpd="sng" algn="ctr">
                      <a:solidFill>
                        <a:srgbClr val="DDE7E8"/>
                      </a:solidFill>
                      <a:prstDash val="solid"/>
                      <a:round/>
                      <a:headEnd type="none" w="med" len="med"/>
                      <a:tailEnd type="none" w="med" len="med"/>
                    </a:lnL>
                    <a:lnR w="9525" cap="flat" cmpd="sng" algn="ctr">
                      <a:solidFill>
                        <a:srgbClr val="DDE7E8"/>
                      </a:solidFill>
                      <a:prstDash val="solid"/>
                      <a:round/>
                      <a:headEnd type="none" w="med" len="med"/>
                      <a:tailEnd type="none" w="med" len="med"/>
                    </a:lnR>
                    <a:lnT w="9525" cap="flat" cmpd="sng" algn="ctr">
                      <a:solidFill>
                        <a:srgbClr val="DDE7E8"/>
                      </a:solidFill>
                      <a:prstDash val="solid"/>
                      <a:round/>
                      <a:headEnd type="none" w="med" len="med"/>
                      <a:tailEnd type="none" w="med" len="med"/>
                    </a:lnT>
                    <a:lnB w="9525" cap="flat" cmpd="sng" algn="ctr">
                      <a:solidFill>
                        <a:srgbClr val="DDE7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6262B"/>
                          </a:solidFill>
                          <a:latin typeface="Calibri" pitchFamily="34" charset="0"/>
                          <a:ea typeface="Calibri" pitchFamily="34" charset="-122"/>
                          <a:cs typeface="Calibri" pitchFamily="34" charset="-120"/>
                        </a:rPr>
                        <a:t>1.4350</a:t>
                      </a:r>
                      <a:endParaRPr lang="en-US" sz="1050" dirty="0">
                        <a:latin typeface="Calibri" charset="0"/>
                        <a:ea typeface="Calibri" charset="0"/>
                        <a:cs typeface="Calibri" charset="0"/>
                      </a:endParaRPr>
                    </a:p>
                  </a:txBody>
                  <a:tcPr anchor="ctr">
                    <a:lnL w="9525" cap="flat" cmpd="sng" algn="ctr">
                      <a:solidFill>
                        <a:srgbClr val="DDE7E8"/>
                      </a:solidFill>
                      <a:prstDash val="solid"/>
                      <a:round/>
                      <a:headEnd type="none" w="med" len="med"/>
                      <a:tailEnd type="none" w="med" len="med"/>
                    </a:lnL>
                    <a:lnR w="9525" cap="flat" cmpd="sng" algn="ctr">
                      <a:solidFill>
                        <a:srgbClr val="DDE7E8"/>
                      </a:solidFill>
                      <a:prstDash val="solid"/>
                      <a:round/>
                      <a:headEnd type="none" w="med" len="med"/>
                      <a:tailEnd type="none" w="med" len="med"/>
                    </a:lnR>
                    <a:lnT w="9525" cap="flat" cmpd="sng" algn="ctr">
                      <a:solidFill>
                        <a:srgbClr val="DDE7E8"/>
                      </a:solidFill>
                      <a:prstDash val="solid"/>
                      <a:round/>
                      <a:headEnd type="none" w="med" len="med"/>
                      <a:tailEnd type="none" w="med" len="med"/>
                    </a:lnT>
                    <a:lnB w="9525" cap="flat" cmpd="sng" algn="ctr">
                      <a:solidFill>
                        <a:srgbClr val="DDE7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6262B"/>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anchor="ctr">
                    <a:lnL w="9525" cap="flat" cmpd="sng" algn="ctr">
                      <a:solidFill>
                        <a:srgbClr val="DDE7E8"/>
                      </a:solidFill>
                      <a:prstDash val="solid"/>
                      <a:round/>
                      <a:headEnd type="none" w="med" len="med"/>
                      <a:tailEnd type="none" w="med" len="med"/>
                    </a:lnL>
                    <a:lnR w="9525" cap="flat" cmpd="sng" algn="ctr">
                      <a:solidFill>
                        <a:srgbClr val="DDE7E8"/>
                      </a:solidFill>
                      <a:prstDash val="solid"/>
                      <a:round/>
                      <a:headEnd type="none" w="med" len="med"/>
                      <a:tailEnd type="none" w="med" len="med"/>
                    </a:lnR>
                    <a:lnT w="9525" cap="flat" cmpd="sng" algn="ctr">
                      <a:solidFill>
                        <a:srgbClr val="DDE7E8"/>
                      </a:solidFill>
                      <a:prstDash val="solid"/>
                      <a:round/>
                      <a:headEnd type="none" w="med" len="med"/>
                      <a:tailEnd type="none" w="med" len="med"/>
                    </a:lnT>
                    <a:lnB w="9525" cap="flat" cmpd="sng" algn="ctr">
                      <a:solidFill>
                        <a:srgbClr val="DDE7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6262B"/>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anchor="ctr">
                    <a:lnL w="9525" cap="flat" cmpd="sng" algn="ctr">
                      <a:solidFill>
                        <a:srgbClr val="DDE7E8"/>
                      </a:solidFill>
                      <a:prstDash val="solid"/>
                      <a:round/>
                      <a:headEnd type="none" w="med" len="med"/>
                      <a:tailEnd type="none" w="med" len="med"/>
                    </a:lnL>
                    <a:lnR w="9525" cap="flat" cmpd="sng" algn="ctr">
                      <a:solidFill>
                        <a:srgbClr val="DDE7E8"/>
                      </a:solidFill>
                      <a:prstDash val="solid"/>
                      <a:round/>
                      <a:headEnd type="none" w="med" len="med"/>
                      <a:tailEnd type="none" w="med" len="med"/>
                    </a:lnR>
                    <a:lnT w="9525" cap="flat" cmpd="sng" algn="ctr">
                      <a:solidFill>
                        <a:srgbClr val="DDE7E8"/>
                      </a:solidFill>
                      <a:prstDash val="solid"/>
                      <a:round/>
                      <a:headEnd type="none" w="med" len="med"/>
                      <a:tailEnd type="none" w="med" len="med"/>
                    </a:lnT>
                    <a:lnB w="9525" cap="flat" cmpd="sng" algn="ctr">
                      <a:solidFill>
                        <a:srgbClr val="DDE7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74320">
                <a:tc>
                  <a:txBody>
                    <a:bodyPr/>
                    <a:lstStyle/>
                    <a:p>
                      <a:pPr marL="0" indent="0" algn="l">
                        <a:buNone/>
                      </a:pPr>
                      <a:r>
                        <a:rPr lang="en-US" sz="1050" dirty="0">
                          <a:solidFill>
                            <a:srgbClr val="16262B"/>
                          </a:solidFill>
                          <a:latin typeface="Calibri" pitchFamily="34" charset="0"/>
                          <a:ea typeface="Calibri" pitchFamily="34" charset="-122"/>
                          <a:cs typeface="Calibri" pitchFamily="34" charset="-120"/>
                        </a:rPr>
                        <a:t>0.25 m</a:t>
                      </a:r>
                      <a:endParaRPr lang="en-US" sz="1050" dirty="0">
                        <a:latin typeface="Calibri" charset="0"/>
                        <a:ea typeface="Calibri" charset="0"/>
                        <a:cs typeface="Calibri" charset="0"/>
                      </a:endParaRPr>
                    </a:p>
                  </a:txBody>
                  <a:tcPr anchor="ctr">
                    <a:lnL w="9525" cap="flat" cmpd="sng" algn="ctr">
                      <a:solidFill>
                        <a:srgbClr val="DDE7E8"/>
                      </a:solidFill>
                      <a:prstDash val="solid"/>
                      <a:round/>
                      <a:headEnd type="none" w="med" len="med"/>
                      <a:tailEnd type="none" w="med" len="med"/>
                    </a:lnL>
                    <a:lnR w="9525" cap="flat" cmpd="sng" algn="ctr">
                      <a:solidFill>
                        <a:srgbClr val="DDE7E8"/>
                      </a:solidFill>
                      <a:prstDash val="solid"/>
                      <a:round/>
                      <a:headEnd type="none" w="med" len="med"/>
                      <a:tailEnd type="none" w="med" len="med"/>
                    </a:lnR>
                    <a:lnT w="9525" cap="flat" cmpd="sng" algn="ctr">
                      <a:solidFill>
                        <a:srgbClr val="DDE7E8"/>
                      </a:solidFill>
                      <a:prstDash val="solid"/>
                      <a:round/>
                      <a:headEnd type="none" w="med" len="med"/>
                      <a:tailEnd type="none" w="med" len="med"/>
                    </a:lnT>
                    <a:lnB w="9525" cap="flat" cmpd="sng" algn="ctr">
                      <a:solidFill>
                        <a:srgbClr val="DDE7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6262B"/>
                          </a:solidFill>
                          <a:latin typeface="Calibri" pitchFamily="34" charset="0"/>
                          <a:ea typeface="Calibri" pitchFamily="34" charset="-122"/>
                          <a:cs typeface="Calibri" pitchFamily="34" charset="-120"/>
                        </a:rPr>
                        <a:t>1.4352</a:t>
                      </a:r>
                      <a:endParaRPr lang="en-US" sz="1050" dirty="0">
                        <a:latin typeface="Calibri" charset="0"/>
                        <a:ea typeface="Calibri" charset="0"/>
                        <a:cs typeface="Calibri" charset="0"/>
                      </a:endParaRPr>
                    </a:p>
                  </a:txBody>
                  <a:tcPr anchor="ctr">
                    <a:lnL w="9525" cap="flat" cmpd="sng" algn="ctr">
                      <a:solidFill>
                        <a:srgbClr val="DDE7E8"/>
                      </a:solidFill>
                      <a:prstDash val="solid"/>
                      <a:round/>
                      <a:headEnd type="none" w="med" len="med"/>
                      <a:tailEnd type="none" w="med" len="med"/>
                    </a:lnL>
                    <a:lnR w="9525" cap="flat" cmpd="sng" algn="ctr">
                      <a:solidFill>
                        <a:srgbClr val="DDE7E8"/>
                      </a:solidFill>
                      <a:prstDash val="solid"/>
                      <a:round/>
                      <a:headEnd type="none" w="med" len="med"/>
                      <a:tailEnd type="none" w="med" len="med"/>
                    </a:lnR>
                    <a:lnT w="9525" cap="flat" cmpd="sng" algn="ctr">
                      <a:solidFill>
                        <a:srgbClr val="DDE7E8"/>
                      </a:solidFill>
                      <a:prstDash val="solid"/>
                      <a:round/>
                      <a:headEnd type="none" w="med" len="med"/>
                      <a:tailEnd type="none" w="med" len="med"/>
                    </a:lnT>
                    <a:lnB w="9525" cap="flat" cmpd="sng" algn="ctr">
                      <a:solidFill>
                        <a:srgbClr val="DDE7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6262B"/>
                          </a:solidFill>
                          <a:latin typeface="Calibri" pitchFamily="34" charset="0"/>
                          <a:ea typeface="Calibri" pitchFamily="34" charset="-122"/>
                          <a:cs typeface="Calibri" pitchFamily="34" charset="-120"/>
                        </a:rPr>
                        <a:t>+0.0002</a:t>
                      </a:r>
                      <a:endParaRPr lang="en-US" sz="1050" dirty="0">
                        <a:latin typeface="Calibri" charset="0"/>
                        <a:ea typeface="Calibri" charset="0"/>
                        <a:cs typeface="Calibri" charset="0"/>
                      </a:endParaRPr>
                    </a:p>
                  </a:txBody>
                  <a:tcPr anchor="ctr">
                    <a:lnL w="9525" cap="flat" cmpd="sng" algn="ctr">
                      <a:solidFill>
                        <a:srgbClr val="DDE7E8"/>
                      </a:solidFill>
                      <a:prstDash val="solid"/>
                      <a:round/>
                      <a:headEnd type="none" w="med" len="med"/>
                      <a:tailEnd type="none" w="med" len="med"/>
                    </a:lnL>
                    <a:lnR w="9525" cap="flat" cmpd="sng" algn="ctr">
                      <a:solidFill>
                        <a:srgbClr val="DDE7E8"/>
                      </a:solidFill>
                      <a:prstDash val="solid"/>
                      <a:round/>
                      <a:headEnd type="none" w="med" len="med"/>
                      <a:tailEnd type="none" w="med" len="med"/>
                    </a:lnR>
                    <a:lnT w="9525" cap="flat" cmpd="sng" algn="ctr">
                      <a:solidFill>
                        <a:srgbClr val="DDE7E8"/>
                      </a:solidFill>
                      <a:prstDash val="solid"/>
                      <a:round/>
                      <a:headEnd type="none" w="med" len="med"/>
                      <a:tailEnd type="none" w="med" len="med"/>
                    </a:lnT>
                    <a:lnB w="9525" cap="flat" cmpd="sng" algn="ctr">
                      <a:solidFill>
                        <a:srgbClr val="DDE7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6262B"/>
                          </a:solidFill>
                          <a:latin typeface="Calibri" pitchFamily="34" charset="0"/>
                          <a:ea typeface="Calibri" pitchFamily="34" charset="-122"/>
                          <a:cs typeface="Calibri" pitchFamily="34" charset="-120"/>
                        </a:rPr>
                        <a:t>0.25000008</a:t>
                      </a:r>
                      <a:endParaRPr lang="en-US" sz="1050" dirty="0">
                        <a:latin typeface="Calibri" charset="0"/>
                        <a:ea typeface="Calibri" charset="0"/>
                        <a:cs typeface="Calibri" charset="0"/>
                      </a:endParaRPr>
                    </a:p>
                  </a:txBody>
                  <a:tcPr anchor="ctr">
                    <a:lnL w="9525" cap="flat" cmpd="sng" algn="ctr">
                      <a:solidFill>
                        <a:srgbClr val="DDE7E8"/>
                      </a:solidFill>
                      <a:prstDash val="solid"/>
                      <a:round/>
                      <a:headEnd type="none" w="med" len="med"/>
                      <a:tailEnd type="none" w="med" len="med"/>
                    </a:lnL>
                    <a:lnR w="9525" cap="flat" cmpd="sng" algn="ctr">
                      <a:solidFill>
                        <a:srgbClr val="DDE7E8"/>
                      </a:solidFill>
                      <a:prstDash val="solid"/>
                      <a:round/>
                      <a:headEnd type="none" w="med" len="med"/>
                      <a:tailEnd type="none" w="med" len="med"/>
                    </a:lnR>
                    <a:lnT w="9525" cap="flat" cmpd="sng" algn="ctr">
                      <a:solidFill>
                        <a:srgbClr val="DDE7E8"/>
                      </a:solidFill>
                      <a:prstDash val="solid"/>
                      <a:round/>
                      <a:headEnd type="none" w="med" len="med"/>
                      <a:tailEnd type="none" w="med" len="med"/>
                    </a:lnT>
                    <a:lnB w="9525" cap="flat" cmpd="sng" algn="ctr">
                      <a:solidFill>
                        <a:srgbClr val="DDE7E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74320">
                <a:tc>
                  <a:txBody>
                    <a:bodyPr/>
                    <a:lstStyle/>
                    <a:p>
                      <a:pPr marL="0" indent="0" algn="l">
                        <a:buNone/>
                      </a:pPr>
                      <a:r>
                        <a:rPr lang="en-US" sz="1050" dirty="0">
                          <a:solidFill>
                            <a:srgbClr val="16262B"/>
                          </a:solidFill>
                          <a:latin typeface="Calibri" pitchFamily="34" charset="0"/>
                          <a:ea typeface="Calibri" pitchFamily="34" charset="-122"/>
                          <a:cs typeface="Calibri" pitchFamily="34" charset="-120"/>
                        </a:rPr>
                        <a:t>0.50 m</a:t>
                      </a:r>
                      <a:endParaRPr lang="en-US" sz="1050" dirty="0">
                        <a:latin typeface="Calibri" charset="0"/>
                        <a:ea typeface="Calibri" charset="0"/>
                        <a:cs typeface="Calibri" charset="0"/>
                      </a:endParaRPr>
                    </a:p>
                  </a:txBody>
                  <a:tcPr anchor="ctr">
                    <a:lnL w="9525" cap="flat" cmpd="sng" algn="ctr">
                      <a:solidFill>
                        <a:srgbClr val="DDE7E8"/>
                      </a:solidFill>
                      <a:prstDash val="solid"/>
                      <a:round/>
                      <a:headEnd type="none" w="med" len="med"/>
                      <a:tailEnd type="none" w="med" len="med"/>
                    </a:lnL>
                    <a:lnR w="9525" cap="flat" cmpd="sng" algn="ctr">
                      <a:solidFill>
                        <a:srgbClr val="DDE7E8"/>
                      </a:solidFill>
                      <a:prstDash val="solid"/>
                      <a:round/>
                      <a:headEnd type="none" w="med" len="med"/>
                      <a:tailEnd type="none" w="med" len="med"/>
                    </a:lnR>
                    <a:lnT w="9525" cap="flat" cmpd="sng" algn="ctr">
                      <a:solidFill>
                        <a:srgbClr val="DDE7E8"/>
                      </a:solidFill>
                      <a:prstDash val="solid"/>
                      <a:round/>
                      <a:headEnd type="none" w="med" len="med"/>
                      <a:tailEnd type="none" w="med" len="med"/>
                    </a:lnT>
                    <a:lnB w="9525" cap="flat" cmpd="sng" algn="ctr">
                      <a:solidFill>
                        <a:srgbClr val="DDE7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6262B"/>
                          </a:solidFill>
                          <a:latin typeface="Calibri" pitchFamily="34" charset="0"/>
                          <a:ea typeface="Calibri" pitchFamily="34" charset="-122"/>
                          <a:cs typeface="Calibri" pitchFamily="34" charset="-120"/>
                        </a:rPr>
                        <a:t>1.4349</a:t>
                      </a:r>
                      <a:endParaRPr lang="en-US" sz="1050" dirty="0">
                        <a:latin typeface="Calibri" charset="0"/>
                        <a:ea typeface="Calibri" charset="0"/>
                        <a:cs typeface="Calibri" charset="0"/>
                      </a:endParaRPr>
                    </a:p>
                  </a:txBody>
                  <a:tcPr anchor="ctr">
                    <a:lnL w="9525" cap="flat" cmpd="sng" algn="ctr">
                      <a:solidFill>
                        <a:srgbClr val="DDE7E8"/>
                      </a:solidFill>
                      <a:prstDash val="solid"/>
                      <a:round/>
                      <a:headEnd type="none" w="med" len="med"/>
                      <a:tailEnd type="none" w="med" len="med"/>
                    </a:lnL>
                    <a:lnR w="9525" cap="flat" cmpd="sng" algn="ctr">
                      <a:solidFill>
                        <a:srgbClr val="DDE7E8"/>
                      </a:solidFill>
                      <a:prstDash val="solid"/>
                      <a:round/>
                      <a:headEnd type="none" w="med" len="med"/>
                      <a:tailEnd type="none" w="med" len="med"/>
                    </a:lnR>
                    <a:lnT w="9525" cap="flat" cmpd="sng" algn="ctr">
                      <a:solidFill>
                        <a:srgbClr val="DDE7E8"/>
                      </a:solidFill>
                      <a:prstDash val="solid"/>
                      <a:round/>
                      <a:headEnd type="none" w="med" len="med"/>
                      <a:tailEnd type="none" w="med" len="med"/>
                    </a:lnT>
                    <a:lnB w="9525" cap="flat" cmpd="sng" algn="ctr">
                      <a:solidFill>
                        <a:srgbClr val="DDE7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6262B"/>
                          </a:solidFill>
                          <a:latin typeface="Calibri" pitchFamily="34" charset="0"/>
                          <a:ea typeface="Calibri" pitchFamily="34" charset="-122"/>
                          <a:cs typeface="Calibri" pitchFamily="34" charset="-120"/>
                        </a:rPr>
                        <a:t>−0.0003</a:t>
                      </a:r>
                      <a:endParaRPr lang="en-US" sz="1050" dirty="0">
                        <a:latin typeface="Calibri" charset="0"/>
                        <a:ea typeface="Calibri" charset="0"/>
                        <a:cs typeface="Calibri" charset="0"/>
                      </a:endParaRPr>
                    </a:p>
                  </a:txBody>
                  <a:tcPr anchor="ctr">
                    <a:lnL w="9525" cap="flat" cmpd="sng" algn="ctr">
                      <a:solidFill>
                        <a:srgbClr val="DDE7E8"/>
                      </a:solidFill>
                      <a:prstDash val="solid"/>
                      <a:round/>
                      <a:headEnd type="none" w="med" len="med"/>
                      <a:tailEnd type="none" w="med" len="med"/>
                    </a:lnL>
                    <a:lnR w="9525" cap="flat" cmpd="sng" algn="ctr">
                      <a:solidFill>
                        <a:srgbClr val="DDE7E8"/>
                      </a:solidFill>
                      <a:prstDash val="solid"/>
                      <a:round/>
                      <a:headEnd type="none" w="med" len="med"/>
                      <a:tailEnd type="none" w="med" len="med"/>
                    </a:lnR>
                    <a:lnT w="9525" cap="flat" cmpd="sng" algn="ctr">
                      <a:solidFill>
                        <a:srgbClr val="DDE7E8"/>
                      </a:solidFill>
                      <a:prstDash val="solid"/>
                      <a:round/>
                      <a:headEnd type="none" w="med" len="med"/>
                      <a:tailEnd type="none" w="med" len="med"/>
                    </a:lnT>
                    <a:lnB w="9525" cap="flat" cmpd="sng" algn="ctr">
                      <a:solidFill>
                        <a:srgbClr val="DDE7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6262B"/>
                          </a:solidFill>
                          <a:latin typeface="Calibri" pitchFamily="34" charset="0"/>
                          <a:ea typeface="Calibri" pitchFamily="34" charset="-122"/>
                          <a:cs typeface="Calibri" pitchFamily="34" charset="-120"/>
                        </a:rPr>
                        <a:t>0.25000018</a:t>
                      </a:r>
                      <a:endParaRPr lang="en-US" sz="1050" dirty="0">
                        <a:latin typeface="Calibri" charset="0"/>
                        <a:ea typeface="Calibri" charset="0"/>
                        <a:cs typeface="Calibri" charset="0"/>
                      </a:endParaRPr>
                    </a:p>
                  </a:txBody>
                  <a:tcPr anchor="ctr">
                    <a:lnL w="9525" cap="flat" cmpd="sng" algn="ctr">
                      <a:solidFill>
                        <a:srgbClr val="DDE7E8"/>
                      </a:solidFill>
                      <a:prstDash val="solid"/>
                      <a:round/>
                      <a:headEnd type="none" w="med" len="med"/>
                      <a:tailEnd type="none" w="med" len="med"/>
                    </a:lnL>
                    <a:lnR w="9525" cap="flat" cmpd="sng" algn="ctr">
                      <a:solidFill>
                        <a:srgbClr val="DDE7E8"/>
                      </a:solidFill>
                      <a:prstDash val="solid"/>
                      <a:round/>
                      <a:headEnd type="none" w="med" len="med"/>
                      <a:tailEnd type="none" w="med" len="med"/>
                    </a:lnR>
                    <a:lnT w="9525" cap="flat" cmpd="sng" algn="ctr">
                      <a:solidFill>
                        <a:srgbClr val="DDE7E8"/>
                      </a:solidFill>
                      <a:prstDash val="solid"/>
                      <a:round/>
                      <a:headEnd type="none" w="med" len="med"/>
                      <a:tailEnd type="none" w="med" len="med"/>
                    </a:lnT>
                    <a:lnB w="9525" cap="flat" cmpd="sng" algn="ctr">
                      <a:solidFill>
                        <a:srgbClr val="DDE7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74320">
                <a:tc>
                  <a:txBody>
                    <a:bodyPr/>
                    <a:lstStyle/>
                    <a:p>
                      <a:pPr marL="0" indent="0" algn="l">
                        <a:buNone/>
                      </a:pPr>
                      <a:r>
                        <a:rPr lang="en-US" sz="1050" b="1" dirty="0">
                          <a:solidFill>
                            <a:srgbClr val="E8604C"/>
                          </a:solidFill>
                          <a:latin typeface="Calibri" pitchFamily="34" charset="0"/>
                          <a:ea typeface="Calibri" pitchFamily="34" charset="-122"/>
                          <a:cs typeface="Calibri" pitchFamily="34" charset="-120"/>
                        </a:rPr>
                        <a:t>0.75 m</a:t>
                      </a:r>
                      <a:endParaRPr lang="en-US" sz="1050" dirty="0">
                        <a:latin typeface="Calibri" charset="0"/>
                        <a:ea typeface="Calibri" charset="0"/>
                        <a:cs typeface="Calibri" charset="0"/>
                      </a:endParaRPr>
                    </a:p>
                  </a:txBody>
                  <a:tcPr anchor="ctr">
                    <a:lnL w="9525" cap="flat" cmpd="sng" algn="ctr">
                      <a:solidFill>
                        <a:srgbClr val="DDE7E8"/>
                      </a:solidFill>
                      <a:prstDash val="solid"/>
                      <a:round/>
                      <a:headEnd type="none" w="med" len="med"/>
                      <a:tailEnd type="none" w="med" len="med"/>
                    </a:lnL>
                    <a:lnR w="9525" cap="flat" cmpd="sng" algn="ctr">
                      <a:solidFill>
                        <a:srgbClr val="DDE7E8"/>
                      </a:solidFill>
                      <a:prstDash val="solid"/>
                      <a:round/>
                      <a:headEnd type="none" w="med" len="med"/>
                      <a:tailEnd type="none" w="med" len="med"/>
                    </a:lnR>
                    <a:lnT w="9525" cap="flat" cmpd="sng" algn="ctr">
                      <a:solidFill>
                        <a:srgbClr val="DDE7E8"/>
                      </a:solidFill>
                      <a:prstDash val="solid"/>
                      <a:round/>
                      <a:headEnd type="none" w="med" len="med"/>
                      <a:tailEnd type="none" w="med" len="med"/>
                    </a:lnT>
                    <a:lnB w="9525" cap="flat" cmpd="sng" algn="ctr">
                      <a:solidFill>
                        <a:srgbClr val="DDE7E8"/>
                      </a:solidFill>
                      <a:prstDash val="solid"/>
                      <a:round/>
                      <a:headEnd type="none" w="med" len="med"/>
                      <a:tailEnd type="none" w="med" len="med"/>
                    </a:lnB>
                    <a:solidFill>
                      <a:srgbClr val="FBEDEA"/>
                    </a:solidFill>
                  </a:tcPr>
                </a:tc>
                <a:tc>
                  <a:txBody>
                    <a:bodyPr/>
                    <a:lstStyle/>
                    <a:p>
                      <a:pPr marL="0" indent="0" algn="l">
                        <a:buNone/>
                      </a:pPr>
                      <a:r>
                        <a:rPr lang="en-US" sz="1050" b="1" dirty="0">
                          <a:solidFill>
                            <a:srgbClr val="E8604C"/>
                          </a:solidFill>
                          <a:latin typeface="Calibri" pitchFamily="34" charset="0"/>
                          <a:ea typeface="Calibri" pitchFamily="34" charset="-122"/>
                          <a:cs typeface="Calibri" pitchFamily="34" charset="-120"/>
                        </a:rPr>
                        <a:t>1.4358</a:t>
                      </a:r>
                      <a:endParaRPr lang="en-US" sz="1050" dirty="0">
                        <a:latin typeface="Calibri" charset="0"/>
                        <a:ea typeface="Calibri" charset="0"/>
                        <a:cs typeface="Calibri" charset="0"/>
                      </a:endParaRPr>
                    </a:p>
                  </a:txBody>
                  <a:tcPr anchor="ctr">
                    <a:lnL w="9525" cap="flat" cmpd="sng" algn="ctr">
                      <a:solidFill>
                        <a:srgbClr val="DDE7E8"/>
                      </a:solidFill>
                      <a:prstDash val="solid"/>
                      <a:round/>
                      <a:headEnd type="none" w="med" len="med"/>
                      <a:tailEnd type="none" w="med" len="med"/>
                    </a:lnL>
                    <a:lnR w="9525" cap="flat" cmpd="sng" algn="ctr">
                      <a:solidFill>
                        <a:srgbClr val="DDE7E8"/>
                      </a:solidFill>
                      <a:prstDash val="solid"/>
                      <a:round/>
                      <a:headEnd type="none" w="med" len="med"/>
                      <a:tailEnd type="none" w="med" len="med"/>
                    </a:lnR>
                    <a:lnT w="9525" cap="flat" cmpd="sng" algn="ctr">
                      <a:solidFill>
                        <a:srgbClr val="DDE7E8"/>
                      </a:solidFill>
                      <a:prstDash val="solid"/>
                      <a:round/>
                      <a:headEnd type="none" w="med" len="med"/>
                      <a:tailEnd type="none" w="med" len="med"/>
                    </a:lnT>
                    <a:lnB w="9525" cap="flat" cmpd="sng" algn="ctr">
                      <a:solidFill>
                        <a:srgbClr val="DDE7E8"/>
                      </a:solidFill>
                      <a:prstDash val="solid"/>
                      <a:round/>
                      <a:headEnd type="none" w="med" len="med"/>
                      <a:tailEnd type="none" w="med" len="med"/>
                    </a:lnB>
                    <a:solidFill>
                      <a:srgbClr val="FBEDEA"/>
                    </a:solidFill>
                  </a:tcPr>
                </a:tc>
                <a:tc>
                  <a:txBody>
                    <a:bodyPr/>
                    <a:lstStyle/>
                    <a:p>
                      <a:pPr marL="0" indent="0" algn="l">
                        <a:buNone/>
                      </a:pPr>
                      <a:r>
                        <a:rPr lang="en-US" sz="1050" b="1" dirty="0">
                          <a:solidFill>
                            <a:srgbClr val="E8604C"/>
                          </a:solidFill>
                          <a:latin typeface="Calibri" pitchFamily="34" charset="0"/>
                          <a:ea typeface="Calibri" pitchFamily="34" charset="-122"/>
                          <a:cs typeface="Calibri" pitchFamily="34" charset="-120"/>
                        </a:rPr>
                        <a:t>+0.0009</a:t>
                      </a:r>
                      <a:endParaRPr lang="en-US" sz="1050" dirty="0">
                        <a:latin typeface="Calibri" charset="0"/>
                        <a:ea typeface="Calibri" charset="0"/>
                        <a:cs typeface="Calibri" charset="0"/>
                      </a:endParaRPr>
                    </a:p>
                  </a:txBody>
                  <a:tcPr anchor="ctr">
                    <a:lnL w="9525" cap="flat" cmpd="sng" algn="ctr">
                      <a:solidFill>
                        <a:srgbClr val="DDE7E8"/>
                      </a:solidFill>
                      <a:prstDash val="solid"/>
                      <a:round/>
                      <a:headEnd type="none" w="med" len="med"/>
                      <a:tailEnd type="none" w="med" len="med"/>
                    </a:lnL>
                    <a:lnR w="9525" cap="flat" cmpd="sng" algn="ctr">
                      <a:solidFill>
                        <a:srgbClr val="DDE7E8"/>
                      </a:solidFill>
                      <a:prstDash val="solid"/>
                      <a:round/>
                      <a:headEnd type="none" w="med" len="med"/>
                      <a:tailEnd type="none" w="med" len="med"/>
                    </a:lnR>
                    <a:lnT w="9525" cap="flat" cmpd="sng" algn="ctr">
                      <a:solidFill>
                        <a:srgbClr val="DDE7E8"/>
                      </a:solidFill>
                      <a:prstDash val="solid"/>
                      <a:round/>
                      <a:headEnd type="none" w="med" len="med"/>
                      <a:tailEnd type="none" w="med" len="med"/>
                    </a:lnT>
                    <a:lnB w="9525" cap="flat" cmpd="sng" algn="ctr">
                      <a:solidFill>
                        <a:srgbClr val="DDE7E8"/>
                      </a:solidFill>
                      <a:prstDash val="solid"/>
                      <a:round/>
                      <a:headEnd type="none" w="med" len="med"/>
                      <a:tailEnd type="none" w="med" len="med"/>
                    </a:lnB>
                    <a:solidFill>
                      <a:srgbClr val="FBEDEA"/>
                    </a:solidFill>
                  </a:tcPr>
                </a:tc>
                <a:tc>
                  <a:txBody>
                    <a:bodyPr/>
                    <a:lstStyle/>
                    <a:p>
                      <a:pPr marL="0" indent="0" algn="l">
                        <a:buNone/>
                      </a:pPr>
                      <a:r>
                        <a:rPr lang="en-US" sz="1050" b="1" dirty="0">
                          <a:solidFill>
                            <a:srgbClr val="E8604C"/>
                          </a:solidFill>
                          <a:latin typeface="Calibri" pitchFamily="34" charset="0"/>
                          <a:ea typeface="Calibri" pitchFamily="34" charset="-122"/>
                          <a:cs typeface="Calibri" pitchFamily="34" charset="-120"/>
                        </a:rPr>
                        <a:t>0.25000162</a:t>
                      </a:r>
                      <a:endParaRPr lang="en-US" sz="1050" dirty="0">
                        <a:latin typeface="Calibri" charset="0"/>
                        <a:ea typeface="Calibri" charset="0"/>
                        <a:cs typeface="Calibri" charset="0"/>
                      </a:endParaRPr>
                    </a:p>
                  </a:txBody>
                  <a:tcPr anchor="ctr">
                    <a:lnL w="9525" cap="flat" cmpd="sng" algn="ctr">
                      <a:solidFill>
                        <a:srgbClr val="DDE7E8"/>
                      </a:solidFill>
                      <a:prstDash val="solid"/>
                      <a:round/>
                      <a:headEnd type="none" w="med" len="med"/>
                      <a:tailEnd type="none" w="med" len="med"/>
                    </a:lnL>
                    <a:lnR w="9525" cap="flat" cmpd="sng" algn="ctr">
                      <a:solidFill>
                        <a:srgbClr val="DDE7E8"/>
                      </a:solidFill>
                      <a:prstDash val="solid"/>
                      <a:round/>
                      <a:headEnd type="none" w="med" len="med"/>
                      <a:tailEnd type="none" w="med" len="med"/>
                    </a:lnR>
                    <a:lnT w="9525" cap="flat" cmpd="sng" algn="ctr">
                      <a:solidFill>
                        <a:srgbClr val="DDE7E8"/>
                      </a:solidFill>
                      <a:prstDash val="solid"/>
                      <a:round/>
                      <a:headEnd type="none" w="med" len="med"/>
                      <a:tailEnd type="none" w="med" len="med"/>
                    </a:lnT>
                    <a:lnB w="9525" cap="flat" cmpd="sng" algn="ctr">
                      <a:solidFill>
                        <a:srgbClr val="DDE7E8"/>
                      </a:solidFill>
                      <a:prstDash val="solid"/>
                      <a:round/>
                      <a:headEnd type="none" w="med" len="med"/>
                      <a:tailEnd type="none" w="med" len="med"/>
                    </a:lnB>
                    <a:solidFill>
                      <a:srgbClr val="FBEDEA"/>
                    </a:solidFill>
                  </a:tcPr>
                </a:tc>
                <a:extLst>
                  <a:ext uri="{0D108BD9-81ED-4DB2-BD59-A6C34878D82A}">
                    <a16:rowId xmlns:a16="http://schemas.microsoft.com/office/drawing/2014/main" val="10004"/>
                  </a:ext>
                </a:extLst>
              </a:tr>
              <a:tr h="274320">
                <a:tc>
                  <a:txBody>
                    <a:bodyPr/>
                    <a:lstStyle/>
                    <a:p>
                      <a:pPr marL="0" indent="0" algn="l">
                        <a:buNone/>
                      </a:pPr>
                      <a:r>
                        <a:rPr lang="en-US" sz="1050" dirty="0">
                          <a:solidFill>
                            <a:srgbClr val="16262B"/>
                          </a:solidFill>
                          <a:latin typeface="Calibri" pitchFamily="34" charset="0"/>
                          <a:ea typeface="Calibri" pitchFamily="34" charset="-122"/>
                          <a:cs typeface="Calibri" pitchFamily="34" charset="-120"/>
                        </a:rPr>
                        <a:t>1.00 m</a:t>
                      </a:r>
                      <a:endParaRPr lang="en-US" sz="1050" dirty="0">
                        <a:latin typeface="Calibri" charset="0"/>
                        <a:ea typeface="Calibri" charset="0"/>
                        <a:cs typeface="Calibri" charset="0"/>
                      </a:endParaRPr>
                    </a:p>
                  </a:txBody>
                  <a:tcPr anchor="ctr">
                    <a:lnL w="9525" cap="flat" cmpd="sng" algn="ctr">
                      <a:solidFill>
                        <a:srgbClr val="DDE7E8"/>
                      </a:solidFill>
                      <a:prstDash val="solid"/>
                      <a:round/>
                      <a:headEnd type="none" w="med" len="med"/>
                      <a:tailEnd type="none" w="med" len="med"/>
                    </a:lnL>
                    <a:lnR w="9525" cap="flat" cmpd="sng" algn="ctr">
                      <a:solidFill>
                        <a:srgbClr val="DDE7E8"/>
                      </a:solidFill>
                      <a:prstDash val="solid"/>
                      <a:round/>
                      <a:headEnd type="none" w="med" len="med"/>
                      <a:tailEnd type="none" w="med" len="med"/>
                    </a:lnR>
                    <a:lnT w="9525" cap="flat" cmpd="sng" algn="ctr">
                      <a:solidFill>
                        <a:srgbClr val="DDE7E8"/>
                      </a:solidFill>
                      <a:prstDash val="solid"/>
                      <a:round/>
                      <a:headEnd type="none" w="med" len="med"/>
                      <a:tailEnd type="none" w="med" len="med"/>
                    </a:lnT>
                    <a:lnB w="9525" cap="flat" cmpd="sng" algn="ctr">
                      <a:solidFill>
                        <a:srgbClr val="DDE7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6262B"/>
                          </a:solidFill>
                          <a:latin typeface="Calibri" pitchFamily="34" charset="0"/>
                          <a:ea typeface="Calibri" pitchFamily="34" charset="-122"/>
                          <a:cs typeface="Calibri" pitchFamily="34" charset="-120"/>
                        </a:rPr>
                        <a:t>1.4351</a:t>
                      </a:r>
                      <a:endParaRPr lang="en-US" sz="1050" dirty="0">
                        <a:latin typeface="Calibri" charset="0"/>
                        <a:ea typeface="Calibri" charset="0"/>
                        <a:cs typeface="Calibri" charset="0"/>
                      </a:endParaRPr>
                    </a:p>
                  </a:txBody>
                  <a:tcPr anchor="ctr">
                    <a:lnL w="9525" cap="flat" cmpd="sng" algn="ctr">
                      <a:solidFill>
                        <a:srgbClr val="DDE7E8"/>
                      </a:solidFill>
                      <a:prstDash val="solid"/>
                      <a:round/>
                      <a:headEnd type="none" w="med" len="med"/>
                      <a:tailEnd type="none" w="med" len="med"/>
                    </a:lnL>
                    <a:lnR w="9525" cap="flat" cmpd="sng" algn="ctr">
                      <a:solidFill>
                        <a:srgbClr val="DDE7E8"/>
                      </a:solidFill>
                      <a:prstDash val="solid"/>
                      <a:round/>
                      <a:headEnd type="none" w="med" len="med"/>
                      <a:tailEnd type="none" w="med" len="med"/>
                    </a:lnR>
                    <a:lnT w="9525" cap="flat" cmpd="sng" algn="ctr">
                      <a:solidFill>
                        <a:srgbClr val="DDE7E8"/>
                      </a:solidFill>
                      <a:prstDash val="solid"/>
                      <a:round/>
                      <a:headEnd type="none" w="med" len="med"/>
                      <a:tailEnd type="none" w="med" len="med"/>
                    </a:lnT>
                    <a:lnB w="9525" cap="flat" cmpd="sng" algn="ctr">
                      <a:solidFill>
                        <a:srgbClr val="DDE7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6262B"/>
                          </a:solidFill>
                          <a:latin typeface="Calibri" pitchFamily="34" charset="0"/>
                          <a:ea typeface="Calibri" pitchFamily="34" charset="-122"/>
                          <a:cs typeface="Calibri" pitchFamily="34" charset="-120"/>
                        </a:rPr>
                        <a:t>−0.0007</a:t>
                      </a:r>
                      <a:endParaRPr lang="en-US" sz="1050" dirty="0">
                        <a:latin typeface="Calibri" charset="0"/>
                        <a:ea typeface="Calibri" charset="0"/>
                        <a:cs typeface="Calibri" charset="0"/>
                      </a:endParaRPr>
                    </a:p>
                  </a:txBody>
                  <a:tcPr anchor="ctr">
                    <a:lnL w="9525" cap="flat" cmpd="sng" algn="ctr">
                      <a:solidFill>
                        <a:srgbClr val="DDE7E8"/>
                      </a:solidFill>
                      <a:prstDash val="solid"/>
                      <a:round/>
                      <a:headEnd type="none" w="med" len="med"/>
                      <a:tailEnd type="none" w="med" len="med"/>
                    </a:lnL>
                    <a:lnR w="9525" cap="flat" cmpd="sng" algn="ctr">
                      <a:solidFill>
                        <a:srgbClr val="DDE7E8"/>
                      </a:solidFill>
                      <a:prstDash val="solid"/>
                      <a:round/>
                      <a:headEnd type="none" w="med" len="med"/>
                      <a:tailEnd type="none" w="med" len="med"/>
                    </a:lnR>
                    <a:lnT w="9525" cap="flat" cmpd="sng" algn="ctr">
                      <a:solidFill>
                        <a:srgbClr val="DDE7E8"/>
                      </a:solidFill>
                      <a:prstDash val="solid"/>
                      <a:round/>
                      <a:headEnd type="none" w="med" len="med"/>
                      <a:tailEnd type="none" w="med" len="med"/>
                    </a:lnT>
                    <a:lnB w="9525" cap="flat" cmpd="sng" algn="ctr">
                      <a:solidFill>
                        <a:srgbClr val="DDE7E8"/>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6262B"/>
                          </a:solidFill>
                          <a:latin typeface="Calibri" pitchFamily="34" charset="0"/>
                          <a:ea typeface="Calibri" pitchFamily="34" charset="-122"/>
                          <a:cs typeface="Calibri" pitchFamily="34" charset="-120"/>
                        </a:rPr>
                        <a:t>0.25000098</a:t>
                      </a:r>
                      <a:endParaRPr lang="en-US" sz="1050" dirty="0">
                        <a:latin typeface="Calibri" charset="0"/>
                        <a:ea typeface="Calibri" charset="0"/>
                        <a:cs typeface="Calibri" charset="0"/>
                      </a:endParaRPr>
                    </a:p>
                  </a:txBody>
                  <a:tcPr anchor="ctr">
                    <a:lnL w="9525" cap="flat" cmpd="sng" algn="ctr">
                      <a:solidFill>
                        <a:srgbClr val="DDE7E8"/>
                      </a:solidFill>
                      <a:prstDash val="solid"/>
                      <a:round/>
                      <a:headEnd type="none" w="med" len="med"/>
                      <a:tailEnd type="none" w="med" len="med"/>
                    </a:lnL>
                    <a:lnR w="9525" cap="flat" cmpd="sng" algn="ctr">
                      <a:solidFill>
                        <a:srgbClr val="DDE7E8"/>
                      </a:solidFill>
                      <a:prstDash val="solid"/>
                      <a:round/>
                      <a:headEnd type="none" w="med" len="med"/>
                      <a:tailEnd type="none" w="med" len="med"/>
                    </a:lnR>
                    <a:lnT w="9525" cap="flat" cmpd="sng" algn="ctr">
                      <a:solidFill>
                        <a:srgbClr val="DDE7E8"/>
                      </a:solidFill>
                      <a:prstDash val="solid"/>
                      <a:round/>
                      <a:headEnd type="none" w="med" len="med"/>
                      <a:tailEnd type="none" w="med" len="med"/>
                    </a:lnT>
                    <a:lnB w="9525" cap="flat" cmpd="sng" algn="ctr">
                      <a:solidFill>
                        <a:srgbClr val="DDE7E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Text 3"/>
          <p:cNvSpPr txBox="1"/>
          <p:nvPr/>
        </p:nvSpPr>
        <p:spPr>
          <a:xfrm>
            <a:off x="457200" y="3200400"/>
            <a:ext cx="4617720" cy="502920"/>
          </a:xfrm>
          <a:prstGeom prst="rect">
            <a:avLst/>
          </a:prstGeom>
          <a:noFill/>
          <a:ln/>
        </p:spPr>
        <p:txBody>
          <a:bodyPr wrap="square" lIns="0" tIns="0" rIns="0" bIns="0" rtlCol="0" anchor="ctr"/>
          <a:lstStyle/>
          <a:p>
            <a:pPr marL="0" indent="0">
              <a:buNone/>
            </a:pPr>
            <a:r>
              <a:rPr lang="en-US" sz="1050" dirty="0">
                <a:solidFill>
                  <a:srgbClr val="5F7178"/>
                </a:solidFill>
                <a:latin typeface="Calibri" pitchFamily="34" charset="0"/>
                <a:ea typeface="Calibri" pitchFamily="34" charset="-122"/>
                <a:cs typeface="Calibri" pitchFamily="34" charset="-120"/>
              </a:rPr>
              <a:t>Each step moves 0.25 m sideways and a fraction of a millimetre up or down, so every segment is barely longer than 0.25 m. Those tiny excesses are the whole signal.</a:t>
            </a:r>
            <a:endParaRPr lang="en-US" sz="1050" dirty="0"/>
          </a:p>
        </p:txBody>
      </p:sp>
      <p:sp>
        <p:nvSpPr>
          <p:cNvPr id="7" name="Shape 4"/>
          <p:cNvSpPr/>
          <p:nvPr/>
        </p:nvSpPr>
        <p:spPr>
          <a:xfrm>
            <a:off x="5349240" y="1481328"/>
            <a:ext cx="3337560" cy="2011680"/>
          </a:xfrm>
          <a:prstGeom prst="roundRect">
            <a:avLst>
              <a:gd name="adj" fmla="val 2727"/>
            </a:avLst>
          </a:prstGeom>
          <a:solidFill>
            <a:srgbClr val="EDF5F5"/>
          </a:solidFill>
          <a:ln w="12700">
            <a:solidFill>
              <a:srgbClr val="EDF5F5"/>
            </a:solidFill>
            <a:prstDash val="solid"/>
          </a:ln>
        </p:spPr>
        <p:txBody>
          <a:bodyPr/>
          <a:lstStyle/>
          <a:p>
            <a:endParaRPr lang="sv-SE"/>
          </a:p>
        </p:txBody>
      </p:sp>
      <p:sp>
        <p:nvSpPr>
          <p:cNvPr id="8" name="Text 5"/>
          <p:cNvSpPr txBox="1"/>
          <p:nvPr/>
        </p:nvSpPr>
        <p:spPr>
          <a:xfrm>
            <a:off x="5486400" y="1572768"/>
            <a:ext cx="548640" cy="182880"/>
          </a:xfrm>
          <a:prstGeom prst="rect">
            <a:avLst/>
          </a:prstGeom>
          <a:noFill/>
          <a:ln/>
        </p:spPr>
        <p:txBody>
          <a:bodyPr wrap="square" lIns="0" tIns="0" rIns="0" bIns="0" rtlCol="0" anchor="ctr"/>
          <a:lstStyle/>
          <a:p>
            <a:pPr marL="0" indent="0">
              <a:buNone/>
            </a:pPr>
            <a:r>
              <a:rPr lang="en-US" sz="900" dirty="0">
                <a:solidFill>
                  <a:srgbClr val="5F7178"/>
                </a:solidFill>
                <a:latin typeface="Calibri" pitchFamily="34" charset="0"/>
                <a:ea typeface="Calibri" pitchFamily="34" charset="-122"/>
                <a:cs typeface="Calibri" pitchFamily="34" charset="-120"/>
              </a:rPr>
              <a:t>gauge</a:t>
            </a:r>
            <a:endParaRPr lang="en-US" sz="900" dirty="0"/>
          </a:p>
        </p:txBody>
      </p:sp>
      <p:sp>
        <p:nvSpPr>
          <p:cNvPr id="9" name="Shape 6"/>
          <p:cNvSpPr/>
          <p:nvPr/>
        </p:nvSpPr>
        <p:spPr>
          <a:xfrm>
            <a:off x="5806440" y="1783080"/>
            <a:ext cx="0" cy="1143000"/>
          </a:xfrm>
          <a:prstGeom prst="line">
            <a:avLst/>
          </a:prstGeom>
          <a:noFill/>
          <a:ln w="12700">
            <a:solidFill>
              <a:srgbClr val="C3D2D5"/>
            </a:solidFill>
            <a:prstDash val="solid"/>
          </a:ln>
        </p:spPr>
        <p:txBody>
          <a:bodyPr/>
          <a:lstStyle/>
          <a:p>
            <a:endParaRPr lang="sv-SE"/>
          </a:p>
        </p:txBody>
      </p:sp>
      <p:sp>
        <p:nvSpPr>
          <p:cNvPr id="10" name="Shape 7"/>
          <p:cNvSpPr/>
          <p:nvPr/>
        </p:nvSpPr>
        <p:spPr>
          <a:xfrm>
            <a:off x="5806440" y="2926080"/>
            <a:ext cx="2606040" cy="0"/>
          </a:xfrm>
          <a:prstGeom prst="line">
            <a:avLst/>
          </a:prstGeom>
          <a:noFill/>
          <a:ln w="12700">
            <a:solidFill>
              <a:srgbClr val="C3D2D5"/>
            </a:solidFill>
            <a:prstDash val="solid"/>
          </a:ln>
        </p:spPr>
        <p:txBody>
          <a:bodyPr/>
          <a:lstStyle/>
          <a:p>
            <a:endParaRPr lang="sv-SE"/>
          </a:p>
        </p:txBody>
      </p:sp>
      <p:sp>
        <p:nvSpPr>
          <p:cNvPr id="11" name="Shape 8"/>
          <p:cNvSpPr/>
          <p:nvPr/>
        </p:nvSpPr>
        <p:spPr>
          <a:xfrm flipV="1">
            <a:off x="5897880" y="2502408"/>
            <a:ext cx="605790" cy="172720"/>
          </a:xfrm>
          <a:prstGeom prst="line">
            <a:avLst/>
          </a:prstGeom>
          <a:noFill/>
          <a:ln w="22225">
            <a:solidFill>
              <a:srgbClr val="028090"/>
            </a:solidFill>
            <a:prstDash val="solid"/>
          </a:ln>
        </p:spPr>
        <p:txBody>
          <a:bodyPr/>
          <a:lstStyle/>
          <a:p>
            <a:endParaRPr lang="sv-SE"/>
          </a:p>
        </p:txBody>
      </p:sp>
      <p:sp>
        <p:nvSpPr>
          <p:cNvPr id="12" name="Shape 9"/>
          <p:cNvSpPr/>
          <p:nvPr/>
        </p:nvSpPr>
        <p:spPr>
          <a:xfrm>
            <a:off x="6503670" y="2502408"/>
            <a:ext cx="605790" cy="259080"/>
          </a:xfrm>
          <a:prstGeom prst="line">
            <a:avLst/>
          </a:prstGeom>
          <a:noFill/>
          <a:ln w="22225">
            <a:solidFill>
              <a:srgbClr val="028090"/>
            </a:solidFill>
            <a:prstDash val="solid"/>
          </a:ln>
        </p:spPr>
        <p:txBody>
          <a:bodyPr/>
          <a:lstStyle/>
          <a:p>
            <a:endParaRPr lang="sv-SE"/>
          </a:p>
        </p:txBody>
      </p:sp>
      <p:sp>
        <p:nvSpPr>
          <p:cNvPr id="13" name="Shape 10"/>
          <p:cNvSpPr/>
          <p:nvPr/>
        </p:nvSpPr>
        <p:spPr>
          <a:xfrm flipV="1">
            <a:off x="7109460" y="1984248"/>
            <a:ext cx="605790" cy="777240"/>
          </a:xfrm>
          <a:prstGeom prst="line">
            <a:avLst/>
          </a:prstGeom>
          <a:noFill/>
          <a:ln w="22225">
            <a:solidFill>
              <a:srgbClr val="028090"/>
            </a:solidFill>
            <a:prstDash val="solid"/>
          </a:ln>
        </p:spPr>
        <p:txBody>
          <a:bodyPr/>
          <a:lstStyle/>
          <a:p>
            <a:endParaRPr lang="sv-SE"/>
          </a:p>
        </p:txBody>
      </p:sp>
      <p:sp>
        <p:nvSpPr>
          <p:cNvPr id="14" name="Shape 11"/>
          <p:cNvSpPr/>
          <p:nvPr/>
        </p:nvSpPr>
        <p:spPr>
          <a:xfrm>
            <a:off x="7715250" y="1984248"/>
            <a:ext cx="605790" cy="604520"/>
          </a:xfrm>
          <a:prstGeom prst="line">
            <a:avLst/>
          </a:prstGeom>
          <a:noFill/>
          <a:ln w="22225">
            <a:solidFill>
              <a:srgbClr val="028090"/>
            </a:solidFill>
            <a:prstDash val="solid"/>
          </a:ln>
        </p:spPr>
        <p:txBody>
          <a:bodyPr/>
          <a:lstStyle/>
          <a:p>
            <a:endParaRPr lang="sv-SE"/>
          </a:p>
        </p:txBody>
      </p:sp>
      <p:sp>
        <p:nvSpPr>
          <p:cNvPr id="5" name="Shape 12"/>
          <p:cNvSpPr/>
          <p:nvPr/>
        </p:nvSpPr>
        <p:spPr>
          <a:xfrm>
            <a:off x="5847588" y="2624836"/>
            <a:ext cx="100584" cy="100584"/>
          </a:xfrm>
          <a:prstGeom prst="ellipse">
            <a:avLst/>
          </a:prstGeom>
          <a:solidFill>
            <a:srgbClr val="028090"/>
          </a:solidFill>
          <a:ln w="9525">
            <a:solidFill>
              <a:srgbClr val="FFFFFF"/>
            </a:solidFill>
            <a:prstDash val="solid"/>
          </a:ln>
        </p:spPr>
        <p:txBody>
          <a:bodyPr/>
          <a:lstStyle/>
          <a:p>
            <a:endParaRPr lang="sv-SE"/>
          </a:p>
        </p:txBody>
      </p:sp>
      <p:sp>
        <p:nvSpPr>
          <p:cNvPr id="16" name="Shape 13"/>
          <p:cNvSpPr/>
          <p:nvPr/>
        </p:nvSpPr>
        <p:spPr>
          <a:xfrm>
            <a:off x="6453378" y="2452116"/>
            <a:ext cx="100584" cy="100584"/>
          </a:xfrm>
          <a:prstGeom prst="ellipse">
            <a:avLst/>
          </a:prstGeom>
          <a:solidFill>
            <a:srgbClr val="028090"/>
          </a:solidFill>
          <a:ln w="9525">
            <a:solidFill>
              <a:srgbClr val="FFFFFF"/>
            </a:solidFill>
            <a:prstDash val="solid"/>
          </a:ln>
        </p:spPr>
        <p:txBody>
          <a:bodyPr/>
          <a:lstStyle/>
          <a:p>
            <a:endParaRPr lang="sv-SE"/>
          </a:p>
        </p:txBody>
      </p:sp>
      <p:sp>
        <p:nvSpPr>
          <p:cNvPr id="17" name="Shape 14"/>
          <p:cNvSpPr/>
          <p:nvPr/>
        </p:nvSpPr>
        <p:spPr>
          <a:xfrm>
            <a:off x="7059168" y="2711196"/>
            <a:ext cx="100584" cy="100584"/>
          </a:xfrm>
          <a:prstGeom prst="ellipse">
            <a:avLst/>
          </a:prstGeom>
          <a:solidFill>
            <a:srgbClr val="028090"/>
          </a:solidFill>
          <a:ln w="9525">
            <a:solidFill>
              <a:srgbClr val="FFFFFF"/>
            </a:solidFill>
            <a:prstDash val="solid"/>
          </a:ln>
        </p:spPr>
        <p:txBody>
          <a:bodyPr/>
          <a:lstStyle/>
          <a:p>
            <a:endParaRPr lang="sv-SE"/>
          </a:p>
        </p:txBody>
      </p:sp>
      <p:sp>
        <p:nvSpPr>
          <p:cNvPr id="18" name="Shape 15"/>
          <p:cNvSpPr/>
          <p:nvPr/>
        </p:nvSpPr>
        <p:spPr>
          <a:xfrm>
            <a:off x="7664958" y="1933956"/>
            <a:ext cx="100584" cy="100584"/>
          </a:xfrm>
          <a:prstGeom prst="ellipse">
            <a:avLst/>
          </a:prstGeom>
          <a:solidFill>
            <a:srgbClr val="E8604C"/>
          </a:solidFill>
          <a:ln w="9525">
            <a:solidFill>
              <a:srgbClr val="FFFFFF"/>
            </a:solidFill>
            <a:prstDash val="solid"/>
          </a:ln>
        </p:spPr>
        <p:txBody>
          <a:bodyPr/>
          <a:lstStyle/>
          <a:p>
            <a:endParaRPr lang="sv-SE"/>
          </a:p>
        </p:txBody>
      </p:sp>
      <p:sp>
        <p:nvSpPr>
          <p:cNvPr id="19" name="Shape 16"/>
          <p:cNvSpPr/>
          <p:nvPr/>
        </p:nvSpPr>
        <p:spPr>
          <a:xfrm>
            <a:off x="8270748" y="2538476"/>
            <a:ext cx="100584" cy="100584"/>
          </a:xfrm>
          <a:prstGeom prst="ellipse">
            <a:avLst/>
          </a:prstGeom>
          <a:solidFill>
            <a:srgbClr val="028090"/>
          </a:solidFill>
          <a:ln w="9525">
            <a:solidFill>
              <a:srgbClr val="FFFFFF"/>
            </a:solidFill>
            <a:prstDash val="solid"/>
          </a:ln>
        </p:spPr>
        <p:txBody>
          <a:bodyPr/>
          <a:lstStyle/>
          <a:p>
            <a:endParaRPr lang="sv-SE"/>
          </a:p>
        </p:txBody>
      </p:sp>
      <p:sp>
        <p:nvSpPr>
          <p:cNvPr id="20" name="Text 17"/>
          <p:cNvSpPr txBox="1"/>
          <p:nvPr/>
        </p:nvSpPr>
        <p:spPr>
          <a:xfrm>
            <a:off x="6663690" y="1655064"/>
            <a:ext cx="960120" cy="365760"/>
          </a:xfrm>
          <a:prstGeom prst="rect">
            <a:avLst/>
          </a:prstGeom>
          <a:noFill/>
          <a:ln/>
        </p:spPr>
        <p:txBody>
          <a:bodyPr wrap="square" lIns="0" tIns="0" rIns="0" bIns="0" rtlCol="0" anchor="ctr"/>
          <a:lstStyle/>
          <a:p>
            <a:pPr marL="0" indent="0" algn="r">
              <a:buNone/>
            </a:pPr>
            <a:r>
              <a:rPr lang="en-US" sz="850" b="1" dirty="0">
                <a:solidFill>
                  <a:srgbClr val="E8604C"/>
                </a:solidFill>
                <a:latin typeface="Calibri" pitchFamily="34" charset="0"/>
                <a:ea typeface="Calibri" pitchFamily="34" charset="-122"/>
                <a:cs typeface="Calibri" pitchFamily="34" charset="-120"/>
              </a:rPr>
              <a:t>biggest wobble →</a:t>
            </a:r>
            <a:endParaRPr lang="en-US" sz="850" dirty="0"/>
          </a:p>
          <a:p>
            <a:pPr marL="0" indent="0" algn="r">
              <a:buNone/>
            </a:pPr>
            <a:r>
              <a:rPr lang="en-US" sz="850" b="1" dirty="0">
                <a:solidFill>
                  <a:srgbClr val="E8604C"/>
                </a:solidFill>
                <a:latin typeface="Calibri" pitchFamily="34" charset="0"/>
                <a:ea typeface="Calibri" pitchFamily="34" charset="-122"/>
                <a:cs typeface="Calibri" pitchFamily="34" charset="-120"/>
              </a:rPr>
              <a:t>longest segment</a:t>
            </a:r>
            <a:endParaRPr lang="en-US" sz="850" dirty="0"/>
          </a:p>
        </p:txBody>
      </p:sp>
      <p:sp>
        <p:nvSpPr>
          <p:cNvPr id="21" name="Text 18"/>
          <p:cNvSpPr txBox="1"/>
          <p:nvPr/>
        </p:nvSpPr>
        <p:spPr>
          <a:xfrm>
            <a:off x="5806440" y="2971800"/>
            <a:ext cx="2606040" cy="182880"/>
          </a:xfrm>
          <a:prstGeom prst="rect">
            <a:avLst/>
          </a:prstGeom>
          <a:noFill/>
          <a:ln/>
        </p:spPr>
        <p:txBody>
          <a:bodyPr wrap="square" lIns="0" tIns="0" rIns="0" bIns="0" rtlCol="0" anchor="ctr"/>
          <a:lstStyle/>
          <a:p>
            <a:pPr marL="0" indent="0" algn="ctr">
              <a:buNone/>
            </a:pPr>
            <a:r>
              <a:rPr lang="en-US" sz="900" dirty="0">
                <a:solidFill>
                  <a:srgbClr val="5F7178"/>
                </a:solidFill>
                <a:latin typeface="Calibri" pitchFamily="34" charset="0"/>
                <a:ea typeface="Calibri" pitchFamily="34" charset="-122"/>
                <a:cs typeface="Calibri" pitchFamily="34" charset="-120"/>
              </a:rPr>
              <a:t>distance along the section</a:t>
            </a:r>
            <a:endParaRPr lang="en-US" sz="900" dirty="0"/>
          </a:p>
        </p:txBody>
      </p:sp>
      <p:sp>
        <p:nvSpPr>
          <p:cNvPr id="22" name="Shape 19"/>
          <p:cNvSpPr/>
          <p:nvPr/>
        </p:nvSpPr>
        <p:spPr>
          <a:xfrm>
            <a:off x="457200" y="3794760"/>
            <a:ext cx="8229600" cy="640080"/>
          </a:xfrm>
          <a:prstGeom prst="roundRect">
            <a:avLst>
              <a:gd name="adj" fmla="val 8571"/>
            </a:avLst>
          </a:prstGeom>
          <a:solidFill>
            <a:srgbClr val="0B2027"/>
          </a:solidFill>
          <a:ln w="12700">
            <a:solidFill>
              <a:srgbClr val="0B2027"/>
            </a:solidFill>
            <a:prstDash val="solid"/>
          </a:ln>
        </p:spPr>
        <p:txBody>
          <a:bodyPr/>
          <a:lstStyle/>
          <a:p>
            <a:endParaRPr lang="sv-SE"/>
          </a:p>
        </p:txBody>
      </p:sp>
      <p:sp>
        <p:nvSpPr>
          <p:cNvPr id="23" name="Text 20"/>
          <p:cNvSpPr txBox="1"/>
          <p:nvPr/>
        </p:nvSpPr>
        <p:spPr>
          <a:xfrm>
            <a:off x="731520" y="3794760"/>
            <a:ext cx="7680960" cy="640080"/>
          </a:xfrm>
          <a:prstGeom prst="rect">
            <a:avLst/>
          </a:prstGeom>
          <a:noFill/>
          <a:ln/>
        </p:spPr>
        <p:txBody>
          <a:bodyPr wrap="square" lIns="0" tIns="0" rIns="0" bIns="0" rtlCol="0" anchor="ctr"/>
          <a:lstStyle/>
          <a:p>
            <a:pPr marL="0" indent="0">
              <a:buNone/>
            </a:pPr>
            <a:r>
              <a:rPr lang="en-US" sz="1300" i="1" dirty="0">
                <a:solidFill>
                  <a:srgbClr val="FFFFFF"/>
                </a:solidFill>
                <a:latin typeface="Calibri" pitchFamily="34" charset="0"/>
                <a:ea typeface="Calibri" pitchFamily="34" charset="-122"/>
                <a:cs typeface="Calibri" pitchFamily="34" charset="-120"/>
              </a:rPr>
              <a:t>L</a:t>
            </a:r>
            <a:r>
              <a:rPr lang="en-US" sz="1300" i="1" baseline="-40000" dirty="0">
                <a:solidFill>
                  <a:srgbClr val="FFFFFF"/>
                </a:solidFill>
                <a:latin typeface="Calibri" pitchFamily="34" charset="0"/>
                <a:ea typeface="Calibri" pitchFamily="34" charset="-122"/>
                <a:cs typeface="Calibri" pitchFamily="34" charset="-120"/>
              </a:rPr>
              <a:t>s</a:t>
            </a:r>
            <a:r>
              <a:rPr lang="en-US" sz="1300" dirty="0">
                <a:solidFill>
                  <a:srgbClr val="FFFFFF"/>
                </a:solidFill>
                <a:latin typeface="Calibri" pitchFamily="34" charset="0"/>
                <a:ea typeface="Calibri" pitchFamily="34" charset="-122"/>
                <a:cs typeface="Calibri" pitchFamily="34" charset="-120"/>
              </a:rPr>
              <a:t> = 1.00000286 m        </a:t>
            </a:r>
            <a:r>
              <a:rPr lang="en-US" sz="1300" i="1" dirty="0">
                <a:solidFill>
                  <a:srgbClr val="FFFFFF"/>
                </a:solidFill>
                <a:latin typeface="Calibri" pitchFamily="34" charset="0"/>
                <a:ea typeface="Calibri" pitchFamily="34" charset="-122"/>
                <a:cs typeface="Calibri" pitchFamily="34" charset="-120"/>
              </a:rPr>
              <a:t>L</a:t>
            </a:r>
            <a:r>
              <a:rPr lang="en-US" sz="1300" baseline="-40000" dirty="0">
                <a:solidFill>
                  <a:srgbClr val="FFFFFF"/>
                </a:solidFill>
                <a:latin typeface="Calibri" pitchFamily="34" charset="0"/>
                <a:ea typeface="Calibri" pitchFamily="34" charset="-122"/>
                <a:cs typeface="Calibri" pitchFamily="34" charset="-120"/>
              </a:rPr>
              <a:t>0</a:t>
            </a:r>
            <a:r>
              <a:rPr lang="en-US" sz="1300" dirty="0">
                <a:solidFill>
                  <a:srgbClr val="FFFFFF"/>
                </a:solidFill>
                <a:latin typeface="Calibri" pitchFamily="34" charset="0"/>
                <a:ea typeface="Calibri" pitchFamily="34" charset="-122"/>
                <a:cs typeface="Calibri" pitchFamily="34" charset="-120"/>
              </a:rPr>
              <a:t> = 1.00 m        →        TQI = ( 1.00000286 / 1.00 − 1 ) × 10</a:t>
            </a:r>
            <a:r>
              <a:rPr lang="en-US" sz="1300" baseline="30000" dirty="0">
                <a:solidFill>
                  <a:srgbClr val="FFFFFF"/>
                </a:solidFill>
                <a:latin typeface="Calibri" pitchFamily="34" charset="0"/>
                <a:ea typeface="Calibri" pitchFamily="34" charset="-122"/>
                <a:cs typeface="Calibri" pitchFamily="34" charset="-120"/>
              </a:rPr>
              <a:t>6</a:t>
            </a:r>
            <a:r>
              <a:rPr lang="en-US" sz="1300" b="1" dirty="0">
                <a:solidFill>
                  <a:srgbClr val="00A896"/>
                </a:solidFill>
                <a:latin typeface="Calibri" pitchFamily="34" charset="0"/>
                <a:ea typeface="Calibri" pitchFamily="34" charset="-122"/>
                <a:cs typeface="Calibri" pitchFamily="34" charset="-120"/>
              </a:rPr>
              <a:t>  =  2.9</a:t>
            </a:r>
            <a:endParaRPr lang="en-US" sz="1300" dirty="0"/>
          </a:p>
        </p:txBody>
      </p:sp>
      <p:sp>
        <p:nvSpPr>
          <p:cNvPr id="24" name="Text 21"/>
          <p:cNvSpPr txBox="1"/>
          <p:nvPr/>
        </p:nvSpPr>
        <p:spPr>
          <a:xfrm>
            <a:off x="457200" y="4526280"/>
            <a:ext cx="8229600" cy="274320"/>
          </a:xfrm>
          <a:prstGeom prst="rect">
            <a:avLst/>
          </a:prstGeom>
          <a:noFill/>
          <a:ln/>
        </p:spPr>
        <p:txBody>
          <a:bodyPr wrap="square" lIns="0" tIns="0" rIns="0" bIns="0" rtlCol="0" anchor="ctr"/>
          <a:lstStyle/>
          <a:p>
            <a:pPr marL="0" indent="0" algn="ctr">
              <a:buNone/>
            </a:pPr>
            <a:r>
              <a:rPr lang="en-US" sz="1150" i="1" dirty="0">
                <a:solidFill>
                  <a:srgbClr val="5F7178"/>
                </a:solidFill>
                <a:latin typeface="Calibri" pitchFamily="34" charset="0"/>
                <a:ea typeface="Calibri" pitchFamily="34" charset="-122"/>
                <a:cs typeface="Calibri" pitchFamily="34" charset="-120"/>
              </a:rPr>
              <a:t>Same procedure for cross-level, cant, twist and surface — only the quantity on the vertical axis changes.</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B2027"/>
        </a:solidFill>
        <a:effectLst/>
      </p:bgPr>
    </p:bg>
    <p:spTree>
      <p:nvGrpSpPr>
        <p:cNvPr id="1" name=""/>
        <p:cNvGrpSpPr/>
        <p:nvPr/>
      </p:nvGrpSpPr>
      <p:grpSpPr>
        <a:xfrm>
          <a:off x="0" y="0"/>
          <a:ext cx="0" cy="0"/>
          <a:chOff x="0" y="0"/>
          <a:chExt cx="0" cy="0"/>
        </a:xfrm>
      </p:grpSpPr>
      <p:sp>
        <p:nvSpPr>
          <p:cNvPr id="2" name="Shape 0"/>
          <p:cNvSpPr/>
          <p:nvPr/>
        </p:nvSpPr>
        <p:spPr>
          <a:xfrm>
            <a:off x="6675120" y="-1005840"/>
            <a:ext cx="3840480" cy="3840480"/>
          </a:xfrm>
          <a:prstGeom prst="ellipse">
            <a:avLst/>
          </a:prstGeom>
          <a:solidFill>
            <a:srgbClr val="028090">
              <a:alpha val="22000"/>
            </a:srgbClr>
          </a:solidFill>
          <a:ln w="12700">
            <a:solidFill>
              <a:srgbClr val="333333"/>
            </a:solidFill>
            <a:prstDash val="solid"/>
          </a:ln>
        </p:spPr>
        <p:txBody>
          <a:bodyPr/>
          <a:lstStyle/>
          <a:p>
            <a:endParaRPr lang="sv-SE"/>
          </a:p>
        </p:txBody>
      </p:sp>
      <p:sp>
        <p:nvSpPr>
          <p:cNvPr id="3" name="Shape 1"/>
          <p:cNvSpPr/>
          <p:nvPr/>
        </p:nvSpPr>
        <p:spPr>
          <a:xfrm>
            <a:off x="7680960" y="2651760"/>
            <a:ext cx="2377440" cy="2377440"/>
          </a:xfrm>
          <a:prstGeom prst="ellipse">
            <a:avLst/>
          </a:prstGeom>
          <a:solidFill>
            <a:srgbClr val="00A896">
              <a:alpha val="15000"/>
            </a:srgbClr>
          </a:solidFill>
          <a:ln w="12700">
            <a:solidFill>
              <a:srgbClr val="333333"/>
            </a:solidFill>
            <a:prstDash val="solid"/>
          </a:ln>
        </p:spPr>
        <p:txBody>
          <a:bodyPr/>
          <a:lstStyle/>
          <a:p>
            <a:endParaRPr lang="sv-SE"/>
          </a:p>
        </p:txBody>
      </p:sp>
      <p:sp>
        <p:nvSpPr>
          <p:cNvPr id="4" name="Text 2"/>
          <p:cNvSpPr txBox="1"/>
          <p:nvPr/>
        </p:nvSpPr>
        <p:spPr>
          <a:xfrm>
            <a:off x="457200" y="1097280"/>
            <a:ext cx="6766560" cy="256032"/>
          </a:xfrm>
          <a:prstGeom prst="rect">
            <a:avLst/>
          </a:prstGeom>
          <a:noFill/>
          <a:ln/>
        </p:spPr>
        <p:txBody>
          <a:bodyPr wrap="square" lIns="0" tIns="0" rIns="0" bIns="0" rtlCol="0" anchor="ctr"/>
          <a:lstStyle/>
          <a:p>
            <a:pPr marL="0" indent="0">
              <a:buNone/>
            </a:pPr>
            <a:r>
              <a:rPr lang="en-US" sz="1150" b="1" kern="0" spc="200" dirty="0">
                <a:solidFill>
                  <a:srgbClr val="00A896"/>
                </a:solidFill>
                <a:latin typeface="Calibri" pitchFamily="34" charset="0"/>
                <a:ea typeface="Calibri" pitchFamily="34" charset="-122"/>
                <a:cs typeface="Calibri" pitchFamily="34" charset="-120"/>
              </a:rPr>
              <a:t>D7016B · PROJECT DEMONSTRATION 2</a:t>
            </a:r>
            <a:endParaRPr lang="en-US" sz="1150" dirty="0"/>
          </a:p>
        </p:txBody>
      </p:sp>
      <p:sp>
        <p:nvSpPr>
          <p:cNvPr id="5" name="Text 3"/>
          <p:cNvSpPr txBox="1"/>
          <p:nvPr/>
        </p:nvSpPr>
        <p:spPr>
          <a:xfrm>
            <a:off x="457200" y="1417320"/>
            <a:ext cx="6858000" cy="1097280"/>
          </a:xfrm>
          <a:prstGeom prst="rect">
            <a:avLst/>
          </a:prstGeom>
          <a:noFill/>
          <a:ln/>
        </p:spPr>
        <p:txBody>
          <a:bodyPr wrap="square" lIns="0" tIns="0" rIns="0" bIns="0" rtlCol="0" anchor="ctr"/>
          <a:lstStyle/>
          <a:p>
            <a:pPr marL="0" indent="0">
              <a:buNone/>
            </a:pPr>
            <a:r>
              <a:rPr lang="en-US" sz="3100" b="1" dirty="0">
                <a:solidFill>
                  <a:srgbClr val="FFFFFF"/>
                </a:solidFill>
                <a:latin typeface="Cambria" pitchFamily="34" charset="0"/>
                <a:ea typeface="Cambria" pitchFamily="34" charset="-122"/>
                <a:cs typeface="Cambria" pitchFamily="34" charset="-120"/>
              </a:rPr>
              <a:t>Track change over time as 3D curves</a:t>
            </a:r>
            <a:endParaRPr lang="en-US" sz="3100" dirty="0"/>
          </a:p>
        </p:txBody>
      </p:sp>
      <p:sp>
        <p:nvSpPr>
          <p:cNvPr id="6" name="Text 4"/>
          <p:cNvSpPr txBox="1"/>
          <p:nvPr/>
        </p:nvSpPr>
        <p:spPr>
          <a:xfrm>
            <a:off x="457200" y="2560320"/>
            <a:ext cx="6583680" cy="365760"/>
          </a:xfrm>
          <a:prstGeom prst="rect">
            <a:avLst/>
          </a:prstGeom>
          <a:noFill/>
          <a:ln/>
        </p:spPr>
        <p:txBody>
          <a:bodyPr wrap="square" lIns="0" tIns="0" rIns="0" bIns="0" rtlCol="0" anchor="ctr"/>
          <a:lstStyle/>
          <a:p>
            <a:pPr marL="0" indent="0">
              <a:buNone/>
            </a:pPr>
            <a:r>
              <a:rPr lang="en-US" sz="1600" i="1" dirty="0">
                <a:solidFill>
                  <a:srgbClr val="00A896"/>
                </a:solidFill>
                <a:latin typeface="Calibri" pitchFamily="34" charset="0"/>
                <a:ea typeface="Calibri" pitchFamily="34" charset="-122"/>
                <a:cs typeface="Calibri" pitchFamily="34" charset="-120"/>
              </a:rPr>
              <a:t>…comparing runs of the same track</a:t>
            </a:r>
            <a:endParaRPr lang="en-US" sz="1600" dirty="0"/>
          </a:p>
        </p:txBody>
      </p:sp>
      <p:sp>
        <p:nvSpPr>
          <p:cNvPr id="7" name="Text 5"/>
          <p:cNvSpPr txBox="1"/>
          <p:nvPr/>
        </p:nvSpPr>
        <p:spPr>
          <a:xfrm>
            <a:off x="457200" y="3703320"/>
            <a:ext cx="5943600" cy="914400"/>
          </a:xfrm>
          <a:prstGeom prst="rect">
            <a:avLst/>
          </a:prstGeom>
          <a:noFill/>
          <a:ln/>
        </p:spPr>
        <p:txBody>
          <a:bodyPr wrap="square" lIns="0" tIns="0" rIns="0" bIns="0" rtlCol="0" anchor="ctr"/>
          <a:lstStyle/>
          <a:p>
            <a:pPr marL="0" indent="0">
              <a:lnSpc>
                <a:spcPts val="1800"/>
              </a:lnSpc>
              <a:buNone/>
            </a:pPr>
            <a:r>
              <a:rPr lang="en-US" sz="1250" b="1" dirty="0">
                <a:solidFill>
                  <a:srgbClr val="C7D8DB"/>
                </a:solidFill>
                <a:latin typeface="Calibri" pitchFamily="34" charset="0"/>
                <a:ea typeface="Calibri" pitchFamily="34" charset="-122"/>
                <a:cs typeface="Calibri" pitchFamily="34" charset="-120"/>
              </a:rPr>
              <a:t>Viktor Lindberg</a:t>
            </a:r>
            <a:endParaRPr lang="en-US" sz="1250" dirty="0"/>
          </a:p>
          <a:p>
            <a:pPr marL="0" indent="0">
              <a:lnSpc>
                <a:spcPts val="1800"/>
              </a:lnSpc>
              <a:buNone/>
            </a:pPr>
            <a:r>
              <a:rPr lang="en-US" sz="1250" dirty="0">
                <a:solidFill>
                  <a:srgbClr val="C7D8DB"/>
                </a:solidFill>
                <a:latin typeface="Calibri" pitchFamily="34" charset="0"/>
                <a:ea typeface="Calibri" pitchFamily="34" charset="-122"/>
                <a:cs typeface="Calibri" pitchFamily="34" charset="-120"/>
              </a:rPr>
              <a:t>Supervisor: Amit Patwardhan</a:t>
            </a:r>
            <a:endParaRPr lang="en-US" sz="1250" dirty="0"/>
          </a:p>
          <a:p>
            <a:pPr marL="0" indent="0">
              <a:lnSpc>
                <a:spcPts val="1800"/>
              </a:lnSpc>
              <a:buNone/>
            </a:pPr>
            <a:r>
              <a:rPr lang="en-US" sz="1250" dirty="0">
                <a:solidFill>
                  <a:srgbClr val="C7D8DB"/>
                </a:solidFill>
                <a:latin typeface="Calibri" pitchFamily="34" charset="0"/>
                <a:ea typeface="Calibri" pitchFamily="34" charset="-122"/>
                <a:cs typeface="Calibri" pitchFamily="34" charset="-120"/>
              </a:rPr>
              <a:t>Luleå University of Technology · D7016B – Industrial AI and </a:t>
            </a:r>
            <a:r>
              <a:rPr lang="en-US" sz="1250" dirty="0" err="1">
                <a:solidFill>
                  <a:srgbClr val="C7D8DB"/>
                </a:solidFill>
                <a:latin typeface="Calibri" pitchFamily="34" charset="0"/>
                <a:ea typeface="Calibri" pitchFamily="34" charset="-122"/>
                <a:cs typeface="Calibri" pitchFamily="34" charset="-120"/>
              </a:rPr>
              <a:t>eMaintenance</a:t>
            </a:r>
            <a:r>
              <a:rPr lang="en-US" sz="1250" dirty="0">
                <a:solidFill>
                  <a:srgbClr val="C7D8DB"/>
                </a:solidFill>
                <a:latin typeface="Calibri" pitchFamily="34" charset="0"/>
                <a:ea typeface="Calibri" pitchFamily="34" charset="-122"/>
                <a:cs typeface="Calibri" pitchFamily="34" charset="-120"/>
              </a:rPr>
              <a:t>: Part II</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ruta 2">
            <a:extLst>
              <a:ext uri="{FF2B5EF4-FFF2-40B4-BE49-F238E27FC236}">
                <a16:creationId xmlns:a16="http://schemas.microsoft.com/office/drawing/2014/main" id="{06F2AB30-7995-EDC7-95E0-5CF9BE535009}"/>
              </a:ext>
            </a:extLst>
          </p:cNvPr>
          <p:cNvSpPr txBox="1"/>
          <p:nvPr/>
        </p:nvSpPr>
        <p:spPr>
          <a:xfrm>
            <a:off x="2012302" y="366078"/>
            <a:ext cx="4572000" cy="1102866"/>
          </a:xfrm>
          <a:prstGeom prst="rect">
            <a:avLst/>
          </a:prstGeom>
          <a:noFill/>
        </p:spPr>
        <p:txBody>
          <a:bodyPr wrap="square">
            <a:spAutoFit/>
          </a:bodyPr>
          <a:lstStyle/>
          <a:p>
            <a:pPr algn="just">
              <a:spcAft>
                <a:spcPts val="600"/>
              </a:spcAft>
              <a:buNone/>
            </a:pPr>
            <a:r>
              <a:rPr lang="en-GB" sz="1800" b="1" dirty="0">
                <a:effectLst/>
                <a:latin typeface="+mn-lt"/>
                <a:ea typeface="Times New Roman" panose="02020603050405020304" pitchFamily="18" charset="0"/>
              </a:rPr>
              <a:t>The following dashed list is old and what created based on assumption that certain data would be available. The project have changed and these do not apply anymore:</a:t>
            </a:r>
            <a:endParaRPr lang="sv-SE" sz="1800" dirty="0">
              <a:effectLst/>
              <a:latin typeface="+mn-lt"/>
              <a:ea typeface="Times New Roman" panose="02020603050405020304" pitchFamily="18" charset="0"/>
            </a:endParaRPr>
          </a:p>
          <a:p>
            <a:pPr marL="342900" lvl="0" indent="-342900" algn="just">
              <a:spcAft>
                <a:spcPts val="400"/>
              </a:spcAft>
              <a:buFont typeface="Symbol" panose="05050102010706020507" pitchFamily="18" charset="2"/>
              <a:buChar char="-"/>
            </a:pPr>
            <a:r>
              <a:rPr lang="en-GB" sz="1800" u="none" strike="noStrike" dirty="0">
                <a:effectLst/>
                <a:latin typeface="+mn-lt"/>
                <a:ea typeface="Times New Roman" panose="02020603050405020304" pitchFamily="18" charset="0"/>
              </a:rPr>
              <a:t>Connect vibration/acceleration data to maintenance decisions</a:t>
            </a:r>
            <a:endParaRPr lang="sv-SE" sz="1800" u="none" strike="noStrike" dirty="0">
              <a:effectLst/>
              <a:latin typeface="+mn-lt"/>
              <a:ea typeface="Times New Roman" panose="02020603050405020304" pitchFamily="18" charset="0"/>
            </a:endParaRPr>
          </a:p>
          <a:p>
            <a:pPr marL="342900" lvl="0" indent="-342900" algn="just">
              <a:spcAft>
                <a:spcPts val="400"/>
              </a:spcAft>
              <a:buFont typeface="Symbol" panose="05050102010706020507" pitchFamily="18" charset="2"/>
              <a:buChar char="-"/>
            </a:pPr>
            <a:r>
              <a:rPr lang="en-GB" sz="1800" u="none" strike="noStrike" dirty="0">
                <a:effectLst/>
                <a:latin typeface="+mn-lt"/>
                <a:ea typeface="Times New Roman" panose="02020603050405020304" pitchFamily="18" charset="0"/>
              </a:rPr>
              <a:t>Connect 3d point cloud / geometric data to maintenance decisions </a:t>
            </a:r>
            <a:endParaRPr lang="sv-SE" sz="1800" u="none" strike="noStrike" dirty="0">
              <a:effectLst/>
              <a:latin typeface="+mn-lt"/>
              <a:ea typeface="Times New Roman" panose="02020603050405020304" pitchFamily="18" charset="0"/>
            </a:endParaRPr>
          </a:p>
          <a:p>
            <a:pPr marL="342900" lvl="0" indent="-342900" algn="just">
              <a:spcAft>
                <a:spcPts val="600"/>
              </a:spcAft>
              <a:buFont typeface="Symbol" panose="05050102010706020507" pitchFamily="18" charset="2"/>
              <a:buChar char="-"/>
            </a:pPr>
            <a:r>
              <a:rPr lang="en-GB" sz="1800" u="none" strike="noStrike" dirty="0">
                <a:effectLst/>
                <a:latin typeface="+mn-lt"/>
                <a:ea typeface="Times New Roman" panose="02020603050405020304" pitchFamily="18" charset="0"/>
              </a:rPr>
              <a:t>Explain the idea of the project - to cluster and classify abnormal events based on geometric faults and train a SVM that can predict these without geometric data.</a:t>
            </a:r>
            <a:endParaRPr lang="sv-SE" sz="900" u="none" strike="noStrike"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3729215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ctr"/>
          <a:lstStyle/>
          <a:p>
            <a:pPr marL="0" indent="0">
              <a:buNone/>
            </a:pPr>
            <a:r>
              <a:rPr lang="en-US" sz="1100" b="1" kern="0" spc="200" dirty="0">
                <a:solidFill>
                  <a:srgbClr val="028090"/>
                </a:solidFill>
                <a:latin typeface="Calibri" pitchFamily="34" charset="0"/>
                <a:ea typeface="Calibri" pitchFamily="34" charset="-122"/>
                <a:cs typeface="Calibri" pitchFamily="34" charset="-120"/>
              </a:rPr>
              <a:t>THE DATA</a:t>
            </a:r>
            <a:endParaRPr lang="en-US" sz="11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marL="0" indent="0">
              <a:buNone/>
            </a:pPr>
            <a:r>
              <a:rPr lang="en-US" sz="2700" b="1" dirty="0">
                <a:solidFill>
                  <a:srgbClr val="16262B"/>
                </a:solidFill>
                <a:latin typeface="Cambria" pitchFamily="34" charset="0"/>
                <a:ea typeface="Cambria" pitchFamily="34" charset="-122"/>
                <a:cs typeface="Cambria" pitchFamily="34" charset="-120"/>
              </a:rPr>
              <a:t>One scan of double track, no vibration data</a:t>
            </a:r>
            <a:endParaRPr lang="en-US" sz="2700" dirty="0"/>
          </a:p>
        </p:txBody>
      </p:sp>
      <p:pic>
        <p:nvPicPr>
          <p:cNvPr id="4" name="Picture 3" descr="f1_topdown.png"/>
          <p:cNvPicPr>
            <a:picLocks noChangeAspect="1"/>
          </p:cNvPicPr>
          <p:nvPr/>
        </p:nvPicPr>
        <p:blipFill>
          <a:blip r:embed="rId2"/>
          <a:stretch>
            <a:fillRect/>
          </a:stretch>
        </p:blipFill>
        <p:spPr>
          <a:xfrm>
            <a:off x="457200" y="1280160"/>
            <a:ext cx="4572000" cy="3017520"/>
          </a:xfrm>
          <a:prstGeom prst="rect">
            <a:avLst/>
          </a:prstGeom>
        </p:spPr>
      </p:pic>
      <p:sp>
        <p:nvSpPr>
          <p:cNvPr id="5" name="Text 3"/>
          <p:cNvSpPr txBox="1"/>
          <p:nvPr/>
        </p:nvSpPr>
        <p:spPr>
          <a:xfrm>
            <a:off x="457200" y="4343400"/>
            <a:ext cx="4572000" cy="237744"/>
          </a:xfrm>
          <a:prstGeom prst="rect">
            <a:avLst/>
          </a:prstGeom>
          <a:noFill/>
          <a:ln/>
        </p:spPr>
        <p:txBody>
          <a:bodyPr wrap="square" lIns="0" tIns="0" rIns="0" bIns="0" rtlCol="0" anchor="ctr"/>
          <a:lstStyle/>
          <a:p>
            <a:pPr marL="0" indent="0">
              <a:buNone/>
            </a:pPr>
            <a:r>
              <a:rPr lang="en-US" sz="950" i="1" dirty="0">
                <a:solidFill>
                  <a:srgbClr val="5F7178"/>
                </a:solidFill>
                <a:latin typeface="Calibri" pitchFamily="34" charset="0"/>
                <a:ea typeface="Calibri" pitchFamily="34" charset="-122"/>
                <a:cs typeface="Calibri" pitchFamily="34" charset="-120"/>
              </a:rPr>
              <a:t>Top-down point density (log scale). Two parallel tracks run through the scan.</a:t>
            </a:r>
            <a:endParaRPr lang="en-US" sz="950" dirty="0"/>
          </a:p>
        </p:txBody>
      </p:sp>
      <p:sp>
        <p:nvSpPr>
          <p:cNvPr id="6" name="Shape 4"/>
          <p:cNvSpPr/>
          <p:nvPr/>
        </p:nvSpPr>
        <p:spPr>
          <a:xfrm>
            <a:off x="5257800" y="1325880"/>
            <a:ext cx="3429000" cy="676656"/>
          </a:xfrm>
          <a:prstGeom prst="roundRect">
            <a:avLst>
              <a:gd name="adj" fmla="val 9375"/>
            </a:avLst>
          </a:prstGeom>
          <a:solidFill>
            <a:srgbClr val="EDF5F5"/>
          </a:solidFill>
          <a:ln w="12700">
            <a:solidFill>
              <a:srgbClr val="EDF5F5"/>
            </a:solidFill>
            <a:prstDash val="solid"/>
          </a:ln>
        </p:spPr>
        <p:txBody>
          <a:bodyPr/>
          <a:lstStyle/>
          <a:p>
            <a:endParaRPr lang="sv-SE"/>
          </a:p>
        </p:txBody>
      </p:sp>
      <p:sp>
        <p:nvSpPr>
          <p:cNvPr id="7" name="Text 5"/>
          <p:cNvSpPr txBox="1"/>
          <p:nvPr/>
        </p:nvSpPr>
        <p:spPr>
          <a:xfrm>
            <a:off x="5367528" y="1325880"/>
            <a:ext cx="1005840" cy="676656"/>
          </a:xfrm>
          <a:prstGeom prst="rect">
            <a:avLst/>
          </a:prstGeom>
          <a:noFill/>
          <a:ln/>
        </p:spPr>
        <p:txBody>
          <a:bodyPr wrap="square" lIns="0" tIns="0" rIns="0" bIns="0" rtlCol="0" anchor="ctr"/>
          <a:lstStyle/>
          <a:p>
            <a:pPr marL="0" indent="0" algn="ctr">
              <a:buNone/>
            </a:pPr>
            <a:r>
              <a:rPr lang="en-US" sz="1800" b="1" dirty="0">
                <a:solidFill>
                  <a:srgbClr val="028090"/>
                </a:solidFill>
                <a:latin typeface="Cambria" pitchFamily="34" charset="0"/>
                <a:ea typeface="Cambria" pitchFamily="34" charset="-122"/>
                <a:cs typeface="Cambria" pitchFamily="34" charset="-120"/>
              </a:rPr>
              <a:t>15.9 M</a:t>
            </a:r>
            <a:endParaRPr lang="en-US" sz="1800" dirty="0"/>
          </a:p>
        </p:txBody>
      </p:sp>
      <p:sp>
        <p:nvSpPr>
          <p:cNvPr id="8" name="Text 6"/>
          <p:cNvSpPr txBox="1"/>
          <p:nvPr/>
        </p:nvSpPr>
        <p:spPr>
          <a:xfrm>
            <a:off x="6446520" y="1399032"/>
            <a:ext cx="2148840" cy="237744"/>
          </a:xfrm>
          <a:prstGeom prst="rect">
            <a:avLst/>
          </a:prstGeom>
          <a:noFill/>
          <a:ln/>
        </p:spPr>
        <p:txBody>
          <a:bodyPr wrap="square" lIns="0" tIns="0" rIns="0" bIns="0" rtlCol="0" anchor="ctr"/>
          <a:lstStyle/>
          <a:p>
            <a:pPr marL="0" indent="0">
              <a:buNone/>
            </a:pPr>
            <a:r>
              <a:rPr lang="en-US" sz="1100" b="1" dirty="0">
                <a:solidFill>
                  <a:srgbClr val="16262B"/>
                </a:solidFill>
                <a:latin typeface="Calibri" pitchFamily="34" charset="0"/>
                <a:ea typeface="Calibri" pitchFamily="34" charset="-122"/>
                <a:cs typeface="Calibri" pitchFamily="34" charset="-120"/>
              </a:rPr>
              <a:t>points in one LAZ file</a:t>
            </a:r>
            <a:endParaRPr lang="en-US" sz="1100" dirty="0"/>
          </a:p>
        </p:txBody>
      </p:sp>
      <p:sp>
        <p:nvSpPr>
          <p:cNvPr id="9" name="Text 7"/>
          <p:cNvSpPr txBox="1"/>
          <p:nvPr/>
        </p:nvSpPr>
        <p:spPr>
          <a:xfrm>
            <a:off x="6446520" y="1636776"/>
            <a:ext cx="2148840" cy="310896"/>
          </a:xfrm>
          <a:prstGeom prst="rect">
            <a:avLst/>
          </a:prstGeom>
          <a:noFill/>
          <a:ln/>
        </p:spPr>
        <p:txBody>
          <a:bodyPr wrap="square" lIns="0" tIns="0" rIns="0" bIns="0" rtlCol="0" anchor="ctr"/>
          <a:lstStyle/>
          <a:p>
            <a:pPr marL="0" indent="0">
              <a:buNone/>
            </a:pPr>
            <a:r>
              <a:rPr lang="en-US" sz="900" dirty="0">
                <a:solidFill>
                  <a:srgbClr val="5F7178"/>
                </a:solidFill>
                <a:latin typeface="Calibri" pitchFamily="34" charset="0"/>
                <a:ea typeface="Calibri" pitchFamily="34" charset="-122"/>
                <a:cs typeface="Calibri" pitchFamily="34" charset="-120"/>
              </a:rPr>
              <a:t>47 MB, LAS 1.2, point format 0</a:t>
            </a:r>
            <a:endParaRPr lang="en-US" sz="900" dirty="0"/>
          </a:p>
        </p:txBody>
      </p:sp>
      <p:sp>
        <p:nvSpPr>
          <p:cNvPr id="10" name="Shape 4"/>
          <p:cNvSpPr/>
          <p:nvPr/>
        </p:nvSpPr>
        <p:spPr>
          <a:xfrm>
            <a:off x="5257800" y="2093976"/>
            <a:ext cx="3429000" cy="676656"/>
          </a:xfrm>
          <a:prstGeom prst="roundRect">
            <a:avLst>
              <a:gd name="adj" fmla="val 9375"/>
            </a:avLst>
          </a:prstGeom>
          <a:solidFill>
            <a:srgbClr val="EDF5F5"/>
          </a:solidFill>
          <a:ln w="12700">
            <a:solidFill>
              <a:srgbClr val="EDF5F5"/>
            </a:solidFill>
            <a:prstDash val="solid"/>
          </a:ln>
        </p:spPr>
        <p:txBody>
          <a:bodyPr/>
          <a:lstStyle/>
          <a:p>
            <a:endParaRPr lang="sv-SE"/>
          </a:p>
        </p:txBody>
      </p:sp>
      <p:sp>
        <p:nvSpPr>
          <p:cNvPr id="11" name="Text 5"/>
          <p:cNvSpPr txBox="1"/>
          <p:nvPr/>
        </p:nvSpPr>
        <p:spPr>
          <a:xfrm>
            <a:off x="5367528" y="2093976"/>
            <a:ext cx="1005840" cy="676656"/>
          </a:xfrm>
          <a:prstGeom prst="rect">
            <a:avLst/>
          </a:prstGeom>
          <a:noFill/>
          <a:ln/>
        </p:spPr>
        <p:txBody>
          <a:bodyPr wrap="square" lIns="0" tIns="0" rIns="0" bIns="0" rtlCol="0" anchor="ctr"/>
          <a:lstStyle/>
          <a:p>
            <a:pPr marL="0" indent="0" algn="ctr">
              <a:buNone/>
            </a:pPr>
            <a:r>
              <a:rPr lang="en-US" sz="1800" b="1" dirty="0">
                <a:solidFill>
                  <a:srgbClr val="028090"/>
                </a:solidFill>
                <a:latin typeface="Cambria" pitchFamily="34" charset="0"/>
                <a:ea typeface="Cambria" pitchFamily="34" charset="-122"/>
                <a:cs typeface="Cambria" pitchFamily="34" charset="-120"/>
              </a:rPr>
              <a:t>≈ 260 m</a:t>
            </a:r>
            <a:endParaRPr lang="en-US" sz="1800" dirty="0"/>
          </a:p>
        </p:txBody>
      </p:sp>
      <p:sp>
        <p:nvSpPr>
          <p:cNvPr id="12" name="Text 6"/>
          <p:cNvSpPr txBox="1"/>
          <p:nvPr/>
        </p:nvSpPr>
        <p:spPr>
          <a:xfrm>
            <a:off x="6446520" y="2167128"/>
            <a:ext cx="2148840" cy="237744"/>
          </a:xfrm>
          <a:prstGeom prst="rect">
            <a:avLst/>
          </a:prstGeom>
          <a:noFill/>
          <a:ln/>
        </p:spPr>
        <p:txBody>
          <a:bodyPr wrap="square" lIns="0" tIns="0" rIns="0" bIns="0" rtlCol="0" anchor="ctr"/>
          <a:lstStyle/>
          <a:p>
            <a:pPr marL="0" indent="0">
              <a:buNone/>
            </a:pPr>
            <a:r>
              <a:rPr lang="en-US" sz="1100" b="1" dirty="0">
                <a:solidFill>
                  <a:srgbClr val="16262B"/>
                </a:solidFill>
                <a:latin typeface="Calibri" pitchFamily="34" charset="0"/>
                <a:ea typeface="Calibri" pitchFamily="34" charset="-122"/>
                <a:cs typeface="Calibri" pitchFamily="34" charset="-120"/>
              </a:rPr>
              <a:t>of track, with one gentle curve</a:t>
            </a:r>
            <a:endParaRPr lang="en-US" sz="1100" dirty="0"/>
          </a:p>
        </p:txBody>
      </p:sp>
      <p:sp>
        <p:nvSpPr>
          <p:cNvPr id="13" name="Text 7"/>
          <p:cNvSpPr txBox="1"/>
          <p:nvPr/>
        </p:nvSpPr>
        <p:spPr>
          <a:xfrm>
            <a:off x="6446520" y="2404872"/>
            <a:ext cx="2148840" cy="310896"/>
          </a:xfrm>
          <a:prstGeom prst="rect">
            <a:avLst/>
          </a:prstGeom>
          <a:noFill/>
          <a:ln/>
        </p:spPr>
        <p:txBody>
          <a:bodyPr wrap="square" lIns="0" tIns="0" rIns="0" bIns="0" rtlCol="0" anchor="ctr"/>
          <a:lstStyle/>
          <a:p>
            <a:pPr marL="0" indent="0">
              <a:buNone/>
            </a:pPr>
            <a:r>
              <a:rPr lang="en-US" sz="900" dirty="0">
                <a:solidFill>
                  <a:srgbClr val="5F7178"/>
                </a:solidFill>
                <a:latin typeface="Calibri" pitchFamily="34" charset="0"/>
                <a:ea typeface="Calibri" pitchFamily="34" charset="-122"/>
                <a:cs typeface="Calibri" pitchFamily="34" charset="-120"/>
              </a:rPr>
              <a:t>straight for most of the scan, curving at the start</a:t>
            </a:r>
            <a:endParaRPr lang="en-US" sz="900" dirty="0"/>
          </a:p>
        </p:txBody>
      </p:sp>
      <p:sp>
        <p:nvSpPr>
          <p:cNvPr id="14" name="Shape 4"/>
          <p:cNvSpPr/>
          <p:nvPr/>
        </p:nvSpPr>
        <p:spPr>
          <a:xfrm>
            <a:off x="5257800" y="2862072"/>
            <a:ext cx="3429000" cy="676656"/>
          </a:xfrm>
          <a:prstGeom prst="roundRect">
            <a:avLst>
              <a:gd name="adj" fmla="val 9375"/>
            </a:avLst>
          </a:prstGeom>
          <a:solidFill>
            <a:srgbClr val="EDF5F5"/>
          </a:solidFill>
          <a:ln w="12700">
            <a:solidFill>
              <a:srgbClr val="EDF5F5"/>
            </a:solidFill>
            <a:prstDash val="solid"/>
          </a:ln>
        </p:spPr>
        <p:txBody>
          <a:bodyPr/>
          <a:lstStyle/>
          <a:p>
            <a:endParaRPr lang="sv-SE"/>
          </a:p>
        </p:txBody>
      </p:sp>
      <p:sp>
        <p:nvSpPr>
          <p:cNvPr id="15" name="Text 5"/>
          <p:cNvSpPr txBox="1"/>
          <p:nvPr/>
        </p:nvSpPr>
        <p:spPr>
          <a:xfrm>
            <a:off x="5367528" y="2862072"/>
            <a:ext cx="1005840" cy="676656"/>
          </a:xfrm>
          <a:prstGeom prst="rect">
            <a:avLst/>
          </a:prstGeom>
          <a:noFill/>
          <a:ln/>
        </p:spPr>
        <p:txBody>
          <a:bodyPr wrap="square" lIns="0" tIns="0" rIns="0" bIns="0" rtlCol="0" anchor="ctr"/>
          <a:lstStyle/>
          <a:p>
            <a:pPr marL="0" indent="0" algn="ctr">
              <a:buNone/>
            </a:pPr>
            <a:r>
              <a:rPr lang="en-US" sz="1800" b="1" dirty="0">
                <a:solidFill>
                  <a:srgbClr val="028090"/>
                </a:solidFill>
                <a:latin typeface="Cambria" pitchFamily="34" charset="0"/>
                <a:ea typeface="Cambria" pitchFamily="34" charset="-122"/>
                <a:cs typeface="Cambria" pitchFamily="34" charset="-120"/>
              </a:rPr>
              <a:t>2</a:t>
            </a:r>
            <a:endParaRPr lang="en-US" sz="1800" dirty="0"/>
          </a:p>
        </p:txBody>
      </p:sp>
      <p:sp>
        <p:nvSpPr>
          <p:cNvPr id="16" name="Text 6"/>
          <p:cNvSpPr txBox="1"/>
          <p:nvPr/>
        </p:nvSpPr>
        <p:spPr>
          <a:xfrm>
            <a:off x="6446520" y="2935224"/>
            <a:ext cx="2148840" cy="237744"/>
          </a:xfrm>
          <a:prstGeom prst="rect">
            <a:avLst/>
          </a:prstGeom>
          <a:noFill/>
          <a:ln/>
        </p:spPr>
        <p:txBody>
          <a:bodyPr wrap="square" lIns="0" tIns="0" rIns="0" bIns="0" rtlCol="0" anchor="ctr"/>
          <a:lstStyle/>
          <a:p>
            <a:pPr marL="0" indent="0">
              <a:buNone/>
            </a:pPr>
            <a:r>
              <a:rPr lang="en-US" sz="1100" b="1" dirty="0">
                <a:solidFill>
                  <a:srgbClr val="16262B"/>
                </a:solidFill>
                <a:latin typeface="Calibri" pitchFamily="34" charset="0"/>
                <a:ea typeface="Calibri" pitchFamily="34" charset="-122"/>
                <a:cs typeface="Calibri" pitchFamily="34" charset="-120"/>
              </a:rPr>
              <a:t>tracks in the scan</a:t>
            </a:r>
            <a:endParaRPr lang="en-US" sz="1100" dirty="0"/>
          </a:p>
        </p:txBody>
      </p:sp>
      <p:sp>
        <p:nvSpPr>
          <p:cNvPr id="17" name="Text 7"/>
          <p:cNvSpPr txBox="1"/>
          <p:nvPr/>
        </p:nvSpPr>
        <p:spPr>
          <a:xfrm>
            <a:off x="6446520" y="3172968"/>
            <a:ext cx="2148840" cy="310896"/>
          </a:xfrm>
          <a:prstGeom prst="rect">
            <a:avLst/>
          </a:prstGeom>
          <a:noFill/>
          <a:ln/>
        </p:spPr>
        <p:txBody>
          <a:bodyPr wrap="square" lIns="0" tIns="0" rIns="0" bIns="0" rtlCol="0" anchor="ctr"/>
          <a:lstStyle/>
          <a:p>
            <a:pPr marL="0" indent="0">
              <a:buNone/>
            </a:pPr>
            <a:r>
              <a:rPr lang="en-US" sz="900" dirty="0">
                <a:solidFill>
                  <a:srgbClr val="5F7178"/>
                </a:solidFill>
                <a:latin typeface="Calibri" pitchFamily="34" charset="0"/>
                <a:ea typeface="Calibri" pitchFamily="34" charset="-122"/>
                <a:cs typeface="Calibri" pitchFamily="34" charset="-120"/>
              </a:rPr>
              <a:t>the LiDAR rode the left one, so we work on that track</a:t>
            </a:r>
            <a:endParaRPr lang="en-US" sz="900" dirty="0"/>
          </a:p>
        </p:txBody>
      </p:sp>
      <p:sp>
        <p:nvSpPr>
          <p:cNvPr id="18" name="Shape 4"/>
          <p:cNvSpPr/>
          <p:nvPr/>
        </p:nvSpPr>
        <p:spPr>
          <a:xfrm>
            <a:off x="5257800" y="3630168"/>
            <a:ext cx="3429000" cy="676656"/>
          </a:xfrm>
          <a:prstGeom prst="roundRect">
            <a:avLst>
              <a:gd name="adj" fmla="val 9375"/>
            </a:avLst>
          </a:prstGeom>
          <a:solidFill>
            <a:srgbClr val="EDF5F5"/>
          </a:solidFill>
          <a:ln w="12700">
            <a:solidFill>
              <a:srgbClr val="EDF5F5"/>
            </a:solidFill>
            <a:prstDash val="solid"/>
          </a:ln>
        </p:spPr>
        <p:txBody>
          <a:bodyPr/>
          <a:lstStyle/>
          <a:p>
            <a:endParaRPr lang="sv-SE"/>
          </a:p>
        </p:txBody>
      </p:sp>
      <p:sp>
        <p:nvSpPr>
          <p:cNvPr id="19" name="Text 5"/>
          <p:cNvSpPr txBox="1"/>
          <p:nvPr/>
        </p:nvSpPr>
        <p:spPr>
          <a:xfrm>
            <a:off x="5367528" y="3630168"/>
            <a:ext cx="1005840" cy="676656"/>
          </a:xfrm>
          <a:prstGeom prst="rect">
            <a:avLst/>
          </a:prstGeom>
          <a:noFill/>
          <a:ln/>
        </p:spPr>
        <p:txBody>
          <a:bodyPr wrap="square" lIns="0" tIns="0" rIns="0" bIns="0" rtlCol="0" anchor="ctr"/>
          <a:lstStyle/>
          <a:p>
            <a:pPr marL="0" indent="0" algn="ctr">
              <a:buNone/>
            </a:pPr>
            <a:r>
              <a:rPr lang="en-US" sz="1800" b="1" dirty="0">
                <a:solidFill>
                  <a:srgbClr val="028090"/>
                </a:solidFill>
                <a:latin typeface="Cambria" pitchFamily="34" charset="0"/>
                <a:ea typeface="Cambria" pitchFamily="34" charset="-122"/>
                <a:cs typeface="Cambria" pitchFamily="34" charset="-120"/>
              </a:rPr>
              <a:t>0</a:t>
            </a:r>
            <a:endParaRPr lang="en-US" sz="1800" dirty="0"/>
          </a:p>
        </p:txBody>
      </p:sp>
      <p:sp>
        <p:nvSpPr>
          <p:cNvPr id="20" name="Text 6"/>
          <p:cNvSpPr txBox="1"/>
          <p:nvPr/>
        </p:nvSpPr>
        <p:spPr>
          <a:xfrm>
            <a:off x="6446520" y="3703320"/>
            <a:ext cx="2148840" cy="237744"/>
          </a:xfrm>
          <a:prstGeom prst="rect">
            <a:avLst/>
          </a:prstGeom>
          <a:noFill/>
          <a:ln/>
        </p:spPr>
        <p:txBody>
          <a:bodyPr wrap="square" lIns="0" tIns="0" rIns="0" bIns="0" rtlCol="0" anchor="ctr"/>
          <a:lstStyle/>
          <a:p>
            <a:pPr marL="0" indent="0">
              <a:buNone/>
            </a:pPr>
            <a:r>
              <a:rPr lang="en-US" sz="1100" b="1" dirty="0">
                <a:solidFill>
                  <a:srgbClr val="16262B"/>
                </a:solidFill>
                <a:latin typeface="Calibri" pitchFamily="34" charset="0"/>
                <a:ea typeface="Calibri" pitchFamily="34" charset="-122"/>
                <a:cs typeface="Calibri" pitchFamily="34" charset="-120"/>
              </a:rPr>
              <a:t>timestamps or coordinate system</a:t>
            </a:r>
            <a:endParaRPr lang="en-US" sz="1100" dirty="0"/>
          </a:p>
        </p:txBody>
      </p:sp>
      <p:sp>
        <p:nvSpPr>
          <p:cNvPr id="21" name="Text 7"/>
          <p:cNvSpPr txBox="1"/>
          <p:nvPr/>
        </p:nvSpPr>
        <p:spPr>
          <a:xfrm>
            <a:off x="6446520" y="3941063"/>
            <a:ext cx="2148840" cy="310896"/>
          </a:xfrm>
          <a:prstGeom prst="rect">
            <a:avLst/>
          </a:prstGeom>
          <a:noFill/>
          <a:ln/>
        </p:spPr>
        <p:txBody>
          <a:bodyPr wrap="square" lIns="0" tIns="0" rIns="0" bIns="0" rtlCol="0" anchor="ctr"/>
          <a:lstStyle/>
          <a:p>
            <a:pPr marL="0" indent="0">
              <a:buNone/>
            </a:pPr>
            <a:r>
              <a:rPr lang="en-US" sz="900" dirty="0">
                <a:solidFill>
                  <a:srgbClr val="5F7178"/>
                </a:solidFill>
                <a:latin typeface="Calibri" pitchFamily="34" charset="0"/>
                <a:ea typeface="Calibri" pitchFamily="34" charset="-122"/>
                <a:cs typeface="Calibri" pitchFamily="34" charset="-120"/>
              </a:rPr>
              <a:t>only intensity is stored besides X, Y and Z</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ctr"/>
          <a:lstStyle/>
          <a:p>
            <a:pPr marL="0" indent="0">
              <a:buNone/>
            </a:pPr>
            <a:r>
              <a:rPr lang="en-US" sz="1100" b="1" kern="0" spc="200" dirty="0">
                <a:solidFill>
                  <a:srgbClr val="028090"/>
                </a:solidFill>
                <a:latin typeface="Calibri" pitchFamily="34" charset="0"/>
                <a:ea typeface="Calibri" pitchFamily="34" charset="-122"/>
                <a:cs typeface="Calibri" pitchFamily="34" charset="-120"/>
              </a:rPr>
              <a:t>DIRECTION</a:t>
            </a:r>
            <a:endParaRPr lang="en-US" sz="11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marL="0" indent="0">
              <a:buNone/>
            </a:pPr>
            <a:r>
              <a:rPr lang="en-US" sz="2700" b="1" dirty="0">
                <a:solidFill>
                  <a:srgbClr val="16262B"/>
                </a:solidFill>
                <a:latin typeface="Cambria" pitchFamily="34" charset="0"/>
                <a:ea typeface="Cambria" pitchFamily="34" charset="-122"/>
                <a:cs typeface="Cambria" pitchFamily="34" charset="-120"/>
              </a:rPr>
              <a:t>From fault types to change over time</a:t>
            </a:r>
            <a:endParaRPr lang="en-US" sz="2700" dirty="0"/>
          </a:p>
        </p:txBody>
      </p:sp>
      <p:sp>
        <p:nvSpPr>
          <p:cNvPr id="4" name="Shape 4"/>
          <p:cNvSpPr/>
          <p:nvPr/>
        </p:nvSpPr>
        <p:spPr>
          <a:xfrm>
            <a:off x="457200" y="1325880"/>
            <a:ext cx="3611880" cy="1691640"/>
          </a:xfrm>
          <a:prstGeom prst="roundRect">
            <a:avLst>
              <a:gd name="adj" fmla="val 9375"/>
            </a:avLst>
          </a:prstGeom>
          <a:solidFill>
            <a:srgbClr val="EDF5F5"/>
          </a:solidFill>
          <a:ln w="12700">
            <a:solidFill>
              <a:srgbClr val="EDF5F5"/>
            </a:solidFill>
            <a:prstDash val="solid"/>
          </a:ln>
        </p:spPr>
        <p:txBody>
          <a:bodyPr/>
          <a:lstStyle/>
          <a:p>
            <a:endParaRPr lang="sv-SE"/>
          </a:p>
        </p:txBody>
      </p:sp>
      <p:sp>
        <p:nvSpPr>
          <p:cNvPr id="5" name="TextBox 4"/>
          <p:cNvSpPr txBox="1"/>
          <p:nvPr/>
        </p:nvSpPr>
        <p:spPr>
          <a:xfrm>
            <a:off x="685800" y="1481328"/>
            <a:ext cx="3200400" cy="228600"/>
          </a:xfrm>
          <a:prstGeom prst="rect">
            <a:avLst/>
          </a:prstGeom>
          <a:noFill/>
        </p:spPr>
        <p:txBody>
          <a:bodyPr wrap="square" lIns="0" tIns="0" rIns="0" bIns="0" anchor="t">
            <a:spAutoFit/>
          </a:bodyPr>
          <a:lstStyle/>
          <a:p>
            <a:r>
              <a:rPr sz="1100" b="1" spc="200">
                <a:solidFill>
                  <a:srgbClr val="5F7178"/>
                </a:solidFill>
                <a:latin typeface="Calibri"/>
              </a:rPr>
              <a:t>BEFORE</a:t>
            </a:r>
          </a:p>
        </p:txBody>
      </p:sp>
      <p:sp>
        <p:nvSpPr>
          <p:cNvPr id="6" name="TextBox 5"/>
          <p:cNvSpPr txBox="1"/>
          <p:nvPr/>
        </p:nvSpPr>
        <p:spPr>
          <a:xfrm>
            <a:off x="685800" y="1755648"/>
            <a:ext cx="3200400" cy="274320"/>
          </a:xfrm>
          <a:prstGeom prst="rect">
            <a:avLst/>
          </a:prstGeom>
          <a:noFill/>
        </p:spPr>
        <p:txBody>
          <a:bodyPr wrap="square" lIns="0" tIns="0" rIns="0" bIns="0" anchor="t">
            <a:spAutoFit/>
          </a:bodyPr>
          <a:lstStyle/>
          <a:p>
            <a:r>
              <a:rPr sz="1500" b="1">
                <a:solidFill>
                  <a:srgbClr val="5F7178"/>
                </a:solidFill>
                <a:latin typeface="Calibri"/>
              </a:rPr>
              <a:t>Link vibration events to geometry</a:t>
            </a:r>
          </a:p>
        </p:txBody>
      </p:sp>
      <p:sp>
        <p:nvSpPr>
          <p:cNvPr id="7" name="TextBox 6"/>
          <p:cNvSpPr txBox="1"/>
          <p:nvPr/>
        </p:nvSpPr>
        <p:spPr>
          <a:xfrm>
            <a:off x="685800" y="2157984"/>
            <a:ext cx="3200400" cy="777240"/>
          </a:xfrm>
          <a:prstGeom prst="rect">
            <a:avLst/>
          </a:prstGeom>
          <a:noFill/>
        </p:spPr>
        <p:txBody>
          <a:bodyPr wrap="square" lIns="0" tIns="0" rIns="0" bIns="0" anchor="t">
            <a:spAutoFit/>
          </a:bodyPr>
          <a:lstStyle/>
          <a:p>
            <a:r>
              <a:rPr sz="1150" b="0">
                <a:solidFill>
                  <a:srgbClr val="5F7178"/>
                </a:solidFill>
                <a:latin typeface="Calibri"/>
              </a:rPr>
              <a:t>Cluster the abnormal vibration events by their geometry, then predict the fault type from vibration alone.</a:t>
            </a:r>
          </a:p>
        </p:txBody>
      </p:sp>
      <p:sp>
        <p:nvSpPr>
          <p:cNvPr id="8" name="Right Arrow 7"/>
          <p:cNvSpPr/>
          <p:nvPr/>
        </p:nvSpPr>
        <p:spPr>
          <a:xfrm>
            <a:off x="4206240" y="1965960"/>
            <a:ext cx="731520" cy="457200"/>
          </a:xfrm>
          <a:prstGeom prst="rightArrow">
            <a:avLst/>
          </a:prstGeom>
          <a:solidFill>
            <a:srgbClr val="028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Shape 16"/>
          <p:cNvSpPr/>
          <p:nvPr/>
        </p:nvSpPr>
        <p:spPr>
          <a:xfrm>
            <a:off x="5074920" y="1325880"/>
            <a:ext cx="3611880" cy="1691640"/>
          </a:xfrm>
          <a:prstGeom prst="roundRect">
            <a:avLst>
              <a:gd name="adj" fmla="val 9091"/>
            </a:avLst>
          </a:prstGeom>
          <a:solidFill>
            <a:srgbClr val="0B2027"/>
          </a:solidFill>
          <a:ln w="12700">
            <a:solidFill>
              <a:srgbClr val="0B2027"/>
            </a:solidFill>
            <a:prstDash val="solid"/>
          </a:ln>
        </p:spPr>
        <p:txBody>
          <a:bodyPr/>
          <a:lstStyle/>
          <a:p>
            <a:endParaRPr lang="sv-SE"/>
          </a:p>
        </p:txBody>
      </p:sp>
      <p:sp>
        <p:nvSpPr>
          <p:cNvPr id="10" name="TextBox 9"/>
          <p:cNvSpPr txBox="1"/>
          <p:nvPr/>
        </p:nvSpPr>
        <p:spPr>
          <a:xfrm>
            <a:off x="5303520" y="1481328"/>
            <a:ext cx="3200400" cy="228600"/>
          </a:xfrm>
          <a:prstGeom prst="rect">
            <a:avLst/>
          </a:prstGeom>
          <a:noFill/>
        </p:spPr>
        <p:txBody>
          <a:bodyPr wrap="square" lIns="0" tIns="0" rIns="0" bIns="0" anchor="t">
            <a:spAutoFit/>
          </a:bodyPr>
          <a:lstStyle/>
          <a:p>
            <a:r>
              <a:rPr sz="1100" b="1" spc="200">
                <a:solidFill>
                  <a:srgbClr val="00A896"/>
                </a:solidFill>
                <a:latin typeface="Calibri"/>
              </a:rPr>
              <a:t>NOW</a:t>
            </a:r>
          </a:p>
        </p:txBody>
      </p:sp>
      <p:sp>
        <p:nvSpPr>
          <p:cNvPr id="11" name="TextBox 10"/>
          <p:cNvSpPr txBox="1"/>
          <p:nvPr/>
        </p:nvSpPr>
        <p:spPr>
          <a:xfrm>
            <a:off x="5303520" y="1755648"/>
            <a:ext cx="3200400" cy="274320"/>
          </a:xfrm>
          <a:prstGeom prst="rect">
            <a:avLst/>
          </a:prstGeom>
          <a:noFill/>
        </p:spPr>
        <p:txBody>
          <a:bodyPr wrap="square" lIns="0" tIns="0" rIns="0" bIns="0" anchor="t">
            <a:spAutoFit/>
          </a:bodyPr>
          <a:lstStyle/>
          <a:p>
            <a:r>
              <a:rPr sz="1500" b="1">
                <a:solidFill>
                  <a:srgbClr val="FFFFFF"/>
                </a:solidFill>
                <a:latin typeface="Calibri"/>
              </a:rPr>
              <a:t>Follow the track over time</a:t>
            </a:r>
          </a:p>
        </p:txBody>
      </p:sp>
      <p:sp>
        <p:nvSpPr>
          <p:cNvPr id="12" name="TextBox 11"/>
          <p:cNvSpPr txBox="1"/>
          <p:nvPr/>
        </p:nvSpPr>
        <p:spPr>
          <a:xfrm>
            <a:off x="5303520" y="2157984"/>
            <a:ext cx="3200400" cy="777240"/>
          </a:xfrm>
          <a:prstGeom prst="rect">
            <a:avLst/>
          </a:prstGeom>
          <a:noFill/>
        </p:spPr>
        <p:txBody>
          <a:bodyPr wrap="square" lIns="0" tIns="0" rIns="0" bIns="0" anchor="t">
            <a:spAutoFit/>
          </a:bodyPr>
          <a:lstStyle/>
          <a:p>
            <a:r>
              <a:rPr sz="1150" b="0">
                <a:solidFill>
                  <a:srgbClr val="C7D8DB"/>
                </a:solidFill>
                <a:latin typeface="Calibri"/>
              </a:rPr>
              <a:t>Represent every run as a 3D curve and compare runs of the same track, to see where faults appear and how they grow.</a:t>
            </a:r>
          </a:p>
        </p:txBody>
      </p:sp>
      <p:sp>
        <p:nvSpPr>
          <p:cNvPr id="13" name="Shape 4"/>
          <p:cNvSpPr/>
          <p:nvPr/>
        </p:nvSpPr>
        <p:spPr>
          <a:xfrm>
            <a:off x="457200" y="3200400"/>
            <a:ext cx="8229600" cy="777240"/>
          </a:xfrm>
          <a:prstGeom prst="roundRect">
            <a:avLst>
              <a:gd name="adj" fmla="val 9375"/>
            </a:avLst>
          </a:prstGeom>
          <a:solidFill>
            <a:srgbClr val="EDF5F5"/>
          </a:solidFill>
          <a:ln w="12700">
            <a:solidFill>
              <a:srgbClr val="EDF5F5"/>
            </a:solidFill>
            <a:prstDash val="solid"/>
          </a:ln>
        </p:spPr>
        <p:txBody>
          <a:bodyPr/>
          <a:lstStyle/>
          <a:p>
            <a:endParaRPr lang="sv-SE"/>
          </a:p>
        </p:txBody>
      </p:sp>
      <p:sp>
        <p:nvSpPr>
          <p:cNvPr id="14" name="TextBox 13"/>
          <p:cNvSpPr txBox="1"/>
          <p:nvPr/>
        </p:nvSpPr>
        <p:spPr>
          <a:xfrm>
            <a:off x="731520" y="3200400"/>
            <a:ext cx="7680960" cy="777240"/>
          </a:xfrm>
          <a:prstGeom prst="rect">
            <a:avLst/>
          </a:prstGeom>
          <a:noFill/>
        </p:spPr>
        <p:txBody>
          <a:bodyPr wrap="square" lIns="0" tIns="0" rIns="0" bIns="0" anchor="ctr">
            <a:spAutoFit/>
          </a:bodyPr>
          <a:lstStyle/>
          <a:p>
            <a:r>
              <a:rPr sz="1200" b="1">
                <a:solidFill>
                  <a:srgbClr val="028090"/>
                </a:solidFill>
                <a:latin typeface="Calibri"/>
              </a:rPr>
              <a:t>Why the change.  </a:t>
            </a:r>
            <a:r>
              <a:rPr sz="1200" b="0">
                <a:solidFill>
                  <a:srgbClr val="16262B"/>
                </a:solidFill>
                <a:latin typeface="Calibri"/>
              </a:rPr>
              <a:t>The vibration data that would link events to the geometry is not available, so the first idea cannot be tested. A point cloud gives every point an exact location, so runs of the same track can be compared directly.</a:t>
            </a:r>
          </a:p>
        </p:txBody>
      </p:sp>
      <p:sp>
        <p:nvSpPr>
          <p:cNvPr id="15" name="Shape 16"/>
          <p:cNvSpPr/>
          <p:nvPr/>
        </p:nvSpPr>
        <p:spPr>
          <a:xfrm>
            <a:off x="457200" y="4160520"/>
            <a:ext cx="8229600" cy="457200"/>
          </a:xfrm>
          <a:prstGeom prst="roundRect">
            <a:avLst>
              <a:gd name="adj" fmla="val 9091"/>
            </a:avLst>
          </a:prstGeom>
          <a:solidFill>
            <a:srgbClr val="0B2027"/>
          </a:solidFill>
          <a:ln w="12700">
            <a:solidFill>
              <a:srgbClr val="0B2027"/>
            </a:solidFill>
            <a:prstDash val="solid"/>
          </a:ln>
        </p:spPr>
        <p:txBody>
          <a:bodyPr/>
          <a:lstStyle/>
          <a:p>
            <a:endParaRPr lang="sv-SE"/>
          </a:p>
        </p:txBody>
      </p:sp>
      <p:sp>
        <p:nvSpPr>
          <p:cNvPr id="16" name="Text 17"/>
          <p:cNvSpPr txBox="1"/>
          <p:nvPr/>
        </p:nvSpPr>
        <p:spPr>
          <a:xfrm>
            <a:off x="731520" y="4160520"/>
            <a:ext cx="7680960" cy="45720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One run is a snapshot. Several runs show a trend.</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ctr"/>
          <a:lstStyle/>
          <a:p>
            <a:pPr marL="0" indent="0">
              <a:buNone/>
            </a:pPr>
            <a:r>
              <a:rPr lang="en-US" sz="1100" b="1" kern="0" spc="200" dirty="0">
                <a:solidFill>
                  <a:srgbClr val="028090"/>
                </a:solidFill>
                <a:latin typeface="Calibri" pitchFamily="34" charset="0"/>
                <a:ea typeface="Calibri" pitchFamily="34" charset="-122"/>
                <a:cs typeface="Calibri" pitchFamily="34" charset="-120"/>
              </a:rPr>
              <a:t>REPRESENTATION</a:t>
            </a:r>
            <a:endParaRPr lang="en-US" sz="11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marL="0" indent="0">
              <a:buNone/>
            </a:pPr>
            <a:r>
              <a:rPr lang="en-US" sz="2700" b="1" dirty="0">
                <a:solidFill>
                  <a:srgbClr val="16262B"/>
                </a:solidFill>
                <a:latin typeface="Cambria" pitchFamily="34" charset="0"/>
                <a:ea typeface="Cambria" pitchFamily="34" charset="-122"/>
                <a:cs typeface="Cambria" pitchFamily="34" charset="-120"/>
              </a:rPr>
              <a:t>One run becomes one 3D curve</a:t>
            </a:r>
            <a:endParaRPr lang="en-US" sz="2700" dirty="0"/>
          </a:p>
        </p:txBody>
      </p:sp>
      <p:sp>
        <p:nvSpPr>
          <p:cNvPr id="4" name="Shape 2"/>
          <p:cNvSpPr/>
          <p:nvPr/>
        </p:nvSpPr>
        <p:spPr>
          <a:xfrm>
            <a:off x="457200" y="1325880"/>
            <a:ext cx="384048" cy="384048"/>
          </a:xfrm>
          <a:prstGeom prst="ellipse">
            <a:avLst/>
          </a:prstGeom>
          <a:solidFill>
            <a:srgbClr val="028090"/>
          </a:solidFill>
          <a:ln w="12700">
            <a:solidFill>
              <a:srgbClr val="028090"/>
            </a:solidFill>
            <a:prstDash val="solid"/>
          </a:ln>
        </p:spPr>
        <p:txBody>
          <a:bodyPr/>
          <a:lstStyle/>
          <a:p>
            <a:endParaRPr lang="sv-SE"/>
          </a:p>
        </p:txBody>
      </p:sp>
      <p:sp>
        <p:nvSpPr>
          <p:cNvPr id="5" name="Text 3"/>
          <p:cNvSpPr txBox="1"/>
          <p:nvPr/>
        </p:nvSpPr>
        <p:spPr>
          <a:xfrm>
            <a:off x="457200" y="132588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6" name="Text 4"/>
          <p:cNvSpPr txBox="1"/>
          <p:nvPr/>
        </p:nvSpPr>
        <p:spPr>
          <a:xfrm>
            <a:off x="1005840" y="1316736"/>
            <a:ext cx="1463040" cy="274320"/>
          </a:xfrm>
          <a:prstGeom prst="rect">
            <a:avLst/>
          </a:prstGeom>
          <a:noFill/>
          <a:ln/>
        </p:spPr>
        <p:txBody>
          <a:bodyPr wrap="square" lIns="0" tIns="0" rIns="0" bIns="0" rtlCol="0" anchor="ctr"/>
          <a:lstStyle/>
          <a:p>
            <a:pPr marL="0" indent="0">
              <a:buNone/>
            </a:pPr>
            <a:r>
              <a:rPr lang="en-US" sz="1400" b="1" dirty="0">
                <a:solidFill>
                  <a:srgbClr val="16262B"/>
                </a:solidFill>
                <a:latin typeface="Calibri" pitchFamily="34" charset="0"/>
                <a:ea typeface="Calibri" pitchFamily="34" charset="-122"/>
                <a:cs typeface="Calibri" pitchFamily="34" charset="-120"/>
              </a:rPr>
              <a:t>Reference</a:t>
            </a:r>
            <a:endParaRPr lang="en-US" sz="1400" dirty="0"/>
          </a:p>
        </p:txBody>
      </p:sp>
      <p:sp>
        <p:nvSpPr>
          <p:cNvPr id="7" name="Text 5"/>
          <p:cNvSpPr txBox="1"/>
          <p:nvPr/>
        </p:nvSpPr>
        <p:spPr>
          <a:xfrm>
            <a:off x="2514600" y="1307592"/>
            <a:ext cx="2148840" cy="420624"/>
          </a:xfrm>
          <a:prstGeom prst="rect">
            <a:avLst/>
          </a:prstGeom>
          <a:noFill/>
          <a:ln/>
        </p:spPr>
        <p:txBody>
          <a:bodyPr wrap="square" lIns="0" tIns="0" rIns="0" bIns="0" rtlCol="0" anchor="ctr"/>
          <a:lstStyle/>
          <a:p>
            <a:pPr marL="0" indent="0">
              <a:buNone/>
            </a:pPr>
            <a:r>
              <a:rPr lang="en-US" sz="1100" dirty="0">
                <a:solidFill>
                  <a:srgbClr val="5F7178"/>
                </a:solidFill>
                <a:latin typeface="Calibri" pitchFamily="34" charset="0"/>
                <a:ea typeface="Calibri" pitchFamily="34" charset="-122"/>
                <a:cs typeface="Calibri" pitchFamily="34" charset="-120"/>
              </a:rPr>
              <a:t>one track centreline from run 1, used for every run</a:t>
            </a:r>
            <a:endParaRPr lang="en-US" sz="1100" dirty="0"/>
          </a:p>
        </p:txBody>
      </p:sp>
      <p:sp>
        <p:nvSpPr>
          <p:cNvPr id="8" name="Shape 2"/>
          <p:cNvSpPr/>
          <p:nvPr/>
        </p:nvSpPr>
        <p:spPr>
          <a:xfrm>
            <a:off x="457200" y="1929384"/>
            <a:ext cx="384048" cy="384048"/>
          </a:xfrm>
          <a:prstGeom prst="ellipse">
            <a:avLst/>
          </a:prstGeom>
          <a:solidFill>
            <a:srgbClr val="028090"/>
          </a:solidFill>
          <a:ln w="12700">
            <a:solidFill>
              <a:srgbClr val="028090"/>
            </a:solidFill>
            <a:prstDash val="solid"/>
          </a:ln>
        </p:spPr>
        <p:txBody>
          <a:bodyPr/>
          <a:lstStyle/>
          <a:p>
            <a:endParaRPr lang="sv-SE"/>
          </a:p>
        </p:txBody>
      </p:sp>
      <p:sp>
        <p:nvSpPr>
          <p:cNvPr id="9" name="Text 3"/>
          <p:cNvSpPr txBox="1"/>
          <p:nvPr/>
        </p:nvSpPr>
        <p:spPr>
          <a:xfrm>
            <a:off x="457200" y="1929384"/>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4"/>
          <p:cNvSpPr txBox="1"/>
          <p:nvPr/>
        </p:nvSpPr>
        <p:spPr>
          <a:xfrm>
            <a:off x="1005840" y="1920240"/>
            <a:ext cx="1463040" cy="274320"/>
          </a:xfrm>
          <a:prstGeom prst="rect">
            <a:avLst/>
          </a:prstGeom>
          <a:noFill/>
          <a:ln/>
        </p:spPr>
        <p:txBody>
          <a:bodyPr wrap="square" lIns="0" tIns="0" rIns="0" bIns="0" rtlCol="0" anchor="ctr"/>
          <a:lstStyle/>
          <a:p>
            <a:pPr marL="0" indent="0">
              <a:buNone/>
            </a:pPr>
            <a:r>
              <a:rPr lang="en-US" sz="1400" b="1" dirty="0">
                <a:solidFill>
                  <a:srgbClr val="16262B"/>
                </a:solidFill>
                <a:latin typeface="Calibri" pitchFamily="34" charset="0"/>
                <a:ea typeface="Calibri" pitchFamily="34" charset="-122"/>
                <a:cs typeface="Calibri" pitchFamily="34" charset="-120"/>
              </a:rPr>
              <a:t>Position</a:t>
            </a:r>
            <a:endParaRPr lang="en-US" sz="1400" dirty="0"/>
          </a:p>
        </p:txBody>
      </p:sp>
      <p:sp>
        <p:nvSpPr>
          <p:cNvPr id="11" name="Text 5"/>
          <p:cNvSpPr txBox="1"/>
          <p:nvPr/>
        </p:nvSpPr>
        <p:spPr>
          <a:xfrm>
            <a:off x="2514600" y="1911095"/>
            <a:ext cx="2148840" cy="420624"/>
          </a:xfrm>
          <a:prstGeom prst="rect">
            <a:avLst/>
          </a:prstGeom>
          <a:noFill/>
          <a:ln/>
        </p:spPr>
        <p:txBody>
          <a:bodyPr wrap="square" lIns="0" tIns="0" rIns="0" bIns="0" rtlCol="0" anchor="ctr"/>
          <a:lstStyle/>
          <a:p>
            <a:pPr marL="0" indent="0">
              <a:buNone/>
            </a:pPr>
            <a:r>
              <a:rPr lang="en-US" sz="1100" dirty="0">
                <a:solidFill>
                  <a:srgbClr val="5F7178"/>
                </a:solidFill>
                <a:latin typeface="Calibri" pitchFamily="34" charset="0"/>
                <a:ea typeface="Calibri" pitchFamily="34" charset="-122"/>
                <a:cs typeface="Calibri" pitchFamily="34" charset="-120"/>
              </a:rPr>
              <a:t>chainage s, sideways offset d and the LiDAR height Z</a:t>
            </a:r>
            <a:endParaRPr lang="en-US" sz="1100" dirty="0"/>
          </a:p>
        </p:txBody>
      </p:sp>
      <p:sp>
        <p:nvSpPr>
          <p:cNvPr id="12" name="Shape 2"/>
          <p:cNvSpPr/>
          <p:nvPr/>
        </p:nvSpPr>
        <p:spPr>
          <a:xfrm>
            <a:off x="457200" y="2532888"/>
            <a:ext cx="384048" cy="384048"/>
          </a:xfrm>
          <a:prstGeom prst="ellipse">
            <a:avLst/>
          </a:prstGeom>
          <a:solidFill>
            <a:srgbClr val="028090"/>
          </a:solidFill>
          <a:ln w="12700">
            <a:solidFill>
              <a:srgbClr val="028090"/>
            </a:solidFill>
            <a:prstDash val="solid"/>
          </a:ln>
        </p:spPr>
        <p:txBody>
          <a:bodyPr/>
          <a:lstStyle/>
          <a:p>
            <a:endParaRPr lang="sv-SE"/>
          </a:p>
        </p:txBody>
      </p:sp>
      <p:sp>
        <p:nvSpPr>
          <p:cNvPr id="13" name="Text 3"/>
          <p:cNvSpPr txBox="1"/>
          <p:nvPr/>
        </p:nvSpPr>
        <p:spPr>
          <a:xfrm>
            <a:off x="457200" y="2532888"/>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4" name="Text 4"/>
          <p:cNvSpPr txBox="1"/>
          <p:nvPr/>
        </p:nvSpPr>
        <p:spPr>
          <a:xfrm>
            <a:off x="1005840" y="2523744"/>
            <a:ext cx="1463040" cy="274320"/>
          </a:xfrm>
          <a:prstGeom prst="rect">
            <a:avLst/>
          </a:prstGeom>
          <a:noFill/>
          <a:ln/>
        </p:spPr>
        <p:txBody>
          <a:bodyPr wrap="square" lIns="0" tIns="0" rIns="0" bIns="0" rtlCol="0" anchor="ctr"/>
          <a:lstStyle/>
          <a:p>
            <a:pPr marL="0" indent="0">
              <a:buNone/>
            </a:pPr>
            <a:r>
              <a:rPr lang="en-US" sz="1400" b="1" dirty="0">
                <a:solidFill>
                  <a:srgbClr val="16262B"/>
                </a:solidFill>
                <a:latin typeface="Calibri" pitchFamily="34" charset="0"/>
                <a:ea typeface="Calibri" pitchFamily="34" charset="-122"/>
                <a:cs typeface="Calibri" pitchFamily="34" charset="-120"/>
              </a:rPr>
              <a:t>Control points</a:t>
            </a:r>
            <a:endParaRPr lang="en-US" sz="1400" dirty="0"/>
          </a:p>
        </p:txBody>
      </p:sp>
      <p:sp>
        <p:nvSpPr>
          <p:cNvPr id="15" name="Text 5"/>
          <p:cNvSpPr txBox="1"/>
          <p:nvPr/>
        </p:nvSpPr>
        <p:spPr>
          <a:xfrm>
            <a:off x="2514600" y="2514600"/>
            <a:ext cx="2148840" cy="420624"/>
          </a:xfrm>
          <a:prstGeom prst="rect">
            <a:avLst/>
          </a:prstGeom>
          <a:noFill/>
          <a:ln/>
        </p:spPr>
        <p:txBody>
          <a:bodyPr wrap="square" lIns="0" tIns="0" rIns="0" bIns="0" rtlCol="0" anchor="ctr"/>
          <a:lstStyle/>
          <a:p>
            <a:pPr marL="0" indent="0">
              <a:buNone/>
            </a:pPr>
            <a:r>
              <a:rPr lang="en-US" sz="1100" dirty="0">
                <a:solidFill>
                  <a:srgbClr val="5F7178"/>
                </a:solidFill>
                <a:latin typeface="Calibri" pitchFamily="34" charset="0"/>
                <a:ea typeface="Calibri" pitchFamily="34" charset="-122"/>
                <a:cs typeface="Calibri" pitchFamily="34" charset="-120"/>
              </a:rPr>
              <a:t>1 m averages on a fixed grid, so runs line up</a:t>
            </a:r>
            <a:endParaRPr lang="en-US" sz="1100" dirty="0"/>
          </a:p>
        </p:txBody>
      </p:sp>
      <p:sp>
        <p:nvSpPr>
          <p:cNvPr id="16" name="Shape 2"/>
          <p:cNvSpPr/>
          <p:nvPr/>
        </p:nvSpPr>
        <p:spPr>
          <a:xfrm>
            <a:off x="457200" y="3136391"/>
            <a:ext cx="384048" cy="384048"/>
          </a:xfrm>
          <a:prstGeom prst="ellipse">
            <a:avLst/>
          </a:prstGeom>
          <a:solidFill>
            <a:srgbClr val="028090"/>
          </a:solidFill>
          <a:ln w="12700">
            <a:solidFill>
              <a:srgbClr val="028090"/>
            </a:solidFill>
            <a:prstDash val="solid"/>
          </a:ln>
        </p:spPr>
        <p:txBody>
          <a:bodyPr/>
          <a:lstStyle/>
          <a:p>
            <a:endParaRPr lang="sv-SE"/>
          </a:p>
        </p:txBody>
      </p:sp>
      <p:sp>
        <p:nvSpPr>
          <p:cNvPr id="17" name="Text 3"/>
          <p:cNvSpPr txBox="1"/>
          <p:nvPr/>
        </p:nvSpPr>
        <p:spPr>
          <a:xfrm>
            <a:off x="457200" y="3136391"/>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8" name="Text 4"/>
          <p:cNvSpPr txBox="1"/>
          <p:nvPr/>
        </p:nvSpPr>
        <p:spPr>
          <a:xfrm>
            <a:off x="1005840" y="3127248"/>
            <a:ext cx="1463040" cy="274320"/>
          </a:xfrm>
          <a:prstGeom prst="rect">
            <a:avLst/>
          </a:prstGeom>
          <a:noFill/>
          <a:ln/>
        </p:spPr>
        <p:txBody>
          <a:bodyPr wrap="square" lIns="0" tIns="0" rIns="0" bIns="0" rtlCol="0" anchor="ctr"/>
          <a:lstStyle/>
          <a:p>
            <a:pPr marL="0" indent="0">
              <a:buNone/>
            </a:pPr>
            <a:r>
              <a:rPr lang="en-US" sz="1400" b="1" dirty="0">
                <a:solidFill>
                  <a:srgbClr val="16262B"/>
                </a:solidFill>
                <a:latin typeface="Calibri" pitchFamily="34" charset="0"/>
                <a:ea typeface="Calibri" pitchFamily="34" charset="-122"/>
                <a:cs typeface="Calibri" pitchFamily="34" charset="-120"/>
              </a:rPr>
              <a:t>Catmull-Rom</a:t>
            </a:r>
            <a:endParaRPr lang="en-US" sz="1400" dirty="0"/>
          </a:p>
        </p:txBody>
      </p:sp>
      <p:sp>
        <p:nvSpPr>
          <p:cNvPr id="19" name="Text 5"/>
          <p:cNvSpPr txBox="1"/>
          <p:nvPr/>
        </p:nvSpPr>
        <p:spPr>
          <a:xfrm>
            <a:off x="2514600" y="3118103"/>
            <a:ext cx="2148840" cy="420624"/>
          </a:xfrm>
          <a:prstGeom prst="rect">
            <a:avLst/>
          </a:prstGeom>
          <a:noFill/>
          <a:ln/>
        </p:spPr>
        <p:txBody>
          <a:bodyPr wrap="square" lIns="0" tIns="0" rIns="0" bIns="0" rtlCol="0" anchor="ctr"/>
          <a:lstStyle/>
          <a:p>
            <a:pPr marL="0" indent="0">
              <a:buNone/>
            </a:pPr>
            <a:r>
              <a:rPr lang="en-US" sz="1100" dirty="0">
                <a:solidFill>
                  <a:srgbClr val="5F7178"/>
                </a:solidFill>
                <a:latin typeface="Calibri" pitchFamily="34" charset="0"/>
                <a:ea typeface="Calibri" pitchFamily="34" charset="-122"/>
                <a:cs typeface="Calibri" pitchFamily="34" charset="-120"/>
              </a:rPr>
              <a:t>a smooth curve through every control point</a:t>
            </a:r>
            <a:endParaRPr lang="en-US" sz="1100" dirty="0"/>
          </a:p>
        </p:txBody>
      </p:sp>
      <p:sp>
        <p:nvSpPr>
          <p:cNvPr id="20" name="Shape 2"/>
          <p:cNvSpPr/>
          <p:nvPr/>
        </p:nvSpPr>
        <p:spPr>
          <a:xfrm>
            <a:off x="457200" y="3739896"/>
            <a:ext cx="384048" cy="384048"/>
          </a:xfrm>
          <a:prstGeom prst="ellipse">
            <a:avLst/>
          </a:prstGeom>
          <a:solidFill>
            <a:srgbClr val="028090"/>
          </a:solidFill>
          <a:ln w="12700">
            <a:solidFill>
              <a:srgbClr val="028090"/>
            </a:solidFill>
            <a:prstDash val="solid"/>
          </a:ln>
        </p:spPr>
        <p:txBody>
          <a:bodyPr/>
          <a:lstStyle/>
          <a:p>
            <a:endParaRPr lang="sv-SE"/>
          </a:p>
        </p:txBody>
      </p:sp>
      <p:sp>
        <p:nvSpPr>
          <p:cNvPr id="21" name="Text 3"/>
          <p:cNvSpPr txBox="1"/>
          <p:nvPr/>
        </p:nvSpPr>
        <p:spPr>
          <a:xfrm>
            <a:off x="457200" y="3739896"/>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2" name="Text 4"/>
          <p:cNvSpPr txBox="1"/>
          <p:nvPr/>
        </p:nvSpPr>
        <p:spPr>
          <a:xfrm>
            <a:off x="1005840" y="3730752"/>
            <a:ext cx="1463040" cy="274320"/>
          </a:xfrm>
          <a:prstGeom prst="rect">
            <a:avLst/>
          </a:prstGeom>
          <a:noFill/>
          <a:ln/>
        </p:spPr>
        <p:txBody>
          <a:bodyPr wrap="square" lIns="0" tIns="0" rIns="0" bIns="0" rtlCol="0" anchor="ctr"/>
          <a:lstStyle/>
          <a:p>
            <a:pPr marL="0" indent="0">
              <a:buNone/>
            </a:pPr>
            <a:r>
              <a:rPr lang="en-US" sz="1400" b="1" dirty="0">
                <a:solidFill>
                  <a:srgbClr val="16262B"/>
                </a:solidFill>
                <a:latin typeface="Calibri" pitchFamily="34" charset="0"/>
                <a:ea typeface="Calibri" pitchFamily="34" charset="-122"/>
                <a:cs typeface="Calibri" pitchFamily="34" charset="-120"/>
              </a:rPr>
              <a:t>Repeatable</a:t>
            </a:r>
            <a:endParaRPr lang="en-US" sz="1400" dirty="0"/>
          </a:p>
        </p:txBody>
      </p:sp>
      <p:sp>
        <p:nvSpPr>
          <p:cNvPr id="23" name="Text 5"/>
          <p:cNvSpPr txBox="1"/>
          <p:nvPr/>
        </p:nvSpPr>
        <p:spPr>
          <a:xfrm>
            <a:off x="2514600" y="3721608"/>
            <a:ext cx="2148840" cy="420624"/>
          </a:xfrm>
          <a:prstGeom prst="rect">
            <a:avLst/>
          </a:prstGeom>
          <a:noFill/>
          <a:ln/>
        </p:spPr>
        <p:txBody>
          <a:bodyPr wrap="square" lIns="0" tIns="0" rIns="0" bIns="0" rtlCol="0" anchor="ctr"/>
          <a:lstStyle/>
          <a:p>
            <a:pPr marL="0" indent="0">
              <a:buNone/>
            </a:pPr>
            <a:r>
              <a:rPr lang="en-US" sz="1100" dirty="0">
                <a:solidFill>
                  <a:srgbClr val="5F7178"/>
                </a:solidFill>
                <a:latin typeface="Calibri" pitchFamily="34" charset="0"/>
                <a:ea typeface="Calibri" pitchFamily="34" charset="-122"/>
                <a:cs typeface="Calibri" pitchFamily="34" charset="-120"/>
              </a:rPr>
              <a:t>settings and file hashes stored; rebuilds are byte-identical</a:t>
            </a:r>
            <a:endParaRPr lang="en-US" sz="1100" dirty="0"/>
          </a:p>
        </p:txBody>
      </p:sp>
      <p:pic>
        <p:nvPicPr>
          <p:cNvPr id="24" name="Picture 23" descr="f6_catmull_rom.png"/>
          <p:cNvPicPr>
            <a:picLocks noChangeAspect="1"/>
          </p:cNvPicPr>
          <p:nvPr/>
        </p:nvPicPr>
        <p:blipFill>
          <a:blip r:embed="rId2"/>
          <a:stretch>
            <a:fillRect/>
          </a:stretch>
        </p:blipFill>
        <p:spPr>
          <a:xfrm>
            <a:off x="4846320" y="1234440"/>
            <a:ext cx="3840480" cy="2618509"/>
          </a:xfrm>
          <a:prstGeom prst="rect">
            <a:avLst/>
          </a:prstGeom>
        </p:spPr>
      </p:pic>
      <p:sp>
        <p:nvSpPr>
          <p:cNvPr id="25" name="Text 3"/>
          <p:cNvSpPr txBox="1"/>
          <p:nvPr/>
        </p:nvSpPr>
        <p:spPr>
          <a:xfrm>
            <a:off x="4846320" y="3950208"/>
            <a:ext cx="3840480" cy="365760"/>
          </a:xfrm>
          <a:prstGeom prst="rect">
            <a:avLst/>
          </a:prstGeom>
          <a:noFill/>
          <a:ln/>
        </p:spPr>
        <p:txBody>
          <a:bodyPr wrap="square" lIns="0" tIns="0" rIns="0" bIns="0" rtlCol="0" anchor="ctr"/>
          <a:lstStyle/>
          <a:p>
            <a:pPr marL="0" indent="0">
              <a:buNone/>
            </a:pPr>
            <a:r>
              <a:rPr lang="en-US" sz="950" i="1" dirty="0">
                <a:solidFill>
                  <a:srgbClr val="5F7178"/>
                </a:solidFill>
                <a:latin typeface="Calibri" pitchFamily="34" charset="0"/>
                <a:ea typeface="Calibri" pitchFamily="34" charset="-122"/>
                <a:cs typeface="Calibri" pitchFamily="34" charset="-120"/>
              </a:rPr>
              <a:t>Left rail, 15 m of the run. A curve through every slab copies the noise; one through 1 m control points does not.</a:t>
            </a:r>
            <a:endParaRPr lang="en-US" sz="9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ctr"/>
          <a:lstStyle/>
          <a:p>
            <a:pPr marL="0" indent="0">
              <a:buNone/>
            </a:pPr>
            <a:r>
              <a:rPr lang="en-US" sz="1100" b="1" kern="0" spc="200" dirty="0">
                <a:solidFill>
                  <a:srgbClr val="028090"/>
                </a:solidFill>
                <a:latin typeface="Calibri" pitchFamily="34" charset="0"/>
                <a:ea typeface="Calibri" pitchFamily="34" charset="-122"/>
                <a:cs typeface="Calibri" pitchFamily="34" charset="-120"/>
              </a:rPr>
              <a:t>FIRST TEST</a:t>
            </a:r>
            <a:endParaRPr lang="en-US" sz="11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marL="0" indent="0">
              <a:buNone/>
            </a:pPr>
            <a:r>
              <a:rPr lang="en-US" sz="2700" b="1" dirty="0">
                <a:solidFill>
                  <a:srgbClr val="16262B"/>
                </a:solidFill>
                <a:latin typeface="Cambria" pitchFamily="34" charset="0"/>
                <a:ea typeface="Cambria" pitchFamily="34" charset="-122"/>
                <a:cs typeface="Cambria" pitchFamily="34" charset="-120"/>
              </a:rPr>
              <a:t>Catmull-Rom on the real run</a:t>
            </a:r>
            <a:endParaRPr lang="en-US" sz="2700" dirty="0"/>
          </a:p>
        </p:txBody>
      </p:sp>
      <p:graphicFrame>
        <p:nvGraphicFramePr>
          <p:cNvPr id="4" name="Chart 3"/>
          <p:cNvGraphicFramePr>
            <a:graphicFrameLocks noGrp="1"/>
          </p:cNvGraphicFramePr>
          <p:nvPr/>
        </p:nvGraphicFramePr>
        <p:xfrm>
          <a:off x="457200" y="1234440"/>
          <a:ext cx="4754880" cy="2697480"/>
        </p:xfrm>
        <a:graphic>
          <a:graphicData uri="http://schemas.openxmlformats.org/drawingml/2006/chart">
            <c:chart xmlns:c="http://schemas.openxmlformats.org/drawingml/2006/chart" xmlns:r="http://schemas.openxmlformats.org/officeDocument/2006/relationships" r:id="rId2"/>
          </a:graphicData>
        </a:graphic>
      </p:graphicFrame>
      <p:sp>
        <p:nvSpPr>
          <p:cNvPr id="5" name="Text 3"/>
          <p:cNvSpPr txBox="1"/>
          <p:nvPr/>
        </p:nvSpPr>
        <p:spPr>
          <a:xfrm>
            <a:off x="457200" y="4023360"/>
            <a:ext cx="4754880" cy="365760"/>
          </a:xfrm>
          <a:prstGeom prst="rect">
            <a:avLst/>
          </a:prstGeom>
          <a:noFill/>
          <a:ln/>
        </p:spPr>
        <p:txBody>
          <a:bodyPr wrap="square" lIns="0" tIns="0" rIns="0" bIns="0" rtlCol="0" anchor="ctr"/>
          <a:lstStyle/>
          <a:p>
            <a:pPr marL="0" indent="0">
              <a:buNone/>
            </a:pPr>
            <a:r>
              <a:rPr lang="en-US" sz="950" i="1" dirty="0">
                <a:solidFill>
                  <a:srgbClr val="5F7178"/>
                </a:solidFill>
                <a:latin typeface="Calibri" pitchFamily="34" charset="0"/>
                <a:ea typeface="Calibri" pitchFamily="34" charset="-122"/>
                <a:cs typeface="Calibri" pitchFamily="34" charset="-120"/>
              </a:rPr>
              <a:t>Control points are averages over 1, 2, 5 and 10 m. Wider spacing smooths away real lateral structure of a few millimetres.</a:t>
            </a:r>
            <a:endParaRPr lang="en-US" sz="950" dirty="0"/>
          </a:p>
        </p:txBody>
      </p:sp>
      <p:sp>
        <p:nvSpPr>
          <p:cNvPr id="6" name="Shape 4"/>
          <p:cNvSpPr/>
          <p:nvPr/>
        </p:nvSpPr>
        <p:spPr>
          <a:xfrm>
            <a:off x="5440680" y="1280160"/>
            <a:ext cx="3246120" cy="877824"/>
          </a:xfrm>
          <a:prstGeom prst="roundRect">
            <a:avLst>
              <a:gd name="adj" fmla="val 9375"/>
            </a:avLst>
          </a:prstGeom>
          <a:solidFill>
            <a:srgbClr val="EDF5F5"/>
          </a:solidFill>
          <a:ln w="12700">
            <a:solidFill>
              <a:srgbClr val="EDF5F5"/>
            </a:solidFill>
            <a:prstDash val="solid"/>
          </a:ln>
        </p:spPr>
        <p:txBody>
          <a:bodyPr/>
          <a:lstStyle/>
          <a:p>
            <a:endParaRPr lang="sv-SE"/>
          </a:p>
        </p:txBody>
      </p:sp>
      <p:sp>
        <p:nvSpPr>
          <p:cNvPr id="7" name="Text 5"/>
          <p:cNvSpPr txBox="1"/>
          <p:nvPr/>
        </p:nvSpPr>
        <p:spPr>
          <a:xfrm>
            <a:off x="5550408" y="1280160"/>
            <a:ext cx="1371600" cy="877824"/>
          </a:xfrm>
          <a:prstGeom prst="rect">
            <a:avLst/>
          </a:prstGeom>
          <a:noFill/>
          <a:ln/>
        </p:spPr>
        <p:txBody>
          <a:bodyPr wrap="square" lIns="0" tIns="0" rIns="0" bIns="0" rtlCol="0" anchor="ctr"/>
          <a:lstStyle/>
          <a:p>
            <a:pPr marL="0" indent="0" algn="ctr">
              <a:buNone/>
            </a:pPr>
            <a:r>
              <a:rPr lang="en-US" sz="1800" b="1" dirty="0">
                <a:solidFill>
                  <a:srgbClr val="028090"/>
                </a:solidFill>
                <a:latin typeface="Cambria" pitchFamily="34" charset="0"/>
                <a:ea typeface="Cambria" pitchFamily="34" charset="-122"/>
                <a:cs typeface="Cambria" pitchFamily="34" charset="-120"/>
              </a:rPr>
              <a:t>261</a:t>
            </a:r>
            <a:endParaRPr lang="en-US" sz="1800" dirty="0"/>
          </a:p>
        </p:txBody>
      </p:sp>
      <p:sp>
        <p:nvSpPr>
          <p:cNvPr id="8" name="Text 6"/>
          <p:cNvSpPr txBox="1"/>
          <p:nvPr/>
        </p:nvSpPr>
        <p:spPr>
          <a:xfrm>
            <a:off x="6995160" y="1353312"/>
            <a:ext cx="1600199" cy="237744"/>
          </a:xfrm>
          <a:prstGeom prst="rect">
            <a:avLst/>
          </a:prstGeom>
          <a:noFill/>
          <a:ln/>
        </p:spPr>
        <p:txBody>
          <a:bodyPr wrap="square" lIns="0" tIns="0" rIns="0" bIns="0" rtlCol="0" anchor="ctr"/>
          <a:lstStyle/>
          <a:p>
            <a:pPr marL="0" indent="0">
              <a:buNone/>
            </a:pPr>
            <a:r>
              <a:rPr lang="en-US" sz="1100" b="1" dirty="0">
                <a:solidFill>
                  <a:srgbClr val="16262B"/>
                </a:solidFill>
                <a:latin typeface="Calibri" pitchFamily="34" charset="0"/>
                <a:ea typeface="Calibri" pitchFamily="34" charset="-122"/>
                <a:cs typeface="Calibri" pitchFamily="34" charset="-120"/>
              </a:rPr>
              <a:t>control points per rail</a:t>
            </a:r>
            <a:endParaRPr lang="en-US" sz="1100" dirty="0"/>
          </a:p>
        </p:txBody>
      </p:sp>
      <p:sp>
        <p:nvSpPr>
          <p:cNvPr id="9" name="Text 7"/>
          <p:cNvSpPr txBox="1"/>
          <p:nvPr/>
        </p:nvSpPr>
        <p:spPr>
          <a:xfrm>
            <a:off x="6995160" y="1591056"/>
            <a:ext cx="1600199" cy="512063"/>
          </a:xfrm>
          <a:prstGeom prst="rect">
            <a:avLst/>
          </a:prstGeom>
          <a:noFill/>
          <a:ln/>
        </p:spPr>
        <p:txBody>
          <a:bodyPr wrap="square" lIns="0" tIns="0" rIns="0" bIns="0" rtlCol="0" anchor="ctr"/>
          <a:lstStyle/>
          <a:p>
            <a:pPr marL="0" indent="0">
              <a:buNone/>
            </a:pPr>
            <a:r>
              <a:rPr lang="en-US" sz="900" dirty="0">
                <a:solidFill>
                  <a:srgbClr val="5F7178"/>
                </a:solidFill>
                <a:latin typeface="Calibri" pitchFamily="34" charset="0"/>
                <a:ea typeface="Calibri" pitchFamily="34" charset="-122"/>
                <a:cs typeface="Calibri" pitchFamily="34" charset="-120"/>
              </a:rPr>
              <a:t>1 m spacing keeps the curve within 1.4 mm of the measurements</a:t>
            </a:r>
            <a:endParaRPr lang="en-US" sz="900" dirty="0"/>
          </a:p>
        </p:txBody>
      </p:sp>
      <p:sp>
        <p:nvSpPr>
          <p:cNvPr id="10" name="Shape 4"/>
          <p:cNvSpPr/>
          <p:nvPr/>
        </p:nvSpPr>
        <p:spPr>
          <a:xfrm>
            <a:off x="5440680" y="2249424"/>
            <a:ext cx="3246120" cy="877824"/>
          </a:xfrm>
          <a:prstGeom prst="roundRect">
            <a:avLst>
              <a:gd name="adj" fmla="val 9375"/>
            </a:avLst>
          </a:prstGeom>
          <a:solidFill>
            <a:srgbClr val="EDF5F5"/>
          </a:solidFill>
          <a:ln w="12700">
            <a:solidFill>
              <a:srgbClr val="EDF5F5"/>
            </a:solidFill>
            <a:prstDash val="solid"/>
          </a:ln>
        </p:spPr>
        <p:txBody>
          <a:bodyPr/>
          <a:lstStyle/>
          <a:p>
            <a:endParaRPr lang="sv-SE"/>
          </a:p>
        </p:txBody>
      </p:sp>
      <p:sp>
        <p:nvSpPr>
          <p:cNvPr id="11" name="Text 5"/>
          <p:cNvSpPr txBox="1"/>
          <p:nvPr/>
        </p:nvSpPr>
        <p:spPr>
          <a:xfrm>
            <a:off x="5550408" y="2249424"/>
            <a:ext cx="1371600" cy="877824"/>
          </a:xfrm>
          <a:prstGeom prst="rect">
            <a:avLst/>
          </a:prstGeom>
          <a:noFill/>
          <a:ln/>
        </p:spPr>
        <p:txBody>
          <a:bodyPr wrap="square" lIns="0" tIns="0" rIns="0" bIns="0" rtlCol="0" anchor="ctr"/>
          <a:lstStyle/>
          <a:p>
            <a:pPr marL="0" indent="0" algn="ctr">
              <a:buNone/>
            </a:pPr>
            <a:r>
              <a:rPr lang="en-US" sz="1800" b="1" dirty="0">
                <a:solidFill>
                  <a:srgbClr val="028090"/>
                </a:solidFill>
                <a:latin typeface="Cambria" pitchFamily="34" charset="0"/>
                <a:ea typeface="Cambria" pitchFamily="34" charset="-122"/>
                <a:cs typeface="Cambria" pitchFamily="34" charset="-120"/>
              </a:rPr>
              <a:t>0.9 mm</a:t>
            </a:r>
            <a:endParaRPr lang="en-US" sz="1800" dirty="0"/>
          </a:p>
        </p:txBody>
      </p:sp>
      <p:sp>
        <p:nvSpPr>
          <p:cNvPr id="12" name="Text 6"/>
          <p:cNvSpPr txBox="1"/>
          <p:nvPr/>
        </p:nvSpPr>
        <p:spPr>
          <a:xfrm>
            <a:off x="6995160" y="2322576"/>
            <a:ext cx="1600199" cy="237744"/>
          </a:xfrm>
          <a:prstGeom prst="rect">
            <a:avLst/>
          </a:prstGeom>
          <a:noFill/>
          <a:ln/>
        </p:spPr>
        <p:txBody>
          <a:bodyPr wrap="square" lIns="0" tIns="0" rIns="0" bIns="0" rtlCol="0" anchor="ctr"/>
          <a:lstStyle/>
          <a:p>
            <a:pPr marL="0" indent="0">
              <a:buNone/>
            </a:pPr>
            <a:r>
              <a:rPr lang="en-US" sz="1100" b="1" dirty="0">
                <a:solidFill>
                  <a:srgbClr val="16262B"/>
                </a:solidFill>
                <a:latin typeface="Calibri" pitchFamily="34" charset="0"/>
                <a:ea typeface="Calibri" pitchFamily="34" charset="-122"/>
                <a:cs typeface="Calibri" pitchFamily="34" charset="-120"/>
              </a:rPr>
              <a:t>noise floor, gauge</a:t>
            </a:r>
            <a:endParaRPr lang="en-US" sz="1100" dirty="0"/>
          </a:p>
        </p:txBody>
      </p:sp>
      <p:sp>
        <p:nvSpPr>
          <p:cNvPr id="13" name="Text 7"/>
          <p:cNvSpPr txBox="1"/>
          <p:nvPr/>
        </p:nvSpPr>
        <p:spPr>
          <a:xfrm>
            <a:off x="6995160" y="2560320"/>
            <a:ext cx="1600199" cy="512063"/>
          </a:xfrm>
          <a:prstGeom prst="rect">
            <a:avLst/>
          </a:prstGeom>
          <a:noFill/>
          <a:ln/>
        </p:spPr>
        <p:txBody>
          <a:bodyPr wrap="square" lIns="0" tIns="0" rIns="0" bIns="0" rtlCol="0" anchor="ctr"/>
          <a:lstStyle/>
          <a:p>
            <a:pPr marL="0" indent="0">
              <a:buNone/>
            </a:pPr>
            <a:r>
              <a:rPr lang="en-US" sz="900" dirty="0">
                <a:solidFill>
                  <a:srgbClr val="5F7178"/>
                </a:solidFill>
                <a:latin typeface="Calibri" pitchFamily="34" charset="0"/>
                <a:ea typeface="Calibri" pitchFamily="34" charset="-122"/>
                <a:cs typeface="Calibri" pitchFamily="34" charset="-120"/>
              </a:rPr>
              <a:t>lateral 1.4–1.5 mm, height 0.3 mm; two halves of the scan compared (RMS)</a:t>
            </a:r>
            <a:endParaRPr lang="en-US" sz="900" dirty="0"/>
          </a:p>
        </p:txBody>
      </p:sp>
      <p:sp>
        <p:nvSpPr>
          <p:cNvPr id="14" name="Shape 4"/>
          <p:cNvSpPr/>
          <p:nvPr/>
        </p:nvSpPr>
        <p:spPr>
          <a:xfrm>
            <a:off x="5440680" y="3218688"/>
            <a:ext cx="3246120" cy="877824"/>
          </a:xfrm>
          <a:prstGeom prst="roundRect">
            <a:avLst>
              <a:gd name="adj" fmla="val 9375"/>
            </a:avLst>
          </a:prstGeom>
          <a:solidFill>
            <a:srgbClr val="EDF5F5"/>
          </a:solidFill>
          <a:ln w="12700">
            <a:solidFill>
              <a:srgbClr val="EDF5F5"/>
            </a:solidFill>
            <a:prstDash val="solid"/>
          </a:ln>
        </p:spPr>
        <p:txBody>
          <a:bodyPr/>
          <a:lstStyle/>
          <a:p>
            <a:endParaRPr lang="sv-SE"/>
          </a:p>
        </p:txBody>
      </p:sp>
      <p:sp>
        <p:nvSpPr>
          <p:cNvPr id="15" name="Text 5"/>
          <p:cNvSpPr txBox="1"/>
          <p:nvPr/>
        </p:nvSpPr>
        <p:spPr>
          <a:xfrm>
            <a:off x="5550408" y="3218688"/>
            <a:ext cx="1371600" cy="877824"/>
          </a:xfrm>
          <a:prstGeom prst="rect">
            <a:avLst/>
          </a:prstGeom>
          <a:noFill/>
          <a:ln/>
        </p:spPr>
        <p:txBody>
          <a:bodyPr wrap="square" lIns="0" tIns="0" rIns="0" bIns="0" rtlCol="0" anchor="ctr"/>
          <a:lstStyle/>
          <a:p>
            <a:pPr marL="0" indent="0" algn="ctr">
              <a:buNone/>
            </a:pPr>
            <a:r>
              <a:rPr lang="en-US" sz="1800" b="1" dirty="0">
                <a:solidFill>
                  <a:srgbClr val="028090"/>
                </a:solidFill>
                <a:latin typeface="Cambria" pitchFamily="34" charset="0"/>
                <a:ea typeface="Cambria" pitchFamily="34" charset="-122"/>
                <a:cs typeface="Cambria" pitchFamily="34" charset="-120"/>
              </a:rPr>
              <a:t>3.9 mm</a:t>
            </a:r>
            <a:endParaRPr lang="en-US" sz="1800" dirty="0"/>
          </a:p>
        </p:txBody>
      </p:sp>
      <p:sp>
        <p:nvSpPr>
          <p:cNvPr id="16" name="Text 6"/>
          <p:cNvSpPr txBox="1"/>
          <p:nvPr/>
        </p:nvSpPr>
        <p:spPr>
          <a:xfrm>
            <a:off x="6995160" y="3291840"/>
            <a:ext cx="1600199" cy="237744"/>
          </a:xfrm>
          <a:prstGeom prst="rect">
            <a:avLst/>
          </a:prstGeom>
          <a:noFill/>
          <a:ln/>
        </p:spPr>
        <p:txBody>
          <a:bodyPr wrap="square" lIns="0" tIns="0" rIns="0" bIns="0" rtlCol="0" anchor="ctr"/>
          <a:lstStyle/>
          <a:p>
            <a:pPr marL="0" indent="0">
              <a:buNone/>
            </a:pPr>
            <a:r>
              <a:rPr lang="en-US" sz="1100" b="1" dirty="0">
                <a:solidFill>
                  <a:srgbClr val="16262B"/>
                </a:solidFill>
                <a:latin typeface="Calibri" pitchFamily="34" charset="0"/>
                <a:ea typeface="Calibri" pitchFamily="34" charset="-122"/>
                <a:cs typeface="Calibri" pitchFamily="34" charset="-120"/>
              </a:rPr>
              <a:t>change recovered</a:t>
            </a:r>
            <a:endParaRPr lang="en-US" sz="1100" dirty="0"/>
          </a:p>
        </p:txBody>
      </p:sp>
      <p:sp>
        <p:nvSpPr>
          <p:cNvPr id="17" name="Text 7"/>
          <p:cNvSpPr txBox="1"/>
          <p:nvPr/>
        </p:nvSpPr>
        <p:spPr>
          <a:xfrm>
            <a:off x="6995160" y="3529584"/>
            <a:ext cx="1600199" cy="512063"/>
          </a:xfrm>
          <a:prstGeom prst="rect">
            <a:avLst/>
          </a:prstGeom>
          <a:noFill/>
          <a:ln/>
        </p:spPr>
        <p:txBody>
          <a:bodyPr wrap="square" lIns="0" tIns="0" rIns="0" bIns="0" rtlCol="0" anchor="ctr"/>
          <a:lstStyle/>
          <a:p>
            <a:pPr marL="0" indent="0">
              <a:buNone/>
            </a:pPr>
            <a:r>
              <a:rPr lang="en-US" sz="900" dirty="0">
                <a:solidFill>
                  <a:srgbClr val="5F7178"/>
                </a:solidFill>
                <a:latin typeface="Calibri" pitchFamily="34" charset="0"/>
                <a:ea typeface="Calibri" pitchFamily="34" charset="-122"/>
                <a:cs typeface="Calibri" pitchFamily="34" charset="-120"/>
              </a:rPr>
              <a:t>a known 4 mm gauge change added to one half of the scan; found across the stretch</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ctr"/>
          <a:lstStyle/>
          <a:p>
            <a:pPr marL="0" indent="0">
              <a:buNone/>
            </a:pPr>
            <a:r>
              <a:rPr lang="en-US" sz="1100" b="1" kern="0" spc="200" dirty="0">
                <a:solidFill>
                  <a:srgbClr val="028090"/>
                </a:solidFill>
                <a:latin typeface="Calibri" pitchFamily="34" charset="0"/>
                <a:ea typeface="Calibri" pitchFamily="34" charset="-122"/>
                <a:cs typeface="Calibri" pitchFamily="34" charset="-120"/>
              </a:rPr>
              <a:t>COMPARING RUNS</a:t>
            </a:r>
            <a:endParaRPr lang="en-US" sz="11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marL="0" indent="0">
              <a:buNone/>
            </a:pPr>
            <a:r>
              <a:rPr lang="en-US" sz="2700" b="1" dirty="0">
                <a:solidFill>
                  <a:srgbClr val="16262B"/>
                </a:solidFill>
                <a:latin typeface="Cambria" pitchFamily="34" charset="0"/>
                <a:ea typeface="Cambria" pitchFamily="34" charset="-122"/>
                <a:cs typeface="Cambria" pitchFamily="34" charset="-120"/>
              </a:rPr>
              <a:t>Comparing two runs of the same track</a:t>
            </a:r>
            <a:endParaRPr lang="en-US" sz="2700" dirty="0"/>
          </a:p>
        </p:txBody>
      </p:sp>
      <p:sp>
        <p:nvSpPr>
          <p:cNvPr id="4" name="Shape 2"/>
          <p:cNvSpPr/>
          <p:nvPr/>
        </p:nvSpPr>
        <p:spPr>
          <a:xfrm>
            <a:off x="457200" y="1325880"/>
            <a:ext cx="384048" cy="384048"/>
          </a:xfrm>
          <a:prstGeom prst="ellipse">
            <a:avLst/>
          </a:prstGeom>
          <a:solidFill>
            <a:srgbClr val="028090"/>
          </a:solidFill>
          <a:ln w="12700">
            <a:solidFill>
              <a:srgbClr val="028090"/>
            </a:solidFill>
            <a:prstDash val="solid"/>
          </a:ln>
        </p:spPr>
        <p:txBody>
          <a:bodyPr/>
          <a:lstStyle/>
          <a:p>
            <a:endParaRPr lang="sv-SE"/>
          </a:p>
        </p:txBody>
      </p:sp>
      <p:sp>
        <p:nvSpPr>
          <p:cNvPr id="5" name="Text 3"/>
          <p:cNvSpPr txBox="1"/>
          <p:nvPr/>
        </p:nvSpPr>
        <p:spPr>
          <a:xfrm>
            <a:off x="457200" y="132588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6" name="Text 4"/>
          <p:cNvSpPr txBox="1"/>
          <p:nvPr/>
        </p:nvSpPr>
        <p:spPr>
          <a:xfrm>
            <a:off x="1005840" y="1316736"/>
            <a:ext cx="1463040" cy="274320"/>
          </a:xfrm>
          <a:prstGeom prst="rect">
            <a:avLst/>
          </a:prstGeom>
          <a:noFill/>
          <a:ln/>
        </p:spPr>
        <p:txBody>
          <a:bodyPr wrap="square" lIns="0" tIns="0" rIns="0" bIns="0" rtlCol="0" anchor="ctr"/>
          <a:lstStyle/>
          <a:p>
            <a:pPr marL="0" indent="0">
              <a:buNone/>
            </a:pPr>
            <a:r>
              <a:rPr lang="en-US" sz="1400" b="1" dirty="0">
                <a:solidFill>
                  <a:srgbClr val="16262B"/>
                </a:solidFill>
                <a:latin typeface="Calibri" pitchFamily="34" charset="0"/>
                <a:ea typeface="Calibri" pitchFamily="34" charset="-122"/>
                <a:cs typeface="Calibri" pitchFamily="34" charset="-120"/>
              </a:rPr>
              <a:t>Same frame</a:t>
            </a:r>
            <a:endParaRPr lang="en-US" sz="1400" dirty="0"/>
          </a:p>
        </p:txBody>
      </p:sp>
      <p:sp>
        <p:nvSpPr>
          <p:cNvPr id="7" name="Text 5"/>
          <p:cNvSpPr txBox="1"/>
          <p:nvPr/>
        </p:nvSpPr>
        <p:spPr>
          <a:xfrm>
            <a:off x="2514600" y="1307592"/>
            <a:ext cx="2148840" cy="420624"/>
          </a:xfrm>
          <a:prstGeom prst="rect">
            <a:avLst/>
          </a:prstGeom>
          <a:noFill/>
          <a:ln/>
        </p:spPr>
        <p:txBody>
          <a:bodyPr wrap="square" lIns="0" tIns="0" rIns="0" bIns="0" rtlCol="0" anchor="ctr"/>
          <a:lstStyle/>
          <a:p>
            <a:pPr marL="0" indent="0">
              <a:buNone/>
            </a:pPr>
            <a:r>
              <a:rPr lang="en-US" sz="1100" dirty="0">
                <a:solidFill>
                  <a:srgbClr val="5F7178"/>
                </a:solidFill>
                <a:latin typeface="Calibri" pitchFamily="34" charset="0"/>
                <a:ea typeface="Calibri" pitchFamily="34" charset="-122"/>
                <a:cs typeface="Calibri" pitchFamily="34" charset="-120"/>
              </a:rPr>
              <a:t>both runs projected onto the same reference frame</a:t>
            </a:r>
            <a:endParaRPr lang="en-US" sz="1100" dirty="0"/>
          </a:p>
        </p:txBody>
      </p:sp>
      <p:sp>
        <p:nvSpPr>
          <p:cNvPr id="8" name="Shape 2"/>
          <p:cNvSpPr/>
          <p:nvPr/>
        </p:nvSpPr>
        <p:spPr>
          <a:xfrm>
            <a:off x="457200" y="1929384"/>
            <a:ext cx="384048" cy="384048"/>
          </a:xfrm>
          <a:prstGeom prst="ellipse">
            <a:avLst/>
          </a:prstGeom>
          <a:solidFill>
            <a:srgbClr val="028090"/>
          </a:solidFill>
          <a:ln w="12700">
            <a:solidFill>
              <a:srgbClr val="028090"/>
            </a:solidFill>
            <a:prstDash val="solid"/>
          </a:ln>
        </p:spPr>
        <p:txBody>
          <a:bodyPr/>
          <a:lstStyle/>
          <a:p>
            <a:endParaRPr lang="sv-SE"/>
          </a:p>
        </p:txBody>
      </p:sp>
      <p:sp>
        <p:nvSpPr>
          <p:cNvPr id="9" name="Text 3"/>
          <p:cNvSpPr txBox="1"/>
          <p:nvPr/>
        </p:nvSpPr>
        <p:spPr>
          <a:xfrm>
            <a:off x="457200" y="1929384"/>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4"/>
          <p:cNvSpPr txBox="1"/>
          <p:nvPr/>
        </p:nvSpPr>
        <p:spPr>
          <a:xfrm>
            <a:off x="1005840" y="1920240"/>
            <a:ext cx="1463040" cy="274320"/>
          </a:xfrm>
          <a:prstGeom prst="rect">
            <a:avLst/>
          </a:prstGeom>
          <a:noFill/>
          <a:ln/>
        </p:spPr>
        <p:txBody>
          <a:bodyPr wrap="square" lIns="0" tIns="0" rIns="0" bIns="0" rtlCol="0" anchor="ctr"/>
          <a:lstStyle/>
          <a:p>
            <a:pPr marL="0" indent="0">
              <a:buNone/>
            </a:pPr>
            <a:r>
              <a:rPr lang="en-US" sz="1400" b="1" dirty="0">
                <a:solidFill>
                  <a:srgbClr val="16262B"/>
                </a:solidFill>
                <a:latin typeface="Calibri" pitchFamily="34" charset="0"/>
                <a:ea typeface="Calibri" pitchFamily="34" charset="-122"/>
                <a:cs typeface="Calibri" pitchFamily="34" charset="-120"/>
              </a:rPr>
              <a:t>Curve per run</a:t>
            </a:r>
            <a:endParaRPr lang="en-US" sz="1400" dirty="0"/>
          </a:p>
        </p:txBody>
      </p:sp>
      <p:sp>
        <p:nvSpPr>
          <p:cNvPr id="11" name="Text 5"/>
          <p:cNvSpPr txBox="1"/>
          <p:nvPr/>
        </p:nvSpPr>
        <p:spPr>
          <a:xfrm>
            <a:off x="2514600" y="1911095"/>
            <a:ext cx="2148840" cy="420624"/>
          </a:xfrm>
          <a:prstGeom prst="rect">
            <a:avLst/>
          </a:prstGeom>
          <a:noFill/>
          <a:ln/>
        </p:spPr>
        <p:txBody>
          <a:bodyPr wrap="square" lIns="0" tIns="0" rIns="0" bIns="0" rtlCol="0" anchor="ctr"/>
          <a:lstStyle/>
          <a:p>
            <a:pPr marL="0" indent="0">
              <a:buNone/>
            </a:pPr>
            <a:r>
              <a:rPr lang="en-US" sz="1100" dirty="0">
                <a:solidFill>
                  <a:srgbClr val="5F7178"/>
                </a:solidFill>
                <a:latin typeface="Calibri" pitchFamily="34" charset="0"/>
                <a:ea typeface="Calibri" pitchFamily="34" charset="-122"/>
                <a:cs typeface="Calibri" pitchFamily="34" charset="-120"/>
              </a:rPr>
              <a:t>rail curves through 1 m control points</a:t>
            </a:r>
            <a:endParaRPr lang="en-US" sz="1100" dirty="0"/>
          </a:p>
        </p:txBody>
      </p:sp>
      <p:sp>
        <p:nvSpPr>
          <p:cNvPr id="12" name="Shape 2"/>
          <p:cNvSpPr/>
          <p:nvPr/>
        </p:nvSpPr>
        <p:spPr>
          <a:xfrm>
            <a:off x="457200" y="2532888"/>
            <a:ext cx="384048" cy="384048"/>
          </a:xfrm>
          <a:prstGeom prst="ellipse">
            <a:avLst/>
          </a:prstGeom>
          <a:solidFill>
            <a:srgbClr val="028090"/>
          </a:solidFill>
          <a:ln w="12700">
            <a:solidFill>
              <a:srgbClr val="028090"/>
            </a:solidFill>
            <a:prstDash val="solid"/>
          </a:ln>
        </p:spPr>
        <p:txBody>
          <a:bodyPr/>
          <a:lstStyle/>
          <a:p>
            <a:endParaRPr lang="sv-SE"/>
          </a:p>
        </p:txBody>
      </p:sp>
      <p:sp>
        <p:nvSpPr>
          <p:cNvPr id="13" name="Text 3"/>
          <p:cNvSpPr txBox="1"/>
          <p:nvPr/>
        </p:nvSpPr>
        <p:spPr>
          <a:xfrm>
            <a:off x="457200" y="2532888"/>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4" name="Text 4"/>
          <p:cNvSpPr txBox="1"/>
          <p:nvPr/>
        </p:nvSpPr>
        <p:spPr>
          <a:xfrm>
            <a:off x="1005840" y="2523744"/>
            <a:ext cx="1463040" cy="274320"/>
          </a:xfrm>
          <a:prstGeom prst="rect">
            <a:avLst/>
          </a:prstGeom>
          <a:noFill/>
          <a:ln/>
        </p:spPr>
        <p:txBody>
          <a:bodyPr wrap="square" lIns="0" tIns="0" rIns="0" bIns="0" rtlCol="0" anchor="ctr"/>
          <a:lstStyle/>
          <a:p>
            <a:pPr marL="0" indent="0">
              <a:buNone/>
            </a:pPr>
            <a:r>
              <a:rPr lang="en-US" sz="1400" b="1" dirty="0">
                <a:solidFill>
                  <a:srgbClr val="16262B"/>
                </a:solidFill>
                <a:latin typeface="Calibri" pitchFamily="34" charset="0"/>
                <a:ea typeface="Calibri" pitchFamily="34" charset="-122"/>
                <a:cs typeface="Calibri" pitchFamily="34" charset="-120"/>
              </a:rPr>
              <a:t>Resample</a:t>
            </a:r>
            <a:endParaRPr lang="en-US" sz="1400" dirty="0"/>
          </a:p>
        </p:txBody>
      </p:sp>
      <p:sp>
        <p:nvSpPr>
          <p:cNvPr id="15" name="Text 5"/>
          <p:cNvSpPr txBox="1"/>
          <p:nvPr/>
        </p:nvSpPr>
        <p:spPr>
          <a:xfrm>
            <a:off x="2514600" y="2514600"/>
            <a:ext cx="2148840" cy="420624"/>
          </a:xfrm>
          <a:prstGeom prst="rect">
            <a:avLst/>
          </a:prstGeom>
          <a:noFill/>
          <a:ln/>
        </p:spPr>
        <p:txBody>
          <a:bodyPr wrap="square" lIns="0" tIns="0" rIns="0" bIns="0" rtlCol="0" anchor="ctr"/>
          <a:lstStyle/>
          <a:p>
            <a:pPr marL="0" indent="0">
              <a:buNone/>
            </a:pPr>
            <a:r>
              <a:rPr lang="en-US" sz="1100" dirty="0">
                <a:solidFill>
                  <a:srgbClr val="5F7178"/>
                </a:solidFill>
                <a:latin typeface="Calibri" pitchFamily="34" charset="0"/>
                <a:ea typeface="Calibri" pitchFamily="34" charset="-122"/>
                <a:cs typeface="Calibri" pitchFamily="34" charset="-120"/>
              </a:rPr>
              <a:t>evaluate every curve at the same chainage</a:t>
            </a:r>
            <a:endParaRPr lang="en-US" sz="1100" dirty="0"/>
          </a:p>
        </p:txBody>
      </p:sp>
      <p:sp>
        <p:nvSpPr>
          <p:cNvPr id="16" name="Shape 2"/>
          <p:cNvSpPr/>
          <p:nvPr/>
        </p:nvSpPr>
        <p:spPr>
          <a:xfrm>
            <a:off x="457200" y="3136391"/>
            <a:ext cx="384048" cy="384048"/>
          </a:xfrm>
          <a:prstGeom prst="ellipse">
            <a:avLst/>
          </a:prstGeom>
          <a:solidFill>
            <a:srgbClr val="028090"/>
          </a:solidFill>
          <a:ln w="12700">
            <a:solidFill>
              <a:srgbClr val="028090"/>
            </a:solidFill>
            <a:prstDash val="solid"/>
          </a:ln>
        </p:spPr>
        <p:txBody>
          <a:bodyPr/>
          <a:lstStyle/>
          <a:p>
            <a:endParaRPr lang="sv-SE"/>
          </a:p>
        </p:txBody>
      </p:sp>
      <p:sp>
        <p:nvSpPr>
          <p:cNvPr id="17" name="Text 3"/>
          <p:cNvSpPr txBox="1"/>
          <p:nvPr/>
        </p:nvSpPr>
        <p:spPr>
          <a:xfrm>
            <a:off x="457200" y="3136391"/>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8" name="Text 4"/>
          <p:cNvSpPr txBox="1"/>
          <p:nvPr/>
        </p:nvSpPr>
        <p:spPr>
          <a:xfrm>
            <a:off x="1005840" y="3127248"/>
            <a:ext cx="1463040" cy="274320"/>
          </a:xfrm>
          <a:prstGeom prst="rect">
            <a:avLst/>
          </a:prstGeom>
          <a:noFill/>
          <a:ln/>
        </p:spPr>
        <p:txBody>
          <a:bodyPr wrap="square" lIns="0" tIns="0" rIns="0" bIns="0" rtlCol="0" anchor="ctr"/>
          <a:lstStyle/>
          <a:p>
            <a:pPr marL="0" indent="0">
              <a:buNone/>
            </a:pPr>
            <a:r>
              <a:rPr lang="en-US" sz="1400" b="1" dirty="0">
                <a:solidFill>
                  <a:srgbClr val="16262B"/>
                </a:solidFill>
                <a:latin typeface="Calibri" pitchFamily="34" charset="0"/>
                <a:ea typeface="Calibri" pitchFamily="34" charset="-122"/>
                <a:cs typeface="Calibri" pitchFamily="34" charset="-120"/>
              </a:rPr>
              <a:t>Subtract</a:t>
            </a:r>
            <a:endParaRPr lang="en-US" sz="1400" dirty="0"/>
          </a:p>
        </p:txBody>
      </p:sp>
      <p:sp>
        <p:nvSpPr>
          <p:cNvPr id="19" name="Text 5"/>
          <p:cNvSpPr txBox="1"/>
          <p:nvPr/>
        </p:nvSpPr>
        <p:spPr>
          <a:xfrm>
            <a:off x="2514600" y="3118103"/>
            <a:ext cx="2148840" cy="420624"/>
          </a:xfrm>
          <a:prstGeom prst="rect">
            <a:avLst/>
          </a:prstGeom>
          <a:noFill/>
          <a:ln/>
        </p:spPr>
        <p:txBody>
          <a:bodyPr wrap="square" lIns="0" tIns="0" rIns="0" bIns="0" rtlCol="0" anchor="ctr"/>
          <a:lstStyle/>
          <a:p>
            <a:pPr marL="0" indent="0">
              <a:buNone/>
            </a:pPr>
            <a:r>
              <a:rPr lang="en-US" sz="1100" dirty="0">
                <a:solidFill>
                  <a:srgbClr val="5F7178"/>
                </a:solidFill>
                <a:latin typeface="Calibri" pitchFamily="34" charset="0"/>
                <a:ea typeface="Calibri" pitchFamily="34" charset="-122"/>
                <a:cs typeface="Calibri" pitchFamily="34" charset="-120"/>
              </a:rPr>
              <a:t>difference per parameter and per section</a:t>
            </a:r>
            <a:endParaRPr lang="en-US" sz="1100" dirty="0"/>
          </a:p>
        </p:txBody>
      </p:sp>
      <p:sp>
        <p:nvSpPr>
          <p:cNvPr id="20" name="Shape 2"/>
          <p:cNvSpPr/>
          <p:nvPr/>
        </p:nvSpPr>
        <p:spPr>
          <a:xfrm>
            <a:off x="457200" y="3739896"/>
            <a:ext cx="384048" cy="384048"/>
          </a:xfrm>
          <a:prstGeom prst="ellipse">
            <a:avLst/>
          </a:prstGeom>
          <a:solidFill>
            <a:srgbClr val="028090"/>
          </a:solidFill>
          <a:ln w="12700">
            <a:solidFill>
              <a:srgbClr val="028090"/>
            </a:solidFill>
            <a:prstDash val="solid"/>
          </a:ln>
        </p:spPr>
        <p:txBody>
          <a:bodyPr/>
          <a:lstStyle/>
          <a:p>
            <a:endParaRPr lang="sv-SE"/>
          </a:p>
        </p:txBody>
      </p:sp>
      <p:sp>
        <p:nvSpPr>
          <p:cNvPr id="21" name="Text 3"/>
          <p:cNvSpPr txBox="1"/>
          <p:nvPr/>
        </p:nvSpPr>
        <p:spPr>
          <a:xfrm>
            <a:off x="457200" y="3739896"/>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2" name="Text 4"/>
          <p:cNvSpPr txBox="1"/>
          <p:nvPr/>
        </p:nvSpPr>
        <p:spPr>
          <a:xfrm>
            <a:off x="1005840" y="3730752"/>
            <a:ext cx="1463040" cy="274320"/>
          </a:xfrm>
          <a:prstGeom prst="rect">
            <a:avLst/>
          </a:prstGeom>
          <a:noFill/>
          <a:ln/>
        </p:spPr>
        <p:txBody>
          <a:bodyPr wrap="square" lIns="0" tIns="0" rIns="0" bIns="0" rtlCol="0" anchor="ctr"/>
          <a:lstStyle/>
          <a:p>
            <a:pPr marL="0" indent="0">
              <a:buNone/>
            </a:pPr>
            <a:r>
              <a:rPr lang="en-US" sz="1400" b="1" dirty="0">
                <a:solidFill>
                  <a:srgbClr val="16262B"/>
                </a:solidFill>
                <a:latin typeface="Calibri" pitchFamily="34" charset="0"/>
                <a:ea typeface="Calibri" pitchFamily="34" charset="-122"/>
                <a:cs typeface="Calibri" pitchFamily="34" charset="-120"/>
              </a:rPr>
              <a:t>Flag change</a:t>
            </a:r>
            <a:endParaRPr lang="en-US" sz="1400" dirty="0"/>
          </a:p>
        </p:txBody>
      </p:sp>
      <p:sp>
        <p:nvSpPr>
          <p:cNvPr id="23" name="Text 5"/>
          <p:cNvSpPr txBox="1"/>
          <p:nvPr/>
        </p:nvSpPr>
        <p:spPr>
          <a:xfrm>
            <a:off x="2514600" y="3721608"/>
            <a:ext cx="2148840" cy="420624"/>
          </a:xfrm>
          <a:prstGeom prst="rect">
            <a:avLst/>
          </a:prstGeom>
          <a:noFill/>
          <a:ln/>
        </p:spPr>
        <p:txBody>
          <a:bodyPr wrap="square" lIns="0" tIns="0" rIns="0" bIns="0" rtlCol="0" anchor="ctr"/>
          <a:lstStyle/>
          <a:p>
            <a:pPr marL="0" indent="0">
              <a:buNone/>
            </a:pPr>
            <a:r>
              <a:rPr lang="en-US" sz="1100" dirty="0">
                <a:solidFill>
                  <a:srgbClr val="5F7178"/>
                </a:solidFill>
                <a:latin typeface="Calibri" pitchFamily="34" charset="0"/>
                <a:ea typeface="Calibri" pitchFamily="34" charset="-122"/>
                <a:cs typeface="Calibri" pitchFamily="34" charset="-120"/>
              </a:rPr>
              <a:t>mark where the difference exceeds the noise floor</a:t>
            </a:r>
            <a:endParaRPr lang="en-US" sz="1100" dirty="0"/>
          </a:p>
        </p:txBody>
      </p:sp>
      <p:pic>
        <p:nvPicPr>
          <p:cNvPr id="24" name="Picture 23" descr="f8_compare_runs.png"/>
          <p:cNvPicPr>
            <a:picLocks noChangeAspect="1"/>
          </p:cNvPicPr>
          <p:nvPr/>
        </p:nvPicPr>
        <p:blipFill>
          <a:blip r:embed="rId2"/>
          <a:stretch>
            <a:fillRect/>
          </a:stretch>
        </p:blipFill>
        <p:spPr>
          <a:xfrm>
            <a:off x="4846320" y="1234440"/>
            <a:ext cx="3840480" cy="2588150"/>
          </a:xfrm>
          <a:prstGeom prst="rect">
            <a:avLst/>
          </a:prstGeom>
        </p:spPr>
      </p:pic>
      <p:sp>
        <p:nvSpPr>
          <p:cNvPr id="25" name="Text 3"/>
          <p:cNvSpPr txBox="1"/>
          <p:nvPr/>
        </p:nvSpPr>
        <p:spPr>
          <a:xfrm>
            <a:off x="4846320" y="3886200"/>
            <a:ext cx="3840480" cy="365760"/>
          </a:xfrm>
          <a:prstGeom prst="rect">
            <a:avLst/>
          </a:prstGeom>
          <a:noFill/>
          <a:ln/>
        </p:spPr>
        <p:txBody>
          <a:bodyPr wrap="square" lIns="0" tIns="0" rIns="0" bIns="0" rtlCol="0" anchor="ctr"/>
          <a:lstStyle/>
          <a:p>
            <a:pPr marL="0" indent="0">
              <a:buNone/>
            </a:pPr>
            <a:r>
              <a:rPr lang="en-US" sz="950" i="1" dirty="0">
                <a:solidFill>
                  <a:srgbClr val="5F7178"/>
                </a:solidFill>
                <a:latin typeface="Calibri" pitchFamily="34" charset="0"/>
                <a:ea typeface="Calibri" pitchFamily="34" charset="-122"/>
                <a:cs typeface="Calibri" pitchFamily="34" charset="-120"/>
              </a:rPr>
              <a:t>Run A: one half of the scan. Run B: the other half with a known 4 mm gauge widening added at 100–120 m.</a:t>
            </a:r>
            <a:endParaRPr lang="en-US" sz="9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ctr"/>
          <a:lstStyle/>
          <a:p>
            <a:pPr marL="0" indent="0">
              <a:buNone/>
            </a:pPr>
            <a:r>
              <a:rPr lang="en-US" sz="1100" b="1" kern="0" spc="200" dirty="0">
                <a:solidFill>
                  <a:srgbClr val="028090"/>
                </a:solidFill>
                <a:latin typeface="Calibri" pitchFamily="34" charset="0"/>
                <a:ea typeface="Calibri" pitchFamily="34" charset="-122"/>
                <a:cs typeface="Calibri" pitchFamily="34" charset="-120"/>
              </a:rPr>
              <a:t>DATA LIMITS</a:t>
            </a:r>
            <a:endParaRPr lang="en-US" sz="11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marL="0" indent="0">
              <a:buNone/>
            </a:pPr>
            <a:r>
              <a:rPr lang="en-US" sz="2700" b="1" dirty="0">
                <a:solidFill>
                  <a:srgbClr val="16262B"/>
                </a:solidFill>
                <a:latin typeface="Cambria" pitchFamily="34" charset="0"/>
                <a:ea typeface="Cambria" pitchFamily="34" charset="-122"/>
                <a:cs typeface="Cambria" pitchFamily="34" charset="-120"/>
              </a:rPr>
              <a:t>What can be tracked over time</a:t>
            </a:r>
            <a:endParaRPr lang="en-US" sz="2700" dirty="0"/>
          </a:p>
        </p:txBody>
      </p:sp>
      <p:graphicFrame>
        <p:nvGraphicFramePr>
          <p:cNvPr id="4" name="Table 3"/>
          <p:cNvGraphicFramePr>
            <a:graphicFrameLocks noGrp="1"/>
          </p:cNvGraphicFramePr>
          <p:nvPr/>
        </p:nvGraphicFramePr>
        <p:xfrm>
          <a:off x="457200" y="1280160"/>
          <a:ext cx="4846320" cy="2578608"/>
        </p:xfrm>
        <a:graphic>
          <a:graphicData uri="http://schemas.openxmlformats.org/drawingml/2006/table">
            <a:tbl>
              <a:tblPr>
                <a:tableStyleId>{2D5ABB26-0587-4C30-8999-92F81FD0307C}</a:tableStyleId>
              </a:tblPr>
              <a:tblGrid>
                <a:gridCol w="118872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2560320">
                  <a:extLst>
                    <a:ext uri="{9D8B030D-6E8A-4147-A177-3AD203B41FA5}">
                      <a16:colId xmlns:a16="http://schemas.microsoft.com/office/drawing/2014/main" val="20002"/>
                    </a:ext>
                  </a:extLst>
                </a:gridCol>
              </a:tblGrid>
              <a:tr h="292608">
                <a:tc>
                  <a:txBody>
                    <a:bodyPr/>
                    <a:lstStyle/>
                    <a:p>
                      <a:r>
                        <a:rPr sz="1050" b="1">
                          <a:solidFill>
                            <a:srgbClr val="FFFFFF"/>
                          </a:solidFill>
                          <a:latin typeface="Calibri"/>
                        </a:rPr>
                        <a:t>Parameter</a:t>
                      </a:r>
                    </a:p>
                  </a:txBody>
                  <a:tcPr marL="64008" marR="64008" marT="18288" marB="18288" anchor="ctr">
                    <a:lnL w="19050">
                      <a:solidFill>
                        <a:srgbClr val="FFFFFF"/>
                      </a:solidFill>
                    </a:lnL>
                    <a:lnR w="19050">
                      <a:solidFill>
                        <a:srgbClr val="FFFFFF"/>
                      </a:solidFill>
                    </a:lnR>
                    <a:lnT w="19050">
                      <a:solidFill>
                        <a:srgbClr val="FFFFFF"/>
                      </a:solidFill>
                    </a:lnT>
                    <a:lnB w="19050">
                      <a:solidFill>
                        <a:srgbClr val="FFFFFF"/>
                      </a:solidFill>
                    </a:lnB>
                    <a:solidFill>
                      <a:srgbClr val="028090"/>
                    </a:solidFill>
                  </a:tcPr>
                </a:tc>
                <a:tc>
                  <a:txBody>
                    <a:bodyPr/>
                    <a:lstStyle/>
                    <a:p>
                      <a:r>
                        <a:rPr sz="1050" b="1">
                          <a:solidFill>
                            <a:srgbClr val="FFFFFF"/>
                          </a:solidFill>
                          <a:latin typeface="Calibri"/>
                        </a:rPr>
                        <a:t>Over time?</a:t>
                      </a:r>
                    </a:p>
                  </a:txBody>
                  <a:tcPr marL="64008" marR="64008" marT="18288" marB="18288" anchor="ctr">
                    <a:lnL w="19050">
                      <a:solidFill>
                        <a:srgbClr val="FFFFFF"/>
                      </a:solidFill>
                    </a:lnL>
                    <a:lnR w="19050">
                      <a:solidFill>
                        <a:srgbClr val="FFFFFF"/>
                      </a:solidFill>
                    </a:lnR>
                    <a:lnT w="19050">
                      <a:solidFill>
                        <a:srgbClr val="FFFFFF"/>
                      </a:solidFill>
                    </a:lnT>
                    <a:lnB w="19050">
                      <a:solidFill>
                        <a:srgbClr val="FFFFFF"/>
                      </a:solidFill>
                    </a:lnB>
                    <a:solidFill>
                      <a:srgbClr val="028090"/>
                    </a:solidFill>
                  </a:tcPr>
                </a:tc>
                <a:tc>
                  <a:txBody>
                    <a:bodyPr/>
                    <a:lstStyle/>
                    <a:p>
                      <a:r>
                        <a:rPr sz="1050" b="1">
                          <a:solidFill>
                            <a:srgbClr val="FFFFFF"/>
                          </a:solidFill>
                          <a:latin typeface="Calibri"/>
                        </a:rPr>
                        <a:t>Why</a:t>
                      </a:r>
                    </a:p>
                  </a:txBody>
                  <a:tcPr marL="64008" marR="64008" marT="18288" marB="18288" anchor="ctr">
                    <a:lnL w="19050">
                      <a:solidFill>
                        <a:srgbClr val="FFFFFF"/>
                      </a:solidFill>
                    </a:lnL>
                    <a:lnR w="19050">
                      <a:solidFill>
                        <a:srgbClr val="FFFFFF"/>
                      </a:solidFill>
                    </a:lnR>
                    <a:lnT w="19050">
                      <a:solidFill>
                        <a:srgbClr val="FFFFFF"/>
                      </a:solidFill>
                    </a:lnT>
                    <a:lnB w="19050">
                      <a:solidFill>
                        <a:srgbClr val="FFFFFF"/>
                      </a:solidFill>
                    </a:lnB>
                    <a:solidFill>
                      <a:srgbClr val="028090"/>
                    </a:solidFill>
                  </a:tcPr>
                </a:tc>
                <a:extLst>
                  <a:ext uri="{0D108BD9-81ED-4DB2-BD59-A6C34878D82A}">
                    <a16:rowId xmlns:a16="http://schemas.microsoft.com/office/drawing/2014/main" val="10000"/>
                  </a:ext>
                </a:extLst>
              </a:tr>
              <a:tr h="457200">
                <a:tc>
                  <a:txBody>
                    <a:bodyPr/>
                    <a:lstStyle/>
                    <a:p>
                      <a:r>
                        <a:rPr sz="1000" b="1">
                          <a:solidFill>
                            <a:srgbClr val="16262B"/>
                          </a:solidFill>
                          <a:latin typeface="Calibri"/>
                        </a:rPr>
                        <a:t>Gauge</a:t>
                      </a:r>
                    </a:p>
                  </a:txBody>
                  <a:tcPr marL="64008" marR="64008" marT="18288" marB="18288" anchor="ctr">
                    <a:lnL w="19050">
                      <a:solidFill>
                        <a:srgbClr val="FFFFFF"/>
                      </a:solidFill>
                    </a:lnL>
                    <a:lnR w="19050">
                      <a:solidFill>
                        <a:srgbClr val="FFFFFF"/>
                      </a:solidFill>
                    </a:lnR>
                    <a:lnT w="19050">
                      <a:solidFill>
                        <a:srgbClr val="FFFFFF"/>
                      </a:solidFill>
                    </a:lnT>
                    <a:lnB w="19050">
                      <a:solidFill>
                        <a:srgbClr val="FFFFFF"/>
                      </a:solidFill>
                    </a:lnB>
                    <a:solidFill>
                      <a:srgbClr val="EDF5F5"/>
                    </a:solidFill>
                  </a:tcPr>
                </a:tc>
                <a:tc>
                  <a:txBody>
                    <a:bodyPr/>
                    <a:lstStyle/>
                    <a:p>
                      <a:r>
                        <a:rPr sz="1000" b="1">
                          <a:solidFill>
                            <a:srgbClr val="028090"/>
                          </a:solidFill>
                          <a:latin typeface="Calibri"/>
                        </a:rPr>
                        <a:t>Yes</a:t>
                      </a:r>
                    </a:p>
                  </a:txBody>
                  <a:tcPr marL="64008" marR="64008" marT="18288" marB="18288" anchor="ctr">
                    <a:lnL w="19050">
                      <a:solidFill>
                        <a:srgbClr val="FFFFFF"/>
                      </a:solidFill>
                    </a:lnL>
                    <a:lnR w="19050">
                      <a:solidFill>
                        <a:srgbClr val="FFFFFF"/>
                      </a:solidFill>
                    </a:lnR>
                    <a:lnT w="19050">
                      <a:solidFill>
                        <a:srgbClr val="FFFFFF"/>
                      </a:solidFill>
                    </a:lnT>
                    <a:lnB w="19050">
                      <a:solidFill>
                        <a:srgbClr val="FFFFFF"/>
                      </a:solidFill>
                    </a:lnB>
                    <a:solidFill>
                      <a:srgbClr val="EDF5F5"/>
                    </a:solidFill>
                  </a:tcPr>
                </a:tc>
                <a:tc>
                  <a:txBody>
                    <a:bodyPr/>
                    <a:lstStyle/>
                    <a:p>
                      <a:r>
                        <a:rPr sz="1000" b="0">
                          <a:solidFill>
                            <a:srgbClr val="16262B"/>
                          </a:solidFill>
                          <a:latin typeface="Calibri"/>
                        </a:rPr>
                        <a:t>Measured inside one cross-section, so it does not depend on positioning between runs</a:t>
                      </a:r>
                    </a:p>
                  </a:txBody>
                  <a:tcPr marL="64008" marR="64008" marT="18288" marB="18288" anchor="ctr">
                    <a:lnL w="19050">
                      <a:solidFill>
                        <a:srgbClr val="FFFFFF"/>
                      </a:solidFill>
                    </a:lnL>
                    <a:lnR w="19050">
                      <a:solidFill>
                        <a:srgbClr val="FFFFFF"/>
                      </a:solidFill>
                    </a:lnR>
                    <a:lnT w="19050">
                      <a:solidFill>
                        <a:srgbClr val="FFFFFF"/>
                      </a:solidFill>
                    </a:lnT>
                    <a:lnB w="19050">
                      <a:solidFill>
                        <a:srgbClr val="FFFFFF"/>
                      </a:solidFill>
                    </a:lnB>
                    <a:solidFill>
                      <a:srgbClr val="EDF5F5"/>
                    </a:solidFill>
                  </a:tcPr>
                </a:tc>
                <a:extLst>
                  <a:ext uri="{0D108BD9-81ED-4DB2-BD59-A6C34878D82A}">
                    <a16:rowId xmlns:a16="http://schemas.microsoft.com/office/drawing/2014/main" val="10001"/>
                  </a:ext>
                </a:extLst>
              </a:tr>
              <a:tr h="457200">
                <a:tc>
                  <a:txBody>
                    <a:bodyPr/>
                    <a:lstStyle/>
                    <a:p>
                      <a:r>
                        <a:rPr sz="1000" b="1">
                          <a:solidFill>
                            <a:srgbClr val="16262B"/>
                          </a:solidFill>
                          <a:latin typeface="Calibri"/>
                        </a:rPr>
                        <a:t>Alignment</a:t>
                      </a:r>
                    </a:p>
                  </a:txBody>
                  <a:tcPr marL="64008" marR="64008" marT="18288" marB="18288" anchor="ctr">
                    <a:lnL w="19050">
                      <a:solidFill>
                        <a:srgbClr val="FFFFFF"/>
                      </a:solidFill>
                    </a:lnL>
                    <a:lnR w="19050">
                      <a:solidFill>
                        <a:srgbClr val="FFFFFF"/>
                      </a:solidFill>
                    </a:lnR>
                    <a:lnT w="19050">
                      <a:solidFill>
                        <a:srgbClr val="FFFFFF"/>
                      </a:solidFill>
                    </a:lnT>
                    <a:lnB w="19050">
                      <a:solidFill>
                        <a:srgbClr val="FFFFFF"/>
                      </a:solidFill>
                    </a:lnB>
                    <a:solidFill>
                      <a:srgbClr val="FFFFFF"/>
                    </a:solidFill>
                  </a:tcPr>
                </a:tc>
                <a:tc>
                  <a:txBody>
                    <a:bodyPr/>
                    <a:lstStyle/>
                    <a:p>
                      <a:r>
                        <a:rPr sz="1000" b="1">
                          <a:solidFill>
                            <a:srgbClr val="028090"/>
                          </a:solidFill>
                          <a:latin typeface="Calibri"/>
                        </a:rPr>
                        <a:t>Yes, relative</a:t>
                      </a:r>
                    </a:p>
                  </a:txBody>
                  <a:tcPr marL="64008" marR="64008" marT="18288" marB="18288" anchor="ctr">
                    <a:lnL w="19050">
                      <a:solidFill>
                        <a:srgbClr val="FFFFFF"/>
                      </a:solidFill>
                    </a:lnL>
                    <a:lnR w="19050">
                      <a:solidFill>
                        <a:srgbClr val="FFFFFF"/>
                      </a:solidFill>
                    </a:lnR>
                    <a:lnT w="19050">
                      <a:solidFill>
                        <a:srgbClr val="FFFFFF"/>
                      </a:solidFill>
                    </a:lnT>
                    <a:lnB w="19050">
                      <a:solidFill>
                        <a:srgbClr val="FFFFFF"/>
                      </a:solidFill>
                    </a:lnB>
                    <a:solidFill>
                      <a:srgbClr val="FFFFFF"/>
                    </a:solidFill>
                  </a:tcPr>
                </a:tc>
                <a:tc>
                  <a:txBody>
                    <a:bodyPr/>
                    <a:lstStyle/>
                    <a:p>
                      <a:r>
                        <a:rPr sz="1000" b="0">
                          <a:solidFill>
                            <a:srgbClr val="16262B"/>
                          </a:solidFill>
                          <a:latin typeface="Calibri"/>
                        </a:rPr>
                        <a:t>Sideways offset from the shared reference frame; needs consistent positioning between runs</a:t>
                      </a:r>
                    </a:p>
                  </a:txBody>
                  <a:tcPr marL="64008" marR="64008" marT="18288" marB="18288" anchor="ctr">
                    <a:lnL w="19050">
                      <a:solidFill>
                        <a:srgbClr val="FFFFFF"/>
                      </a:solidFill>
                    </a:lnL>
                    <a:lnR w="19050">
                      <a:solidFill>
                        <a:srgbClr val="FFFFFF"/>
                      </a:solidFill>
                    </a:lnR>
                    <a:lnT w="19050">
                      <a:solidFill>
                        <a:srgbClr val="FFFFFF"/>
                      </a:solidFill>
                    </a:lnT>
                    <a:lnB w="19050">
                      <a:solidFill>
                        <a:srgbClr val="FFFFFF"/>
                      </a:solidFill>
                    </a:lnB>
                    <a:solidFill>
                      <a:srgbClr val="FFFFFF"/>
                    </a:solidFill>
                  </a:tcPr>
                </a:tc>
                <a:extLst>
                  <a:ext uri="{0D108BD9-81ED-4DB2-BD59-A6C34878D82A}">
                    <a16:rowId xmlns:a16="http://schemas.microsoft.com/office/drawing/2014/main" val="10002"/>
                  </a:ext>
                </a:extLst>
              </a:tr>
              <a:tr h="457200">
                <a:tc>
                  <a:txBody>
                    <a:bodyPr/>
                    <a:lstStyle/>
                    <a:p>
                      <a:r>
                        <a:rPr sz="1000" b="1">
                          <a:solidFill>
                            <a:srgbClr val="16262B"/>
                          </a:solidFill>
                          <a:latin typeface="Calibri"/>
                        </a:rPr>
                        <a:t>Height (Z)</a:t>
                      </a:r>
                    </a:p>
                  </a:txBody>
                  <a:tcPr marL="64008" marR="64008" marT="18288" marB="18288" anchor="ctr">
                    <a:lnL w="19050">
                      <a:solidFill>
                        <a:srgbClr val="FFFFFF"/>
                      </a:solidFill>
                    </a:lnL>
                    <a:lnR w="19050">
                      <a:solidFill>
                        <a:srgbClr val="FFFFFF"/>
                      </a:solidFill>
                    </a:lnR>
                    <a:lnT w="19050">
                      <a:solidFill>
                        <a:srgbClr val="FFFFFF"/>
                      </a:solidFill>
                    </a:lnT>
                    <a:lnB w="19050">
                      <a:solidFill>
                        <a:srgbClr val="FFFFFF"/>
                      </a:solidFill>
                    </a:lnB>
                    <a:solidFill>
                      <a:srgbClr val="EDF5F5"/>
                    </a:solidFill>
                  </a:tcPr>
                </a:tc>
                <a:tc>
                  <a:txBody>
                    <a:bodyPr/>
                    <a:lstStyle/>
                    <a:p>
                      <a:r>
                        <a:rPr sz="1000" b="1">
                          <a:solidFill>
                            <a:srgbClr val="028090"/>
                          </a:solidFill>
                          <a:latin typeface="Calibri"/>
                        </a:rPr>
                        <a:t>Yes, relative</a:t>
                      </a:r>
                    </a:p>
                  </a:txBody>
                  <a:tcPr marL="64008" marR="64008" marT="18288" marB="18288" anchor="ctr">
                    <a:lnL w="19050">
                      <a:solidFill>
                        <a:srgbClr val="FFFFFF"/>
                      </a:solidFill>
                    </a:lnL>
                    <a:lnR w="19050">
                      <a:solidFill>
                        <a:srgbClr val="FFFFFF"/>
                      </a:solidFill>
                    </a:lnR>
                    <a:lnT w="19050">
                      <a:solidFill>
                        <a:srgbClr val="FFFFFF"/>
                      </a:solidFill>
                    </a:lnT>
                    <a:lnB w="19050">
                      <a:solidFill>
                        <a:srgbClr val="FFFFFF"/>
                      </a:solidFill>
                    </a:lnB>
                    <a:solidFill>
                      <a:srgbClr val="EDF5F5"/>
                    </a:solidFill>
                  </a:tcPr>
                </a:tc>
                <a:tc>
                  <a:txBody>
                    <a:bodyPr/>
                    <a:lstStyle/>
                    <a:p>
                      <a:r>
                        <a:rPr sz="1000" b="0">
                          <a:solidFill>
                            <a:srgbClr val="16262B"/>
                          </a:solidFill>
                          <a:latin typeface="Calibri"/>
                        </a:rPr>
                        <a:t>The LiDAR height Z as it is, relative to the sensor: shows change against the neighbouring track</a:t>
                      </a:r>
                    </a:p>
                  </a:txBody>
                  <a:tcPr marL="64008" marR="64008" marT="18288" marB="18288" anchor="ctr">
                    <a:lnL w="19050">
                      <a:solidFill>
                        <a:srgbClr val="FFFFFF"/>
                      </a:solidFill>
                    </a:lnL>
                    <a:lnR w="19050">
                      <a:solidFill>
                        <a:srgbClr val="FFFFFF"/>
                      </a:solidFill>
                    </a:lnR>
                    <a:lnT w="19050">
                      <a:solidFill>
                        <a:srgbClr val="FFFFFF"/>
                      </a:solidFill>
                    </a:lnT>
                    <a:lnB w="19050">
                      <a:solidFill>
                        <a:srgbClr val="FFFFFF"/>
                      </a:solidFill>
                    </a:lnB>
                    <a:solidFill>
                      <a:srgbClr val="EDF5F5"/>
                    </a:solidFill>
                  </a:tcPr>
                </a:tc>
                <a:extLst>
                  <a:ext uri="{0D108BD9-81ED-4DB2-BD59-A6C34878D82A}">
                    <a16:rowId xmlns:a16="http://schemas.microsoft.com/office/drawing/2014/main" val="10003"/>
                  </a:ext>
                </a:extLst>
              </a:tr>
              <a:tr h="457200">
                <a:tc>
                  <a:txBody>
                    <a:bodyPr/>
                    <a:lstStyle/>
                    <a:p>
                      <a:r>
                        <a:rPr sz="1000" b="1">
                          <a:solidFill>
                            <a:srgbClr val="16262B"/>
                          </a:solidFill>
                          <a:latin typeface="Calibri"/>
                        </a:rPr>
                        <a:t>Cross-level, twist, surface</a:t>
                      </a:r>
                    </a:p>
                  </a:txBody>
                  <a:tcPr marL="64008" marR="64008" marT="18288" marB="18288" anchor="ctr">
                    <a:lnL w="19050">
                      <a:solidFill>
                        <a:srgbClr val="FFFFFF"/>
                      </a:solidFill>
                    </a:lnL>
                    <a:lnR w="19050">
                      <a:solidFill>
                        <a:srgbClr val="FFFFFF"/>
                      </a:solidFill>
                    </a:lnR>
                    <a:lnT w="19050">
                      <a:solidFill>
                        <a:srgbClr val="FFFFFF"/>
                      </a:solidFill>
                    </a:lnT>
                    <a:lnB w="19050">
                      <a:solidFill>
                        <a:srgbClr val="FFFFFF"/>
                      </a:solidFill>
                    </a:lnB>
                    <a:solidFill>
                      <a:srgbClr val="FFFFFF"/>
                    </a:solidFill>
                  </a:tcPr>
                </a:tc>
                <a:tc>
                  <a:txBody>
                    <a:bodyPr/>
                    <a:lstStyle/>
                    <a:p>
                      <a:r>
                        <a:rPr sz="1000" b="1">
                          <a:solidFill>
                            <a:srgbClr val="D9822B"/>
                          </a:solidFill>
                          <a:latin typeface="Calibri"/>
                        </a:rPr>
                        <a:t>No</a:t>
                      </a:r>
                    </a:p>
                  </a:txBody>
                  <a:tcPr marL="64008" marR="64008" marT="18288" marB="18288" anchor="ctr">
                    <a:lnL w="19050">
                      <a:solidFill>
                        <a:srgbClr val="FFFFFF"/>
                      </a:solidFill>
                    </a:lnL>
                    <a:lnR w="19050">
                      <a:solidFill>
                        <a:srgbClr val="FFFFFF"/>
                      </a:solidFill>
                    </a:lnR>
                    <a:lnT w="19050">
                      <a:solidFill>
                        <a:srgbClr val="FFFFFF"/>
                      </a:solidFill>
                    </a:lnT>
                    <a:lnB w="19050">
                      <a:solidFill>
                        <a:srgbClr val="FFFFFF"/>
                      </a:solidFill>
                    </a:lnB>
                    <a:solidFill>
                      <a:srgbClr val="FFFFFF"/>
                    </a:solidFill>
                  </a:tcPr>
                </a:tc>
                <a:tc>
                  <a:txBody>
                    <a:bodyPr/>
                    <a:lstStyle/>
                    <a:p>
                      <a:r>
                        <a:rPr sz="1000" b="0">
                          <a:solidFill>
                            <a:srgbClr val="16262B"/>
                          </a:solidFill>
                          <a:latin typeface="Calibri"/>
                        </a:rPr>
                        <a:t>The rails keep the same height and roll relative to the sensor; roll and elevation are needed</a:t>
                      </a:r>
                    </a:p>
                  </a:txBody>
                  <a:tcPr marL="64008" marR="64008" marT="18288" marB="18288" anchor="ctr">
                    <a:lnL w="19050">
                      <a:solidFill>
                        <a:srgbClr val="FFFFFF"/>
                      </a:solidFill>
                    </a:lnL>
                    <a:lnR w="19050">
                      <a:solidFill>
                        <a:srgbClr val="FFFFFF"/>
                      </a:solidFill>
                    </a:lnR>
                    <a:lnT w="19050">
                      <a:solidFill>
                        <a:srgbClr val="FFFFFF"/>
                      </a:solidFill>
                    </a:lnT>
                    <a:lnB w="19050">
                      <a:solidFill>
                        <a:srgbClr val="FFFFFF"/>
                      </a:solidFill>
                    </a:lnB>
                    <a:solidFill>
                      <a:srgbClr val="FFFFFF"/>
                    </a:solidFill>
                  </a:tcPr>
                </a:tc>
                <a:extLst>
                  <a:ext uri="{0D108BD9-81ED-4DB2-BD59-A6C34878D82A}">
                    <a16:rowId xmlns:a16="http://schemas.microsoft.com/office/drawing/2014/main" val="10004"/>
                  </a:ext>
                </a:extLst>
              </a:tr>
              <a:tr h="457200">
                <a:tc>
                  <a:txBody>
                    <a:bodyPr/>
                    <a:lstStyle/>
                    <a:p>
                      <a:r>
                        <a:rPr sz="1000" b="1">
                          <a:solidFill>
                            <a:srgbClr val="16262B"/>
                          </a:solidFill>
                          <a:latin typeface="Calibri"/>
                        </a:rPr>
                        <a:t>Cant</a:t>
                      </a:r>
                    </a:p>
                  </a:txBody>
                  <a:tcPr marL="64008" marR="64008" marT="18288" marB="18288" anchor="ctr">
                    <a:lnL w="19050">
                      <a:solidFill>
                        <a:srgbClr val="FFFFFF"/>
                      </a:solidFill>
                    </a:lnL>
                    <a:lnR w="19050">
                      <a:solidFill>
                        <a:srgbClr val="FFFFFF"/>
                      </a:solidFill>
                    </a:lnR>
                    <a:lnT w="19050">
                      <a:solidFill>
                        <a:srgbClr val="FFFFFF"/>
                      </a:solidFill>
                    </a:lnT>
                    <a:lnB w="19050">
                      <a:solidFill>
                        <a:srgbClr val="FFFFFF"/>
                      </a:solidFill>
                    </a:lnB>
                    <a:solidFill>
                      <a:srgbClr val="EDF5F5"/>
                    </a:solidFill>
                  </a:tcPr>
                </a:tc>
                <a:tc>
                  <a:txBody>
                    <a:bodyPr/>
                    <a:lstStyle/>
                    <a:p>
                      <a:r>
                        <a:rPr sz="1000" b="1">
                          <a:solidFill>
                            <a:srgbClr val="D9822B"/>
                          </a:solidFill>
                          <a:latin typeface="Calibri"/>
                        </a:rPr>
                        <a:t>No</a:t>
                      </a:r>
                    </a:p>
                  </a:txBody>
                  <a:tcPr marL="64008" marR="64008" marT="18288" marB="18288" anchor="ctr">
                    <a:lnL w="19050">
                      <a:solidFill>
                        <a:srgbClr val="FFFFFF"/>
                      </a:solidFill>
                    </a:lnL>
                    <a:lnR w="19050">
                      <a:solidFill>
                        <a:srgbClr val="FFFFFF"/>
                      </a:solidFill>
                    </a:lnR>
                    <a:lnT w="19050">
                      <a:solidFill>
                        <a:srgbClr val="FFFFFF"/>
                      </a:solidFill>
                    </a:lnT>
                    <a:lnB w="19050">
                      <a:solidFill>
                        <a:srgbClr val="FFFFFF"/>
                      </a:solidFill>
                    </a:lnB>
                    <a:solidFill>
                      <a:srgbClr val="EDF5F5"/>
                    </a:solidFill>
                  </a:tcPr>
                </a:tc>
                <a:tc>
                  <a:txBody>
                    <a:bodyPr/>
                    <a:lstStyle/>
                    <a:p>
                      <a:r>
                        <a:rPr sz="1000" b="0">
                          <a:solidFill>
                            <a:srgbClr val="16262B"/>
                          </a:solidFill>
                          <a:latin typeface="Calibri"/>
                        </a:rPr>
                        <a:t>Needs cross-level and the designed values</a:t>
                      </a:r>
                    </a:p>
                  </a:txBody>
                  <a:tcPr marL="64008" marR="64008" marT="18288" marB="18288" anchor="ctr">
                    <a:lnL w="19050">
                      <a:solidFill>
                        <a:srgbClr val="FFFFFF"/>
                      </a:solidFill>
                    </a:lnL>
                    <a:lnR w="19050">
                      <a:solidFill>
                        <a:srgbClr val="FFFFFF"/>
                      </a:solidFill>
                    </a:lnR>
                    <a:lnT w="19050">
                      <a:solidFill>
                        <a:srgbClr val="FFFFFF"/>
                      </a:solidFill>
                    </a:lnT>
                    <a:lnB w="19050">
                      <a:solidFill>
                        <a:srgbClr val="FFFFFF"/>
                      </a:solidFill>
                    </a:lnB>
                    <a:solidFill>
                      <a:srgbClr val="EDF5F5"/>
                    </a:solidFill>
                  </a:tcPr>
                </a:tc>
                <a:extLst>
                  <a:ext uri="{0D108BD9-81ED-4DB2-BD59-A6C34878D82A}">
                    <a16:rowId xmlns:a16="http://schemas.microsoft.com/office/drawing/2014/main" val="10005"/>
                  </a:ext>
                </a:extLst>
              </a:tr>
            </a:tbl>
          </a:graphicData>
        </a:graphic>
      </p:graphicFrame>
      <p:pic>
        <p:nvPicPr>
          <p:cNvPr id="5" name="Picture 4" descr="f5_rail_height.png"/>
          <p:cNvPicPr>
            <a:picLocks noChangeAspect="1"/>
          </p:cNvPicPr>
          <p:nvPr/>
        </p:nvPicPr>
        <p:blipFill>
          <a:blip r:embed="rId2"/>
          <a:stretch>
            <a:fillRect/>
          </a:stretch>
        </p:blipFill>
        <p:spPr>
          <a:xfrm>
            <a:off x="5486400" y="1280160"/>
            <a:ext cx="3200400" cy="1891145"/>
          </a:xfrm>
          <a:prstGeom prst="rect">
            <a:avLst/>
          </a:prstGeom>
        </p:spPr>
      </p:pic>
      <p:sp>
        <p:nvSpPr>
          <p:cNvPr id="6" name="Text 3"/>
          <p:cNvSpPr txBox="1"/>
          <p:nvPr/>
        </p:nvSpPr>
        <p:spPr>
          <a:xfrm>
            <a:off x="5486400" y="3246120"/>
            <a:ext cx="3200400" cy="548640"/>
          </a:xfrm>
          <a:prstGeom prst="rect">
            <a:avLst/>
          </a:prstGeom>
          <a:noFill/>
          <a:ln/>
        </p:spPr>
        <p:txBody>
          <a:bodyPr wrap="square" lIns="0" tIns="0" rIns="0" bIns="0" rtlCol="0" anchor="ctr"/>
          <a:lstStyle/>
          <a:p>
            <a:pPr marL="0" indent="0">
              <a:buNone/>
            </a:pPr>
            <a:r>
              <a:rPr lang="en-US" sz="950" i="1" dirty="0">
                <a:solidFill>
                  <a:srgbClr val="5F7178"/>
                </a:solidFill>
                <a:latin typeface="Calibri" pitchFamily="34" charset="0"/>
                <a:ea typeface="Calibri" pitchFamily="34" charset="-122"/>
                <a:cs typeface="Calibri" pitchFamily="34" charset="-120"/>
              </a:rPr>
              <a:t>Rail-head height along the scan. The neighbouring track moves about 28 cm relative to the LiDAR; the LiDAR’s own rails move 3 mm.</a:t>
            </a:r>
            <a:endParaRPr lang="en-US" sz="950" dirty="0"/>
          </a:p>
        </p:txBody>
      </p:sp>
      <p:sp>
        <p:nvSpPr>
          <p:cNvPr id="7" name="Shape 16"/>
          <p:cNvSpPr/>
          <p:nvPr/>
        </p:nvSpPr>
        <p:spPr>
          <a:xfrm>
            <a:off x="457200" y="4114800"/>
            <a:ext cx="8229600" cy="530352"/>
          </a:xfrm>
          <a:prstGeom prst="roundRect">
            <a:avLst>
              <a:gd name="adj" fmla="val 9091"/>
            </a:avLst>
          </a:prstGeom>
          <a:solidFill>
            <a:srgbClr val="0B2027"/>
          </a:solidFill>
          <a:ln w="12700">
            <a:solidFill>
              <a:srgbClr val="0B2027"/>
            </a:solidFill>
            <a:prstDash val="solid"/>
          </a:ln>
        </p:spPr>
        <p:txBody>
          <a:bodyPr/>
          <a:lstStyle/>
          <a:p>
            <a:endParaRPr lang="sv-SE"/>
          </a:p>
        </p:txBody>
      </p:sp>
      <p:sp>
        <p:nvSpPr>
          <p:cNvPr id="8" name="Text 17"/>
          <p:cNvSpPr txBox="1"/>
          <p:nvPr/>
        </p:nvSpPr>
        <p:spPr>
          <a:xfrm>
            <a:off x="731520" y="4114800"/>
            <a:ext cx="7680960" cy="530352"/>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Gauge, relative alignment and relative height can be followed over time. Cross-level, twist, surface and cant cannot.</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ctr"/>
          <a:lstStyle/>
          <a:p>
            <a:pPr marL="0" indent="0">
              <a:buNone/>
            </a:pPr>
            <a:r>
              <a:rPr lang="en-US" sz="1100" b="1" kern="0" spc="200" dirty="0">
                <a:solidFill>
                  <a:srgbClr val="028090"/>
                </a:solidFill>
                <a:latin typeface="Calibri" pitchFamily="34" charset="0"/>
                <a:ea typeface="Calibri" pitchFamily="34" charset="-122"/>
                <a:cs typeface="Calibri" pitchFamily="34" charset="-120"/>
              </a:rPr>
              <a:t>TIME SERIES</a:t>
            </a:r>
            <a:endParaRPr lang="en-US" sz="11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marL="0" indent="0">
              <a:buNone/>
            </a:pPr>
            <a:r>
              <a:rPr lang="en-US" sz="2700" b="1" dirty="0">
                <a:solidFill>
                  <a:srgbClr val="16262B"/>
                </a:solidFill>
                <a:latin typeface="Cambria" pitchFamily="34" charset="0"/>
                <a:ea typeface="Cambria" pitchFamily="34" charset="-122"/>
                <a:cs typeface="Cambria" pitchFamily="34" charset="-120"/>
              </a:rPr>
              <a:t>From one table to a time series</a:t>
            </a:r>
            <a:endParaRPr lang="en-US" sz="2700" dirty="0"/>
          </a:p>
        </p:txBody>
      </p:sp>
      <p:graphicFrame>
        <p:nvGraphicFramePr>
          <p:cNvPr id="4" name="Table 3"/>
          <p:cNvGraphicFramePr>
            <a:graphicFrameLocks noGrp="1"/>
          </p:cNvGraphicFramePr>
          <p:nvPr/>
        </p:nvGraphicFramePr>
        <p:xfrm>
          <a:off x="457200" y="1234440"/>
          <a:ext cx="5120640" cy="2514600"/>
        </p:xfrm>
        <a:graphic>
          <a:graphicData uri="http://schemas.openxmlformats.org/drawingml/2006/table">
            <a:tbl>
              <a:tblPr>
                <a:tableStyleId>{2D5ABB26-0587-4C30-8999-92F81FD0307C}</a:tableStyleId>
              </a:tblPr>
              <a:tblGrid>
                <a:gridCol w="594360">
                  <a:extLst>
                    <a:ext uri="{9D8B030D-6E8A-4147-A177-3AD203B41FA5}">
                      <a16:colId xmlns:a16="http://schemas.microsoft.com/office/drawing/2014/main" val="20000"/>
                    </a:ext>
                  </a:extLst>
                </a:gridCol>
                <a:gridCol w="105156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777240">
                  <a:extLst>
                    <a:ext uri="{9D8B030D-6E8A-4147-A177-3AD203B41FA5}">
                      <a16:colId xmlns:a16="http://schemas.microsoft.com/office/drawing/2014/main" val="20003"/>
                    </a:ext>
                  </a:extLst>
                </a:gridCol>
                <a:gridCol w="594360">
                  <a:extLst>
                    <a:ext uri="{9D8B030D-6E8A-4147-A177-3AD203B41FA5}">
                      <a16:colId xmlns:a16="http://schemas.microsoft.com/office/drawing/2014/main" val="20004"/>
                    </a:ext>
                  </a:extLst>
                </a:gridCol>
                <a:gridCol w="594360">
                  <a:extLst>
                    <a:ext uri="{9D8B030D-6E8A-4147-A177-3AD203B41FA5}">
                      <a16:colId xmlns:a16="http://schemas.microsoft.com/office/drawing/2014/main" val="20005"/>
                    </a:ext>
                  </a:extLst>
                </a:gridCol>
                <a:gridCol w="594360">
                  <a:extLst>
                    <a:ext uri="{9D8B030D-6E8A-4147-A177-3AD203B41FA5}">
                      <a16:colId xmlns:a16="http://schemas.microsoft.com/office/drawing/2014/main" val="20006"/>
                    </a:ext>
                  </a:extLst>
                </a:gridCol>
              </a:tblGrid>
              <a:tr h="228600">
                <a:tc>
                  <a:txBody>
                    <a:bodyPr/>
                    <a:lstStyle/>
                    <a:p>
                      <a:r>
                        <a:rPr sz="950" b="1">
                          <a:solidFill>
                            <a:srgbClr val="FFFFFF"/>
                          </a:solidFill>
                          <a:latin typeface="Calibri"/>
                        </a:rPr>
                        <a:t>Section</a:t>
                      </a:r>
                    </a:p>
                  </a:txBody>
                  <a:tcPr marL="64008" marR="64008" marT="18288" marB="18288" anchor="ctr">
                    <a:lnL w="19050">
                      <a:solidFill>
                        <a:srgbClr val="FFFFFF"/>
                      </a:solidFill>
                    </a:lnL>
                    <a:lnR w="19050">
                      <a:solidFill>
                        <a:srgbClr val="FFFFFF"/>
                      </a:solidFill>
                    </a:lnR>
                    <a:lnT w="19050">
                      <a:solidFill>
                        <a:srgbClr val="FFFFFF"/>
                      </a:solidFill>
                    </a:lnT>
                    <a:lnB w="19050">
                      <a:solidFill>
                        <a:srgbClr val="FFFFFF"/>
                      </a:solidFill>
                    </a:lnB>
                    <a:solidFill>
                      <a:srgbClr val="028090"/>
                    </a:solidFill>
                  </a:tcPr>
                </a:tc>
                <a:tc>
                  <a:txBody>
                    <a:bodyPr/>
                    <a:lstStyle/>
                    <a:p>
                      <a:r>
                        <a:rPr sz="950" b="1">
                          <a:solidFill>
                            <a:srgbClr val="FFFFFF"/>
                          </a:solidFill>
                          <a:latin typeface="Calibri"/>
                        </a:rPr>
                        <a:t>s range (m)</a:t>
                      </a:r>
                    </a:p>
                  </a:txBody>
                  <a:tcPr marL="64008" marR="64008" marT="18288" marB="18288" anchor="ctr">
                    <a:lnL w="19050">
                      <a:solidFill>
                        <a:srgbClr val="FFFFFF"/>
                      </a:solidFill>
                    </a:lnL>
                    <a:lnR w="19050">
                      <a:solidFill>
                        <a:srgbClr val="FFFFFF"/>
                      </a:solidFill>
                    </a:lnR>
                    <a:lnT w="19050">
                      <a:solidFill>
                        <a:srgbClr val="FFFFFF"/>
                      </a:solidFill>
                    </a:lnT>
                    <a:lnB w="19050">
                      <a:solidFill>
                        <a:srgbClr val="FFFFFF"/>
                      </a:solidFill>
                    </a:lnB>
                    <a:solidFill>
                      <a:srgbClr val="028090"/>
                    </a:solidFill>
                  </a:tcPr>
                </a:tc>
                <a:tc>
                  <a:txBody>
                    <a:bodyPr/>
                    <a:lstStyle/>
                    <a:p>
                      <a:r>
                        <a:rPr sz="950" b="1">
                          <a:solidFill>
                            <a:srgbClr val="FFFFFF"/>
                          </a:solidFill>
                          <a:latin typeface="Calibri"/>
                        </a:rPr>
                        <a:t>Run 1 gauge</a:t>
                      </a:r>
                    </a:p>
                  </a:txBody>
                  <a:tcPr marL="64008" marR="64008" marT="18288" marB="18288" anchor="ctr">
                    <a:lnL w="19050">
                      <a:solidFill>
                        <a:srgbClr val="FFFFFF"/>
                      </a:solidFill>
                    </a:lnL>
                    <a:lnR w="19050">
                      <a:solidFill>
                        <a:srgbClr val="FFFFFF"/>
                      </a:solidFill>
                    </a:lnR>
                    <a:lnT w="19050">
                      <a:solidFill>
                        <a:srgbClr val="FFFFFF"/>
                      </a:solidFill>
                    </a:lnT>
                    <a:lnB w="19050">
                      <a:solidFill>
                        <a:srgbClr val="FFFFFF"/>
                      </a:solidFill>
                    </a:lnB>
                    <a:solidFill>
                      <a:srgbClr val="028090"/>
                    </a:solidFill>
                  </a:tcPr>
                </a:tc>
                <a:tc>
                  <a:txBody>
                    <a:bodyPr/>
                    <a:lstStyle/>
                    <a:p>
                      <a:r>
                        <a:rPr sz="950" b="1">
                          <a:solidFill>
                            <a:srgbClr val="FFFFFF"/>
                          </a:solidFill>
                          <a:latin typeface="Calibri"/>
                        </a:rPr>
                        <a:t>Run 1 TQI</a:t>
                      </a:r>
                    </a:p>
                  </a:txBody>
                  <a:tcPr marL="64008" marR="64008" marT="18288" marB="18288" anchor="ctr">
                    <a:lnL w="19050">
                      <a:solidFill>
                        <a:srgbClr val="FFFFFF"/>
                      </a:solidFill>
                    </a:lnL>
                    <a:lnR w="19050">
                      <a:solidFill>
                        <a:srgbClr val="FFFFFF"/>
                      </a:solidFill>
                    </a:lnR>
                    <a:lnT w="19050">
                      <a:solidFill>
                        <a:srgbClr val="FFFFFF"/>
                      </a:solidFill>
                    </a:lnT>
                    <a:lnB w="19050">
                      <a:solidFill>
                        <a:srgbClr val="FFFFFF"/>
                      </a:solidFill>
                    </a:lnB>
                    <a:solidFill>
                      <a:srgbClr val="028090"/>
                    </a:solidFill>
                  </a:tcPr>
                </a:tc>
                <a:tc>
                  <a:txBody>
                    <a:bodyPr/>
                    <a:lstStyle/>
                    <a:p>
                      <a:r>
                        <a:rPr sz="950" b="1">
                          <a:solidFill>
                            <a:srgbClr val="FFFFFF"/>
                          </a:solidFill>
                          <a:latin typeface="Calibri"/>
                        </a:rPr>
                        <a:t>Run 2</a:t>
                      </a:r>
                    </a:p>
                  </a:txBody>
                  <a:tcPr marL="64008" marR="64008" marT="18288" marB="18288" anchor="ctr">
                    <a:lnL w="19050">
                      <a:solidFill>
                        <a:srgbClr val="FFFFFF"/>
                      </a:solidFill>
                    </a:lnL>
                    <a:lnR w="19050">
                      <a:solidFill>
                        <a:srgbClr val="FFFFFF"/>
                      </a:solidFill>
                    </a:lnR>
                    <a:lnT w="19050">
                      <a:solidFill>
                        <a:srgbClr val="FFFFFF"/>
                      </a:solidFill>
                    </a:lnT>
                    <a:lnB w="19050">
                      <a:solidFill>
                        <a:srgbClr val="FFFFFF"/>
                      </a:solidFill>
                    </a:lnB>
                    <a:solidFill>
                      <a:srgbClr val="028090"/>
                    </a:solidFill>
                  </a:tcPr>
                </a:tc>
                <a:tc>
                  <a:txBody>
                    <a:bodyPr/>
                    <a:lstStyle/>
                    <a:p>
                      <a:r>
                        <a:rPr sz="950" b="1">
                          <a:solidFill>
                            <a:srgbClr val="FFFFFF"/>
                          </a:solidFill>
                          <a:latin typeface="Calibri"/>
                        </a:rPr>
                        <a:t>Run 3</a:t>
                      </a:r>
                    </a:p>
                  </a:txBody>
                  <a:tcPr marL="64008" marR="64008" marT="18288" marB="18288" anchor="ctr">
                    <a:lnL w="19050">
                      <a:solidFill>
                        <a:srgbClr val="FFFFFF"/>
                      </a:solidFill>
                    </a:lnL>
                    <a:lnR w="19050">
                      <a:solidFill>
                        <a:srgbClr val="FFFFFF"/>
                      </a:solidFill>
                    </a:lnR>
                    <a:lnT w="19050">
                      <a:solidFill>
                        <a:srgbClr val="FFFFFF"/>
                      </a:solidFill>
                    </a:lnT>
                    <a:lnB w="19050">
                      <a:solidFill>
                        <a:srgbClr val="FFFFFF"/>
                      </a:solidFill>
                    </a:lnB>
                    <a:solidFill>
                      <a:srgbClr val="028090"/>
                    </a:solidFill>
                  </a:tcPr>
                </a:tc>
                <a:tc>
                  <a:txBody>
                    <a:bodyPr/>
                    <a:lstStyle/>
                    <a:p>
                      <a:r>
                        <a:rPr sz="950" b="1">
                          <a:solidFill>
                            <a:srgbClr val="FFFFFF"/>
                          </a:solidFill>
                          <a:latin typeface="Calibri"/>
                        </a:rPr>
                        <a:t>Run n</a:t>
                      </a:r>
                    </a:p>
                  </a:txBody>
                  <a:tcPr marL="64008" marR="64008" marT="18288" marB="18288" anchor="ctr">
                    <a:lnL w="19050">
                      <a:solidFill>
                        <a:srgbClr val="FFFFFF"/>
                      </a:solidFill>
                    </a:lnL>
                    <a:lnR w="19050">
                      <a:solidFill>
                        <a:srgbClr val="FFFFFF"/>
                      </a:solidFill>
                    </a:lnR>
                    <a:lnT w="19050">
                      <a:solidFill>
                        <a:srgbClr val="FFFFFF"/>
                      </a:solidFill>
                    </a:lnT>
                    <a:lnB w="19050">
                      <a:solidFill>
                        <a:srgbClr val="FFFFFF"/>
                      </a:solidFill>
                    </a:lnB>
                    <a:solidFill>
                      <a:srgbClr val="028090"/>
                    </a:solidFill>
                  </a:tcPr>
                </a:tc>
                <a:extLst>
                  <a:ext uri="{0D108BD9-81ED-4DB2-BD59-A6C34878D82A}">
                    <a16:rowId xmlns:a16="http://schemas.microsoft.com/office/drawing/2014/main" val="10000"/>
                  </a:ext>
                </a:extLst>
              </a:tr>
              <a:tr h="228600">
                <a:tc>
                  <a:txBody>
                    <a:bodyPr/>
                    <a:lstStyle/>
                    <a:p>
                      <a:r>
                        <a:rPr sz="1000" b="1">
                          <a:solidFill>
                            <a:srgbClr val="16262B"/>
                          </a:solidFill>
                          <a:latin typeface="Calibri"/>
                        </a:rPr>
                        <a:t>1</a:t>
                      </a:r>
                    </a:p>
                  </a:txBody>
                  <a:tcPr marL="64008" marR="64008" marT="18288" marB="18288" anchor="ctr">
                    <a:lnL w="19050">
                      <a:solidFill>
                        <a:srgbClr val="FFFFFF"/>
                      </a:solidFill>
                    </a:lnL>
                    <a:lnR w="19050">
                      <a:solidFill>
                        <a:srgbClr val="FFFFFF"/>
                      </a:solidFill>
                    </a:lnR>
                    <a:lnT w="19050">
                      <a:solidFill>
                        <a:srgbClr val="FFFFFF"/>
                      </a:solidFill>
                    </a:lnT>
                    <a:lnB w="19050">
                      <a:solidFill>
                        <a:srgbClr val="FFFFFF"/>
                      </a:solidFill>
                    </a:lnB>
                    <a:solidFill>
                      <a:srgbClr val="EDF5F5"/>
                    </a:solidFill>
                  </a:tcPr>
                </a:tc>
                <a:tc>
                  <a:txBody>
                    <a:bodyPr/>
                    <a:lstStyle/>
                    <a:p>
                      <a:r>
                        <a:rPr sz="1000" b="0">
                          <a:solidFill>
                            <a:srgbClr val="16262B"/>
                          </a:solidFill>
                          <a:latin typeface="Calibri"/>
                        </a:rPr>
                        <a:t>0 to 25</a:t>
                      </a:r>
                    </a:p>
                  </a:txBody>
                  <a:tcPr marL="64008" marR="64008" marT="18288" marB="18288" anchor="ctr">
                    <a:lnL w="19050">
                      <a:solidFill>
                        <a:srgbClr val="FFFFFF"/>
                      </a:solidFill>
                    </a:lnL>
                    <a:lnR w="19050">
                      <a:solidFill>
                        <a:srgbClr val="FFFFFF"/>
                      </a:solidFill>
                    </a:lnR>
                    <a:lnT w="19050">
                      <a:solidFill>
                        <a:srgbClr val="FFFFFF"/>
                      </a:solidFill>
                    </a:lnT>
                    <a:lnB w="19050">
                      <a:solidFill>
                        <a:srgbClr val="FFFFFF"/>
                      </a:solidFill>
                    </a:lnB>
                    <a:solidFill>
                      <a:srgbClr val="EDF5F5"/>
                    </a:solidFill>
                  </a:tcPr>
                </a:tc>
                <a:tc>
                  <a:txBody>
                    <a:bodyPr/>
                    <a:lstStyle/>
                    <a:p>
                      <a:r>
                        <a:rPr sz="1000" b="0">
                          <a:solidFill>
                            <a:srgbClr val="16262B"/>
                          </a:solidFill>
                          <a:latin typeface="Calibri"/>
                        </a:rPr>
                        <a:t>−2.6</a:t>
                      </a:r>
                    </a:p>
                  </a:txBody>
                  <a:tcPr marL="64008" marR="64008" marT="18288" marB="18288" anchor="ctr">
                    <a:lnL w="19050">
                      <a:solidFill>
                        <a:srgbClr val="FFFFFF"/>
                      </a:solidFill>
                    </a:lnL>
                    <a:lnR w="19050">
                      <a:solidFill>
                        <a:srgbClr val="FFFFFF"/>
                      </a:solidFill>
                    </a:lnR>
                    <a:lnT w="19050">
                      <a:solidFill>
                        <a:srgbClr val="FFFFFF"/>
                      </a:solidFill>
                    </a:lnT>
                    <a:lnB w="19050">
                      <a:solidFill>
                        <a:srgbClr val="FFFFFF"/>
                      </a:solidFill>
                    </a:lnB>
                    <a:solidFill>
                      <a:srgbClr val="EDF5F5"/>
                    </a:solidFill>
                  </a:tcPr>
                </a:tc>
                <a:tc>
                  <a:txBody>
                    <a:bodyPr/>
                    <a:lstStyle/>
                    <a:p>
                      <a:r>
                        <a:rPr sz="1000" b="0">
                          <a:solidFill>
                            <a:srgbClr val="16262B"/>
                          </a:solidFill>
                          <a:latin typeface="Calibri"/>
                        </a:rPr>
                        <a:t>0.85</a:t>
                      </a:r>
                    </a:p>
                  </a:txBody>
                  <a:tcPr marL="64008" marR="64008" marT="18288" marB="18288" anchor="ctr">
                    <a:lnL w="19050">
                      <a:solidFill>
                        <a:srgbClr val="FFFFFF"/>
                      </a:solidFill>
                    </a:lnL>
                    <a:lnR w="19050">
                      <a:solidFill>
                        <a:srgbClr val="FFFFFF"/>
                      </a:solidFill>
                    </a:lnR>
                    <a:lnT w="19050">
                      <a:solidFill>
                        <a:srgbClr val="FFFFFF"/>
                      </a:solidFill>
                    </a:lnT>
                    <a:lnB w="19050">
                      <a:solidFill>
                        <a:srgbClr val="FFFFFF"/>
                      </a:solidFill>
                    </a:lnB>
                    <a:solidFill>
                      <a:srgbClr val="EDF5F5"/>
                    </a:solidFill>
                  </a:tcPr>
                </a:tc>
                <a:tc>
                  <a:txBody>
                    <a:bodyPr/>
                    <a:lstStyle/>
                    <a:p>
                      <a:r>
                        <a:rPr sz="1000" b="0">
                          <a:solidFill>
                            <a:srgbClr val="9AA9AD"/>
                          </a:solidFill>
                          <a:latin typeface="Calibri"/>
                        </a:rPr>
                        <a:t>–</a:t>
                      </a:r>
                    </a:p>
                  </a:txBody>
                  <a:tcPr marL="64008" marR="64008" marT="18288" marB="18288" anchor="ctr">
                    <a:lnL w="19050">
                      <a:solidFill>
                        <a:srgbClr val="FFFFFF"/>
                      </a:solidFill>
                    </a:lnL>
                    <a:lnR w="19050">
                      <a:solidFill>
                        <a:srgbClr val="FFFFFF"/>
                      </a:solidFill>
                    </a:lnR>
                    <a:lnT w="19050">
                      <a:solidFill>
                        <a:srgbClr val="FFFFFF"/>
                      </a:solidFill>
                    </a:lnT>
                    <a:lnB w="19050">
                      <a:solidFill>
                        <a:srgbClr val="FFFFFF"/>
                      </a:solidFill>
                    </a:lnB>
                    <a:solidFill>
                      <a:srgbClr val="EDF5F5"/>
                    </a:solidFill>
                  </a:tcPr>
                </a:tc>
                <a:tc>
                  <a:txBody>
                    <a:bodyPr/>
                    <a:lstStyle/>
                    <a:p>
                      <a:r>
                        <a:rPr sz="1000" b="0">
                          <a:solidFill>
                            <a:srgbClr val="9AA9AD"/>
                          </a:solidFill>
                          <a:latin typeface="Calibri"/>
                        </a:rPr>
                        <a:t>–</a:t>
                      </a:r>
                    </a:p>
                  </a:txBody>
                  <a:tcPr marL="64008" marR="64008" marT="18288" marB="18288" anchor="ctr">
                    <a:lnL w="19050">
                      <a:solidFill>
                        <a:srgbClr val="FFFFFF"/>
                      </a:solidFill>
                    </a:lnL>
                    <a:lnR w="19050">
                      <a:solidFill>
                        <a:srgbClr val="FFFFFF"/>
                      </a:solidFill>
                    </a:lnR>
                    <a:lnT w="19050">
                      <a:solidFill>
                        <a:srgbClr val="FFFFFF"/>
                      </a:solidFill>
                    </a:lnT>
                    <a:lnB w="19050">
                      <a:solidFill>
                        <a:srgbClr val="FFFFFF"/>
                      </a:solidFill>
                    </a:lnB>
                    <a:solidFill>
                      <a:srgbClr val="EDF5F5"/>
                    </a:solidFill>
                  </a:tcPr>
                </a:tc>
                <a:tc>
                  <a:txBody>
                    <a:bodyPr/>
                    <a:lstStyle/>
                    <a:p>
                      <a:r>
                        <a:rPr sz="1000" b="0">
                          <a:solidFill>
                            <a:srgbClr val="9AA9AD"/>
                          </a:solidFill>
                          <a:latin typeface="Calibri"/>
                        </a:rPr>
                        <a:t>–</a:t>
                      </a:r>
                    </a:p>
                  </a:txBody>
                  <a:tcPr marL="64008" marR="64008" marT="18288" marB="18288" anchor="ctr">
                    <a:lnL w="19050">
                      <a:solidFill>
                        <a:srgbClr val="FFFFFF"/>
                      </a:solidFill>
                    </a:lnL>
                    <a:lnR w="19050">
                      <a:solidFill>
                        <a:srgbClr val="FFFFFF"/>
                      </a:solidFill>
                    </a:lnR>
                    <a:lnT w="19050">
                      <a:solidFill>
                        <a:srgbClr val="FFFFFF"/>
                      </a:solidFill>
                    </a:lnT>
                    <a:lnB w="19050">
                      <a:solidFill>
                        <a:srgbClr val="FFFFFF"/>
                      </a:solidFill>
                    </a:lnB>
                    <a:solidFill>
                      <a:srgbClr val="EDF5F5"/>
                    </a:solidFill>
                  </a:tcPr>
                </a:tc>
                <a:extLst>
                  <a:ext uri="{0D108BD9-81ED-4DB2-BD59-A6C34878D82A}">
                    <a16:rowId xmlns:a16="http://schemas.microsoft.com/office/drawing/2014/main" val="10001"/>
                  </a:ext>
                </a:extLst>
              </a:tr>
              <a:tr h="228600">
                <a:tc>
                  <a:txBody>
                    <a:bodyPr/>
                    <a:lstStyle/>
                    <a:p>
                      <a:r>
                        <a:rPr sz="1000" b="1">
                          <a:solidFill>
                            <a:srgbClr val="16262B"/>
                          </a:solidFill>
                          <a:latin typeface="Calibri"/>
                        </a:rPr>
                        <a:t>2</a:t>
                      </a:r>
                    </a:p>
                  </a:txBody>
                  <a:tcPr marL="64008" marR="64008" marT="18288" marB="18288" anchor="ctr">
                    <a:lnL w="19050">
                      <a:solidFill>
                        <a:srgbClr val="FFFFFF"/>
                      </a:solidFill>
                    </a:lnL>
                    <a:lnR w="19050">
                      <a:solidFill>
                        <a:srgbClr val="FFFFFF"/>
                      </a:solidFill>
                    </a:lnR>
                    <a:lnT w="19050">
                      <a:solidFill>
                        <a:srgbClr val="FFFFFF"/>
                      </a:solidFill>
                    </a:lnT>
                    <a:lnB w="19050">
                      <a:solidFill>
                        <a:srgbClr val="FFFFFF"/>
                      </a:solidFill>
                    </a:lnB>
                    <a:solidFill>
                      <a:srgbClr val="FFFFFF"/>
                    </a:solidFill>
                  </a:tcPr>
                </a:tc>
                <a:tc>
                  <a:txBody>
                    <a:bodyPr/>
                    <a:lstStyle/>
                    <a:p>
                      <a:r>
                        <a:rPr sz="1000" b="0">
                          <a:solidFill>
                            <a:srgbClr val="16262B"/>
                          </a:solidFill>
                          <a:latin typeface="Calibri"/>
                        </a:rPr>
                        <a:t>25 to 50</a:t>
                      </a:r>
                    </a:p>
                  </a:txBody>
                  <a:tcPr marL="64008" marR="64008" marT="18288" marB="18288" anchor="ctr">
                    <a:lnL w="19050">
                      <a:solidFill>
                        <a:srgbClr val="FFFFFF"/>
                      </a:solidFill>
                    </a:lnL>
                    <a:lnR w="19050">
                      <a:solidFill>
                        <a:srgbClr val="FFFFFF"/>
                      </a:solidFill>
                    </a:lnR>
                    <a:lnT w="19050">
                      <a:solidFill>
                        <a:srgbClr val="FFFFFF"/>
                      </a:solidFill>
                    </a:lnT>
                    <a:lnB w="19050">
                      <a:solidFill>
                        <a:srgbClr val="FFFFFF"/>
                      </a:solidFill>
                    </a:lnB>
                    <a:solidFill>
                      <a:srgbClr val="FFFFFF"/>
                    </a:solidFill>
                  </a:tcPr>
                </a:tc>
                <a:tc>
                  <a:txBody>
                    <a:bodyPr/>
                    <a:lstStyle/>
                    <a:p>
                      <a:r>
                        <a:rPr sz="1000" b="0">
                          <a:solidFill>
                            <a:srgbClr val="16262B"/>
                          </a:solidFill>
                          <a:latin typeface="Calibri"/>
                        </a:rPr>
                        <a:t>−2.8</a:t>
                      </a:r>
                    </a:p>
                  </a:txBody>
                  <a:tcPr marL="64008" marR="64008" marT="18288" marB="18288" anchor="ctr">
                    <a:lnL w="19050">
                      <a:solidFill>
                        <a:srgbClr val="FFFFFF"/>
                      </a:solidFill>
                    </a:lnL>
                    <a:lnR w="19050">
                      <a:solidFill>
                        <a:srgbClr val="FFFFFF"/>
                      </a:solidFill>
                    </a:lnR>
                    <a:lnT w="19050">
                      <a:solidFill>
                        <a:srgbClr val="FFFFFF"/>
                      </a:solidFill>
                    </a:lnT>
                    <a:lnB w="19050">
                      <a:solidFill>
                        <a:srgbClr val="FFFFFF"/>
                      </a:solidFill>
                    </a:lnB>
                    <a:solidFill>
                      <a:srgbClr val="FFFFFF"/>
                    </a:solidFill>
                  </a:tcPr>
                </a:tc>
                <a:tc>
                  <a:txBody>
                    <a:bodyPr/>
                    <a:lstStyle/>
                    <a:p>
                      <a:r>
                        <a:rPr sz="1000" b="0">
                          <a:solidFill>
                            <a:srgbClr val="16262B"/>
                          </a:solidFill>
                          <a:latin typeface="Calibri"/>
                        </a:rPr>
                        <a:t>1.07</a:t>
                      </a:r>
                    </a:p>
                  </a:txBody>
                  <a:tcPr marL="64008" marR="64008" marT="18288" marB="18288" anchor="ctr">
                    <a:lnL w="19050">
                      <a:solidFill>
                        <a:srgbClr val="FFFFFF"/>
                      </a:solidFill>
                    </a:lnL>
                    <a:lnR w="19050">
                      <a:solidFill>
                        <a:srgbClr val="FFFFFF"/>
                      </a:solidFill>
                    </a:lnR>
                    <a:lnT w="19050">
                      <a:solidFill>
                        <a:srgbClr val="FFFFFF"/>
                      </a:solidFill>
                    </a:lnT>
                    <a:lnB w="19050">
                      <a:solidFill>
                        <a:srgbClr val="FFFFFF"/>
                      </a:solidFill>
                    </a:lnB>
                    <a:solidFill>
                      <a:srgbClr val="FFFFFF"/>
                    </a:solidFill>
                  </a:tcPr>
                </a:tc>
                <a:tc>
                  <a:txBody>
                    <a:bodyPr/>
                    <a:lstStyle/>
                    <a:p>
                      <a:r>
                        <a:rPr sz="1000" b="0">
                          <a:solidFill>
                            <a:srgbClr val="9AA9AD"/>
                          </a:solidFill>
                          <a:latin typeface="Calibri"/>
                        </a:rPr>
                        <a:t>–</a:t>
                      </a:r>
                    </a:p>
                  </a:txBody>
                  <a:tcPr marL="64008" marR="64008" marT="18288" marB="18288" anchor="ctr">
                    <a:lnL w="19050">
                      <a:solidFill>
                        <a:srgbClr val="FFFFFF"/>
                      </a:solidFill>
                    </a:lnL>
                    <a:lnR w="19050">
                      <a:solidFill>
                        <a:srgbClr val="FFFFFF"/>
                      </a:solidFill>
                    </a:lnR>
                    <a:lnT w="19050">
                      <a:solidFill>
                        <a:srgbClr val="FFFFFF"/>
                      </a:solidFill>
                    </a:lnT>
                    <a:lnB w="19050">
                      <a:solidFill>
                        <a:srgbClr val="FFFFFF"/>
                      </a:solidFill>
                    </a:lnB>
                    <a:solidFill>
                      <a:srgbClr val="FFFFFF"/>
                    </a:solidFill>
                  </a:tcPr>
                </a:tc>
                <a:tc>
                  <a:txBody>
                    <a:bodyPr/>
                    <a:lstStyle/>
                    <a:p>
                      <a:r>
                        <a:rPr sz="1000" b="0">
                          <a:solidFill>
                            <a:srgbClr val="9AA9AD"/>
                          </a:solidFill>
                          <a:latin typeface="Calibri"/>
                        </a:rPr>
                        <a:t>–</a:t>
                      </a:r>
                    </a:p>
                  </a:txBody>
                  <a:tcPr marL="64008" marR="64008" marT="18288" marB="18288" anchor="ctr">
                    <a:lnL w="19050">
                      <a:solidFill>
                        <a:srgbClr val="FFFFFF"/>
                      </a:solidFill>
                    </a:lnL>
                    <a:lnR w="19050">
                      <a:solidFill>
                        <a:srgbClr val="FFFFFF"/>
                      </a:solidFill>
                    </a:lnR>
                    <a:lnT w="19050">
                      <a:solidFill>
                        <a:srgbClr val="FFFFFF"/>
                      </a:solidFill>
                    </a:lnT>
                    <a:lnB w="19050">
                      <a:solidFill>
                        <a:srgbClr val="FFFFFF"/>
                      </a:solidFill>
                    </a:lnB>
                    <a:solidFill>
                      <a:srgbClr val="FFFFFF"/>
                    </a:solidFill>
                  </a:tcPr>
                </a:tc>
                <a:tc>
                  <a:txBody>
                    <a:bodyPr/>
                    <a:lstStyle/>
                    <a:p>
                      <a:r>
                        <a:rPr sz="1000" b="0">
                          <a:solidFill>
                            <a:srgbClr val="9AA9AD"/>
                          </a:solidFill>
                          <a:latin typeface="Calibri"/>
                        </a:rPr>
                        <a:t>–</a:t>
                      </a:r>
                    </a:p>
                  </a:txBody>
                  <a:tcPr marL="64008" marR="64008" marT="18288" marB="18288" anchor="ctr">
                    <a:lnL w="19050">
                      <a:solidFill>
                        <a:srgbClr val="FFFFFF"/>
                      </a:solidFill>
                    </a:lnL>
                    <a:lnR w="19050">
                      <a:solidFill>
                        <a:srgbClr val="FFFFFF"/>
                      </a:solidFill>
                    </a:lnR>
                    <a:lnT w="19050">
                      <a:solidFill>
                        <a:srgbClr val="FFFFFF"/>
                      </a:solidFill>
                    </a:lnT>
                    <a:lnB w="19050">
                      <a:solidFill>
                        <a:srgbClr val="FFFFFF"/>
                      </a:solidFill>
                    </a:lnB>
                    <a:solidFill>
                      <a:srgbClr val="FFFFFF"/>
                    </a:solidFill>
                  </a:tcPr>
                </a:tc>
                <a:extLst>
                  <a:ext uri="{0D108BD9-81ED-4DB2-BD59-A6C34878D82A}">
                    <a16:rowId xmlns:a16="http://schemas.microsoft.com/office/drawing/2014/main" val="10002"/>
                  </a:ext>
                </a:extLst>
              </a:tr>
              <a:tr h="228600">
                <a:tc>
                  <a:txBody>
                    <a:bodyPr/>
                    <a:lstStyle/>
                    <a:p>
                      <a:r>
                        <a:rPr sz="1000" b="1">
                          <a:solidFill>
                            <a:srgbClr val="16262B"/>
                          </a:solidFill>
                          <a:latin typeface="Calibri"/>
                        </a:rPr>
                        <a:t>3</a:t>
                      </a:r>
                    </a:p>
                  </a:txBody>
                  <a:tcPr marL="64008" marR="64008" marT="18288" marB="18288" anchor="ctr">
                    <a:lnL w="19050">
                      <a:solidFill>
                        <a:srgbClr val="FFFFFF"/>
                      </a:solidFill>
                    </a:lnL>
                    <a:lnR w="19050">
                      <a:solidFill>
                        <a:srgbClr val="FFFFFF"/>
                      </a:solidFill>
                    </a:lnR>
                    <a:lnT w="19050">
                      <a:solidFill>
                        <a:srgbClr val="FFFFFF"/>
                      </a:solidFill>
                    </a:lnT>
                    <a:lnB w="19050">
                      <a:solidFill>
                        <a:srgbClr val="FFFFFF"/>
                      </a:solidFill>
                    </a:lnB>
                    <a:solidFill>
                      <a:srgbClr val="EDF5F5"/>
                    </a:solidFill>
                  </a:tcPr>
                </a:tc>
                <a:tc>
                  <a:txBody>
                    <a:bodyPr/>
                    <a:lstStyle/>
                    <a:p>
                      <a:r>
                        <a:rPr sz="1000" b="0">
                          <a:solidFill>
                            <a:srgbClr val="16262B"/>
                          </a:solidFill>
                          <a:latin typeface="Calibri"/>
                        </a:rPr>
                        <a:t>50 to 75</a:t>
                      </a:r>
                    </a:p>
                  </a:txBody>
                  <a:tcPr marL="64008" marR="64008" marT="18288" marB="18288" anchor="ctr">
                    <a:lnL w="19050">
                      <a:solidFill>
                        <a:srgbClr val="FFFFFF"/>
                      </a:solidFill>
                    </a:lnL>
                    <a:lnR w="19050">
                      <a:solidFill>
                        <a:srgbClr val="FFFFFF"/>
                      </a:solidFill>
                    </a:lnR>
                    <a:lnT w="19050">
                      <a:solidFill>
                        <a:srgbClr val="FFFFFF"/>
                      </a:solidFill>
                    </a:lnT>
                    <a:lnB w="19050">
                      <a:solidFill>
                        <a:srgbClr val="FFFFFF"/>
                      </a:solidFill>
                    </a:lnB>
                    <a:solidFill>
                      <a:srgbClr val="EDF5F5"/>
                    </a:solidFill>
                  </a:tcPr>
                </a:tc>
                <a:tc>
                  <a:txBody>
                    <a:bodyPr/>
                    <a:lstStyle/>
                    <a:p>
                      <a:r>
                        <a:rPr sz="1000" b="0">
                          <a:solidFill>
                            <a:srgbClr val="16262B"/>
                          </a:solidFill>
                          <a:latin typeface="Calibri"/>
                        </a:rPr>
                        <a:t>−1.9</a:t>
                      </a:r>
                    </a:p>
                  </a:txBody>
                  <a:tcPr marL="64008" marR="64008" marT="18288" marB="18288" anchor="ctr">
                    <a:lnL w="19050">
                      <a:solidFill>
                        <a:srgbClr val="FFFFFF"/>
                      </a:solidFill>
                    </a:lnL>
                    <a:lnR w="19050">
                      <a:solidFill>
                        <a:srgbClr val="FFFFFF"/>
                      </a:solidFill>
                    </a:lnR>
                    <a:lnT w="19050">
                      <a:solidFill>
                        <a:srgbClr val="FFFFFF"/>
                      </a:solidFill>
                    </a:lnT>
                    <a:lnB w="19050">
                      <a:solidFill>
                        <a:srgbClr val="FFFFFF"/>
                      </a:solidFill>
                    </a:lnB>
                    <a:solidFill>
                      <a:srgbClr val="EDF5F5"/>
                    </a:solidFill>
                  </a:tcPr>
                </a:tc>
                <a:tc>
                  <a:txBody>
                    <a:bodyPr/>
                    <a:lstStyle/>
                    <a:p>
                      <a:r>
                        <a:rPr sz="1000" b="0">
                          <a:solidFill>
                            <a:srgbClr val="16262B"/>
                          </a:solidFill>
                          <a:latin typeface="Calibri"/>
                        </a:rPr>
                        <a:t>0.65</a:t>
                      </a:r>
                    </a:p>
                  </a:txBody>
                  <a:tcPr marL="64008" marR="64008" marT="18288" marB="18288" anchor="ctr">
                    <a:lnL w="19050">
                      <a:solidFill>
                        <a:srgbClr val="FFFFFF"/>
                      </a:solidFill>
                    </a:lnL>
                    <a:lnR w="19050">
                      <a:solidFill>
                        <a:srgbClr val="FFFFFF"/>
                      </a:solidFill>
                    </a:lnR>
                    <a:lnT w="19050">
                      <a:solidFill>
                        <a:srgbClr val="FFFFFF"/>
                      </a:solidFill>
                    </a:lnT>
                    <a:lnB w="19050">
                      <a:solidFill>
                        <a:srgbClr val="FFFFFF"/>
                      </a:solidFill>
                    </a:lnB>
                    <a:solidFill>
                      <a:srgbClr val="EDF5F5"/>
                    </a:solidFill>
                  </a:tcPr>
                </a:tc>
                <a:tc>
                  <a:txBody>
                    <a:bodyPr/>
                    <a:lstStyle/>
                    <a:p>
                      <a:r>
                        <a:rPr sz="1000" b="0">
                          <a:solidFill>
                            <a:srgbClr val="9AA9AD"/>
                          </a:solidFill>
                          <a:latin typeface="Calibri"/>
                        </a:rPr>
                        <a:t>–</a:t>
                      </a:r>
                    </a:p>
                  </a:txBody>
                  <a:tcPr marL="64008" marR="64008" marT="18288" marB="18288" anchor="ctr">
                    <a:lnL w="19050">
                      <a:solidFill>
                        <a:srgbClr val="FFFFFF"/>
                      </a:solidFill>
                    </a:lnL>
                    <a:lnR w="19050">
                      <a:solidFill>
                        <a:srgbClr val="FFFFFF"/>
                      </a:solidFill>
                    </a:lnR>
                    <a:lnT w="19050">
                      <a:solidFill>
                        <a:srgbClr val="FFFFFF"/>
                      </a:solidFill>
                    </a:lnT>
                    <a:lnB w="19050">
                      <a:solidFill>
                        <a:srgbClr val="FFFFFF"/>
                      </a:solidFill>
                    </a:lnB>
                    <a:solidFill>
                      <a:srgbClr val="EDF5F5"/>
                    </a:solidFill>
                  </a:tcPr>
                </a:tc>
                <a:tc>
                  <a:txBody>
                    <a:bodyPr/>
                    <a:lstStyle/>
                    <a:p>
                      <a:r>
                        <a:rPr sz="1000" b="0">
                          <a:solidFill>
                            <a:srgbClr val="9AA9AD"/>
                          </a:solidFill>
                          <a:latin typeface="Calibri"/>
                        </a:rPr>
                        <a:t>–</a:t>
                      </a:r>
                    </a:p>
                  </a:txBody>
                  <a:tcPr marL="64008" marR="64008" marT="18288" marB="18288" anchor="ctr">
                    <a:lnL w="19050">
                      <a:solidFill>
                        <a:srgbClr val="FFFFFF"/>
                      </a:solidFill>
                    </a:lnL>
                    <a:lnR w="19050">
                      <a:solidFill>
                        <a:srgbClr val="FFFFFF"/>
                      </a:solidFill>
                    </a:lnR>
                    <a:lnT w="19050">
                      <a:solidFill>
                        <a:srgbClr val="FFFFFF"/>
                      </a:solidFill>
                    </a:lnT>
                    <a:lnB w="19050">
                      <a:solidFill>
                        <a:srgbClr val="FFFFFF"/>
                      </a:solidFill>
                    </a:lnB>
                    <a:solidFill>
                      <a:srgbClr val="EDF5F5"/>
                    </a:solidFill>
                  </a:tcPr>
                </a:tc>
                <a:tc>
                  <a:txBody>
                    <a:bodyPr/>
                    <a:lstStyle/>
                    <a:p>
                      <a:r>
                        <a:rPr sz="1000" b="0">
                          <a:solidFill>
                            <a:srgbClr val="9AA9AD"/>
                          </a:solidFill>
                          <a:latin typeface="Calibri"/>
                        </a:rPr>
                        <a:t>–</a:t>
                      </a:r>
                    </a:p>
                  </a:txBody>
                  <a:tcPr marL="64008" marR="64008" marT="18288" marB="18288" anchor="ctr">
                    <a:lnL w="19050">
                      <a:solidFill>
                        <a:srgbClr val="FFFFFF"/>
                      </a:solidFill>
                    </a:lnL>
                    <a:lnR w="19050">
                      <a:solidFill>
                        <a:srgbClr val="FFFFFF"/>
                      </a:solidFill>
                    </a:lnR>
                    <a:lnT w="19050">
                      <a:solidFill>
                        <a:srgbClr val="FFFFFF"/>
                      </a:solidFill>
                    </a:lnT>
                    <a:lnB w="19050">
                      <a:solidFill>
                        <a:srgbClr val="FFFFFF"/>
                      </a:solidFill>
                    </a:lnB>
                    <a:solidFill>
                      <a:srgbClr val="EDF5F5"/>
                    </a:solidFill>
                  </a:tcPr>
                </a:tc>
                <a:extLst>
                  <a:ext uri="{0D108BD9-81ED-4DB2-BD59-A6C34878D82A}">
                    <a16:rowId xmlns:a16="http://schemas.microsoft.com/office/drawing/2014/main" val="10003"/>
                  </a:ext>
                </a:extLst>
              </a:tr>
              <a:tr h="228600">
                <a:tc>
                  <a:txBody>
                    <a:bodyPr/>
                    <a:lstStyle/>
                    <a:p>
                      <a:r>
                        <a:rPr sz="1000" b="1">
                          <a:solidFill>
                            <a:srgbClr val="16262B"/>
                          </a:solidFill>
                          <a:latin typeface="Calibri"/>
                        </a:rPr>
                        <a:t>4</a:t>
                      </a:r>
                    </a:p>
                  </a:txBody>
                  <a:tcPr marL="64008" marR="64008" marT="18288" marB="18288" anchor="ctr">
                    <a:lnL w="19050">
                      <a:solidFill>
                        <a:srgbClr val="FFFFFF"/>
                      </a:solidFill>
                    </a:lnL>
                    <a:lnR w="19050">
                      <a:solidFill>
                        <a:srgbClr val="FFFFFF"/>
                      </a:solidFill>
                    </a:lnR>
                    <a:lnT w="19050">
                      <a:solidFill>
                        <a:srgbClr val="FFFFFF"/>
                      </a:solidFill>
                    </a:lnT>
                    <a:lnB w="19050">
                      <a:solidFill>
                        <a:srgbClr val="FFFFFF"/>
                      </a:solidFill>
                    </a:lnB>
                    <a:solidFill>
                      <a:srgbClr val="FFFFFF"/>
                    </a:solidFill>
                  </a:tcPr>
                </a:tc>
                <a:tc>
                  <a:txBody>
                    <a:bodyPr/>
                    <a:lstStyle/>
                    <a:p>
                      <a:r>
                        <a:rPr sz="1000" b="0">
                          <a:solidFill>
                            <a:srgbClr val="16262B"/>
                          </a:solidFill>
                          <a:latin typeface="Calibri"/>
                        </a:rPr>
                        <a:t>75 to 100</a:t>
                      </a:r>
                    </a:p>
                  </a:txBody>
                  <a:tcPr marL="64008" marR="64008" marT="18288" marB="18288" anchor="ctr">
                    <a:lnL w="19050">
                      <a:solidFill>
                        <a:srgbClr val="FFFFFF"/>
                      </a:solidFill>
                    </a:lnL>
                    <a:lnR w="19050">
                      <a:solidFill>
                        <a:srgbClr val="FFFFFF"/>
                      </a:solidFill>
                    </a:lnR>
                    <a:lnT w="19050">
                      <a:solidFill>
                        <a:srgbClr val="FFFFFF"/>
                      </a:solidFill>
                    </a:lnT>
                    <a:lnB w="19050">
                      <a:solidFill>
                        <a:srgbClr val="FFFFFF"/>
                      </a:solidFill>
                    </a:lnB>
                    <a:solidFill>
                      <a:srgbClr val="FFFFFF"/>
                    </a:solidFill>
                  </a:tcPr>
                </a:tc>
                <a:tc>
                  <a:txBody>
                    <a:bodyPr/>
                    <a:lstStyle/>
                    <a:p>
                      <a:r>
                        <a:rPr sz="1000" b="0">
                          <a:solidFill>
                            <a:srgbClr val="16262B"/>
                          </a:solidFill>
                          <a:latin typeface="Calibri"/>
                        </a:rPr>
                        <a:t>−1.4</a:t>
                      </a:r>
                    </a:p>
                  </a:txBody>
                  <a:tcPr marL="64008" marR="64008" marT="18288" marB="18288" anchor="ctr">
                    <a:lnL w="19050">
                      <a:solidFill>
                        <a:srgbClr val="FFFFFF"/>
                      </a:solidFill>
                    </a:lnL>
                    <a:lnR w="19050">
                      <a:solidFill>
                        <a:srgbClr val="FFFFFF"/>
                      </a:solidFill>
                    </a:lnR>
                    <a:lnT w="19050">
                      <a:solidFill>
                        <a:srgbClr val="FFFFFF"/>
                      </a:solidFill>
                    </a:lnT>
                    <a:lnB w="19050">
                      <a:solidFill>
                        <a:srgbClr val="FFFFFF"/>
                      </a:solidFill>
                    </a:lnB>
                    <a:solidFill>
                      <a:srgbClr val="FFFFFF"/>
                    </a:solidFill>
                  </a:tcPr>
                </a:tc>
                <a:tc>
                  <a:txBody>
                    <a:bodyPr/>
                    <a:lstStyle/>
                    <a:p>
                      <a:r>
                        <a:rPr sz="1000" b="0">
                          <a:solidFill>
                            <a:srgbClr val="16262B"/>
                          </a:solidFill>
                          <a:latin typeface="Calibri"/>
                        </a:rPr>
                        <a:t>0.52</a:t>
                      </a:r>
                    </a:p>
                  </a:txBody>
                  <a:tcPr marL="64008" marR="64008" marT="18288" marB="18288" anchor="ctr">
                    <a:lnL w="19050">
                      <a:solidFill>
                        <a:srgbClr val="FFFFFF"/>
                      </a:solidFill>
                    </a:lnL>
                    <a:lnR w="19050">
                      <a:solidFill>
                        <a:srgbClr val="FFFFFF"/>
                      </a:solidFill>
                    </a:lnR>
                    <a:lnT w="19050">
                      <a:solidFill>
                        <a:srgbClr val="FFFFFF"/>
                      </a:solidFill>
                    </a:lnT>
                    <a:lnB w="19050">
                      <a:solidFill>
                        <a:srgbClr val="FFFFFF"/>
                      </a:solidFill>
                    </a:lnB>
                    <a:solidFill>
                      <a:srgbClr val="FFFFFF"/>
                    </a:solidFill>
                  </a:tcPr>
                </a:tc>
                <a:tc>
                  <a:txBody>
                    <a:bodyPr/>
                    <a:lstStyle/>
                    <a:p>
                      <a:r>
                        <a:rPr sz="1000" b="0">
                          <a:solidFill>
                            <a:srgbClr val="9AA9AD"/>
                          </a:solidFill>
                          <a:latin typeface="Calibri"/>
                        </a:rPr>
                        <a:t>–</a:t>
                      </a:r>
                    </a:p>
                  </a:txBody>
                  <a:tcPr marL="64008" marR="64008" marT="18288" marB="18288" anchor="ctr">
                    <a:lnL w="19050">
                      <a:solidFill>
                        <a:srgbClr val="FFFFFF"/>
                      </a:solidFill>
                    </a:lnL>
                    <a:lnR w="19050">
                      <a:solidFill>
                        <a:srgbClr val="FFFFFF"/>
                      </a:solidFill>
                    </a:lnR>
                    <a:lnT w="19050">
                      <a:solidFill>
                        <a:srgbClr val="FFFFFF"/>
                      </a:solidFill>
                    </a:lnT>
                    <a:lnB w="19050">
                      <a:solidFill>
                        <a:srgbClr val="FFFFFF"/>
                      </a:solidFill>
                    </a:lnB>
                    <a:solidFill>
                      <a:srgbClr val="FFFFFF"/>
                    </a:solidFill>
                  </a:tcPr>
                </a:tc>
                <a:tc>
                  <a:txBody>
                    <a:bodyPr/>
                    <a:lstStyle/>
                    <a:p>
                      <a:r>
                        <a:rPr sz="1000" b="0">
                          <a:solidFill>
                            <a:srgbClr val="9AA9AD"/>
                          </a:solidFill>
                          <a:latin typeface="Calibri"/>
                        </a:rPr>
                        <a:t>–</a:t>
                      </a:r>
                    </a:p>
                  </a:txBody>
                  <a:tcPr marL="64008" marR="64008" marT="18288" marB="18288" anchor="ctr">
                    <a:lnL w="19050">
                      <a:solidFill>
                        <a:srgbClr val="FFFFFF"/>
                      </a:solidFill>
                    </a:lnL>
                    <a:lnR w="19050">
                      <a:solidFill>
                        <a:srgbClr val="FFFFFF"/>
                      </a:solidFill>
                    </a:lnR>
                    <a:lnT w="19050">
                      <a:solidFill>
                        <a:srgbClr val="FFFFFF"/>
                      </a:solidFill>
                    </a:lnT>
                    <a:lnB w="19050">
                      <a:solidFill>
                        <a:srgbClr val="FFFFFF"/>
                      </a:solidFill>
                    </a:lnB>
                    <a:solidFill>
                      <a:srgbClr val="FFFFFF"/>
                    </a:solidFill>
                  </a:tcPr>
                </a:tc>
                <a:tc>
                  <a:txBody>
                    <a:bodyPr/>
                    <a:lstStyle/>
                    <a:p>
                      <a:r>
                        <a:rPr sz="1000" b="0">
                          <a:solidFill>
                            <a:srgbClr val="9AA9AD"/>
                          </a:solidFill>
                          <a:latin typeface="Calibri"/>
                        </a:rPr>
                        <a:t>–</a:t>
                      </a:r>
                    </a:p>
                  </a:txBody>
                  <a:tcPr marL="64008" marR="64008" marT="18288" marB="18288" anchor="ctr">
                    <a:lnL w="19050">
                      <a:solidFill>
                        <a:srgbClr val="FFFFFF"/>
                      </a:solidFill>
                    </a:lnL>
                    <a:lnR w="19050">
                      <a:solidFill>
                        <a:srgbClr val="FFFFFF"/>
                      </a:solidFill>
                    </a:lnR>
                    <a:lnT w="19050">
                      <a:solidFill>
                        <a:srgbClr val="FFFFFF"/>
                      </a:solidFill>
                    </a:lnT>
                    <a:lnB w="19050">
                      <a:solidFill>
                        <a:srgbClr val="FFFFFF"/>
                      </a:solidFill>
                    </a:lnB>
                    <a:solidFill>
                      <a:srgbClr val="FFFFFF"/>
                    </a:solidFill>
                  </a:tcPr>
                </a:tc>
                <a:extLst>
                  <a:ext uri="{0D108BD9-81ED-4DB2-BD59-A6C34878D82A}">
                    <a16:rowId xmlns:a16="http://schemas.microsoft.com/office/drawing/2014/main" val="10004"/>
                  </a:ext>
                </a:extLst>
              </a:tr>
              <a:tr h="228600">
                <a:tc>
                  <a:txBody>
                    <a:bodyPr/>
                    <a:lstStyle/>
                    <a:p>
                      <a:r>
                        <a:rPr sz="1000" b="1">
                          <a:solidFill>
                            <a:srgbClr val="16262B"/>
                          </a:solidFill>
                          <a:latin typeface="Calibri"/>
                        </a:rPr>
                        <a:t>5</a:t>
                      </a:r>
                    </a:p>
                  </a:txBody>
                  <a:tcPr marL="64008" marR="64008" marT="18288" marB="18288" anchor="ctr">
                    <a:lnL w="19050">
                      <a:solidFill>
                        <a:srgbClr val="FFFFFF"/>
                      </a:solidFill>
                    </a:lnL>
                    <a:lnR w="19050">
                      <a:solidFill>
                        <a:srgbClr val="FFFFFF"/>
                      </a:solidFill>
                    </a:lnR>
                    <a:lnT w="19050">
                      <a:solidFill>
                        <a:srgbClr val="FFFFFF"/>
                      </a:solidFill>
                    </a:lnT>
                    <a:lnB w="19050">
                      <a:solidFill>
                        <a:srgbClr val="FFFFFF"/>
                      </a:solidFill>
                    </a:lnB>
                    <a:solidFill>
                      <a:srgbClr val="EDF5F5"/>
                    </a:solidFill>
                  </a:tcPr>
                </a:tc>
                <a:tc>
                  <a:txBody>
                    <a:bodyPr/>
                    <a:lstStyle/>
                    <a:p>
                      <a:r>
                        <a:rPr sz="1000" b="0">
                          <a:solidFill>
                            <a:srgbClr val="16262B"/>
                          </a:solidFill>
                          <a:latin typeface="Calibri"/>
                        </a:rPr>
                        <a:t>100 to 125</a:t>
                      </a:r>
                    </a:p>
                  </a:txBody>
                  <a:tcPr marL="64008" marR="64008" marT="18288" marB="18288" anchor="ctr">
                    <a:lnL w="19050">
                      <a:solidFill>
                        <a:srgbClr val="FFFFFF"/>
                      </a:solidFill>
                    </a:lnL>
                    <a:lnR w="19050">
                      <a:solidFill>
                        <a:srgbClr val="FFFFFF"/>
                      </a:solidFill>
                    </a:lnR>
                    <a:lnT w="19050">
                      <a:solidFill>
                        <a:srgbClr val="FFFFFF"/>
                      </a:solidFill>
                    </a:lnT>
                    <a:lnB w="19050">
                      <a:solidFill>
                        <a:srgbClr val="FFFFFF"/>
                      </a:solidFill>
                    </a:lnB>
                    <a:solidFill>
                      <a:srgbClr val="EDF5F5"/>
                    </a:solidFill>
                  </a:tcPr>
                </a:tc>
                <a:tc>
                  <a:txBody>
                    <a:bodyPr/>
                    <a:lstStyle/>
                    <a:p>
                      <a:r>
                        <a:rPr sz="1000" b="0">
                          <a:solidFill>
                            <a:srgbClr val="16262B"/>
                          </a:solidFill>
                          <a:latin typeface="Calibri"/>
                        </a:rPr>
                        <a:t>−1.2</a:t>
                      </a:r>
                    </a:p>
                  </a:txBody>
                  <a:tcPr marL="64008" marR="64008" marT="18288" marB="18288" anchor="ctr">
                    <a:lnL w="19050">
                      <a:solidFill>
                        <a:srgbClr val="FFFFFF"/>
                      </a:solidFill>
                    </a:lnL>
                    <a:lnR w="19050">
                      <a:solidFill>
                        <a:srgbClr val="FFFFFF"/>
                      </a:solidFill>
                    </a:lnR>
                    <a:lnT w="19050">
                      <a:solidFill>
                        <a:srgbClr val="FFFFFF"/>
                      </a:solidFill>
                    </a:lnT>
                    <a:lnB w="19050">
                      <a:solidFill>
                        <a:srgbClr val="FFFFFF"/>
                      </a:solidFill>
                    </a:lnB>
                    <a:solidFill>
                      <a:srgbClr val="EDF5F5"/>
                    </a:solidFill>
                  </a:tcPr>
                </a:tc>
                <a:tc>
                  <a:txBody>
                    <a:bodyPr/>
                    <a:lstStyle/>
                    <a:p>
                      <a:r>
                        <a:rPr sz="1000" b="0">
                          <a:solidFill>
                            <a:srgbClr val="16262B"/>
                          </a:solidFill>
                          <a:latin typeface="Calibri"/>
                        </a:rPr>
                        <a:t>0.35</a:t>
                      </a:r>
                    </a:p>
                  </a:txBody>
                  <a:tcPr marL="64008" marR="64008" marT="18288" marB="18288" anchor="ctr">
                    <a:lnL w="19050">
                      <a:solidFill>
                        <a:srgbClr val="FFFFFF"/>
                      </a:solidFill>
                    </a:lnL>
                    <a:lnR w="19050">
                      <a:solidFill>
                        <a:srgbClr val="FFFFFF"/>
                      </a:solidFill>
                    </a:lnR>
                    <a:lnT w="19050">
                      <a:solidFill>
                        <a:srgbClr val="FFFFFF"/>
                      </a:solidFill>
                    </a:lnT>
                    <a:lnB w="19050">
                      <a:solidFill>
                        <a:srgbClr val="FFFFFF"/>
                      </a:solidFill>
                    </a:lnB>
                    <a:solidFill>
                      <a:srgbClr val="EDF5F5"/>
                    </a:solidFill>
                  </a:tcPr>
                </a:tc>
                <a:tc>
                  <a:txBody>
                    <a:bodyPr/>
                    <a:lstStyle/>
                    <a:p>
                      <a:r>
                        <a:rPr sz="1000" b="0">
                          <a:solidFill>
                            <a:srgbClr val="9AA9AD"/>
                          </a:solidFill>
                          <a:latin typeface="Calibri"/>
                        </a:rPr>
                        <a:t>–</a:t>
                      </a:r>
                    </a:p>
                  </a:txBody>
                  <a:tcPr marL="64008" marR="64008" marT="18288" marB="18288" anchor="ctr">
                    <a:lnL w="19050">
                      <a:solidFill>
                        <a:srgbClr val="FFFFFF"/>
                      </a:solidFill>
                    </a:lnL>
                    <a:lnR w="19050">
                      <a:solidFill>
                        <a:srgbClr val="FFFFFF"/>
                      </a:solidFill>
                    </a:lnR>
                    <a:lnT w="19050">
                      <a:solidFill>
                        <a:srgbClr val="FFFFFF"/>
                      </a:solidFill>
                    </a:lnT>
                    <a:lnB w="19050">
                      <a:solidFill>
                        <a:srgbClr val="FFFFFF"/>
                      </a:solidFill>
                    </a:lnB>
                    <a:solidFill>
                      <a:srgbClr val="EDF5F5"/>
                    </a:solidFill>
                  </a:tcPr>
                </a:tc>
                <a:tc>
                  <a:txBody>
                    <a:bodyPr/>
                    <a:lstStyle/>
                    <a:p>
                      <a:r>
                        <a:rPr sz="1000" b="0">
                          <a:solidFill>
                            <a:srgbClr val="9AA9AD"/>
                          </a:solidFill>
                          <a:latin typeface="Calibri"/>
                        </a:rPr>
                        <a:t>–</a:t>
                      </a:r>
                    </a:p>
                  </a:txBody>
                  <a:tcPr marL="64008" marR="64008" marT="18288" marB="18288" anchor="ctr">
                    <a:lnL w="19050">
                      <a:solidFill>
                        <a:srgbClr val="FFFFFF"/>
                      </a:solidFill>
                    </a:lnL>
                    <a:lnR w="19050">
                      <a:solidFill>
                        <a:srgbClr val="FFFFFF"/>
                      </a:solidFill>
                    </a:lnR>
                    <a:lnT w="19050">
                      <a:solidFill>
                        <a:srgbClr val="FFFFFF"/>
                      </a:solidFill>
                    </a:lnT>
                    <a:lnB w="19050">
                      <a:solidFill>
                        <a:srgbClr val="FFFFFF"/>
                      </a:solidFill>
                    </a:lnB>
                    <a:solidFill>
                      <a:srgbClr val="EDF5F5"/>
                    </a:solidFill>
                  </a:tcPr>
                </a:tc>
                <a:tc>
                  <a:txBody>
                    <a:bodyPr/>
                    <a:lstStyle/>
                    <a:p>
                      <a:r>
                        <a:rPr sz="1000" b="0">
                          <a:solidFill>
                            <a:srgbClr val="9AA9AD"/>
                          </a:solidFill>
                          <a:latin typeface="Calibri"/>
                        </a:rPr>
                        <a:t>–</a:t>
                      </a:r>
                    </a:p>
                  </a:txBody>
                  <a:tcPr marL="64008" marR="64008" marT="18288" marB="18288" anchor="ctr">
                    <a:lnL w="19050">
                      <a:solidFill>
                        <a:srgbClr val="FFFFFF"/>
                      </a:solidFill>
                    </a:lnL>
                    <a:lnR w="19050">
                      <a:solidFill>
                        <a:srgbClr val="FFFFFF"/>
                      </a:solidFill>
                    </a:lnR>
                    <a:lnT w="19050">
                      <a:solidFill>
                        <a:srgbClr val="FFFFFF"/>
                      </a:solidFill>
                    </a:lnT>
                    <a:lnB w="19050">
                      <a:solidFill>
                        <a:srgbClr val="FFFFFF"/>
                      </a:solidFill>
                    </a:lnB>
                    <a:solidFill>
                      <a:srgbClr val="EDF5F5"/>
                    </a:solidFill>
                  </a:tcPr>
                </a:tc>
                <a:extLst>
                  <a:ext uri="{0D108BD9-81ED-4DB2-BD59-A6C34878D82A}">
                    <a16:rowId xmlns:a16="http://schemas.microsoft.com/office/drawing/2014/main" val="10005"/>
                  </a:ext>
                </a:extLst>
              </a:tr>
              <a:tr h="228600">
                <a:tc>
                  <a:txBody>
                    <a:bodyPr/>
                    <a:lstStyle/>
                    <a:p>
                      <a:r>
                        <a:rPr sz="1000" b="1">
                          <a:solidFill>
                            <a:srgbClr val="16262B"/>
                          </a:solidFill>
                          <a:latin typeface="Calibri"/>
                        </a:rPr>
                        <a:t>6</a:t>
                      </a:r>
                    </a:p>
                  </a:txBody>
                  <a:tcPr marL="64008" marR="64008" marT="18288" marB="18288" anchor="ctr">
                    <a:lnL w="19050">
                      <a:solidFill>
                        <a:srgbClr val="FFFFFF"/>
                      </a:solidFill>
                    </a:lnL>
                    <a:lnR w="19050">
                      <a:solidFill>
                        <a:srgbClr val="FFFFFF"/>
                      </a:solidFill>
                    </a:lnR>
                    <a:lnT w="19050">
                      <a:solidFill>
                        <a:srgbClr val="FFFFFF"/>
                      </a:solidFill>
                    </a:lnT>
                    <a:lnB w="19050">
                      <a:solidFill>
                        <a:srgbClr val="FFFFFF"/>
                      </a:solidFill>
                    </a:lnB>
                    <a:solidFill>
                      <a:srgbClr val="FFFFFF"/>
                    </a:solidFill>
                  </a:tcPr>
                </a:tc>
                <a:tc>
                  <a:txBody>
                    <a:bodyPr/>
                    <a:lstStyle/>
                    <a:p>
                      <a:r>
                        <a:rPr sz="1000" b="0">
                          <a:solidFill>
                            <a:srgbClr val="16262B"/>
                          </a:solidFill>
                          <a:latin typeface="Calibri"/>
                        </a:rPr>
                        <a:t>125 to 150</a:t>
                      </a:r>
                    </a:p>
                  </a:txBody>
                  <a:tcPr marL="64008" marR="64008" marT="18288" marB="18288" anchor="ctr">
                    <a:lnL w="19050">
                      <a:solidFill>
                        <a:srgbClr val="FFFFFF"/>
                      </a:solidFill>
                    </a:lnL>
                    <a:lnR w="19050">
                      <a:solidFill>
                        <a:srgbClr val="FFFFFF"/>
                      </a:solidFill>
                    </a:lnR>
                    <a:lnT w="19050">
                      <a:solidFill>
                        <a:srgbClr val="FFFFFF"/>
                      </a:solidFill>
                    </a:lnT>
                    <a:lnB w="19050">
                      <a:solidFill>
                        <a:srgbClr val="FFFFFF"/>
                      </a:solidFill>
                    </a:lnB>
                    <a:solidFill>
                      <a:srgbClr val="FFFFFF"/>
                    </a:solidFill>
                  </a:tcPr>
                </a:tc>
                <a:tc>
                  <a:txBody>
                    <a:bodyPr/>
                    <a:lstStyle/>
                    <a:p>
                      <a:r>
                        <a:rPr sz="1000" b="0">
                          <a:solidFill>
                            <a:srgbClr val="16262B"/>
                          </a:solidFill>
                          <a:latin typeface="Calibri"/>
                        </a:rPr>
                        <a:t>−1.9</a:t>
                      </a:r>
                    </a:p>
                  </a:txBody>
                  <a:tcPr marL="64008" marR="64008" marT="18288" marB="18288" anchor="ctr">
                    <a:lnL w="19050">
                      <a:solidFill>
                        <a:srgbClr val="FFFFFF"/>
                      </a:solidFill>
                    </a:lnL>
                    <a:lnR w="19050">
                      <a:solidFill>
                        <a:srgbClr val="FFFFFF"/>
                      </a:solidFill>
                    </a:lnR>
                    <a:lnT w="19050">
                      <a:solidFill>
                        <a:srgbClr val="FFFFFF"/>
                      </a:solidFill>
                    </a:lnT>
                    <a:lnB w="19050">
                      <a:solidFill>
                        <a:srgbClr val="FFFFFF"/>
                      </a:solidFill>
                    </a:lnB>
                    <a:solidFill>
                      <a:srgbClr val="FFFFFF"/>
                    </a:solidFill>
                  </a:tcPr>
                </a:tc>
                <a:tc>
                  <a:txBody>
                    <a:bodyPr/>
                    <a:lstStyle/>
                    <a:p>
                      <a:r>
                        <a:rPr sz="1000" b="0">
                          <a:solidFill>
                            <a:srgbClr val="16262B"/>
                          </a:solidFill>
                          <a:latin typeface="Calibri"/>
                        </a:rPr>
                        <a:t>0.58</a:t>
                      </a:r>
                    </a:p>
                  </a:txBody>
                  <a:tcPr marL="64008" marR="64008" marT="18288" marB="18288" anchor="ctr">
                    <a:lnL w="19050">
                      <a:solidFill>
                        <a:srgbClr val="FFFFFF"/>
                      </a:solidFill>
                    </a:lnL>
                    <a:lnR w="19050">
                      <a:solidFill>
                        <a:srgbClr val="FFFFFF"/>
                      </a:solidFill>
                    </a:lnR>
                    <a:lnT w="19050">
                      <a:solidFill>
                        <a:srgbClr val="FFFFFF"/>
                      </a:solidFill>
                    </a:lnT>
                    <a:lnB w="19050">
                      <a:solidFill>
                        <a:srgbClr val="FFFFFF"/>
                      </a:solidFill>
                    </a:lnB>
                    <a:solidFill>
                      <a:srgbClr val="FFFFFF"/>
                    </a:solidFill>
                  </a:tcPr>
                </a:tc>
                <a:tc>
                  <a:txBody>
                    <a:bodyPr/>
                    <a:lstStyle/>
                    <a:p>
                      <a:r>
                        <a:rPr sz="1000" b="0">
                          <a:solidFill>
                            <a:srgbClr val="9AA9AD"/>
                          </a:solidFill>
                          <a:latin typeface="Calibri"/>
                        </a:rPr>
                        <a:t>–</a:t>
                      </a:r>
                    </a:p>
                  </a:txBody>
                  <a:tcPr marL="64008" marR="64008" marT="18288" marB="18288" anchor="ctr">
                    <a:lnL w="19050">
                      <a:solidFill>
                        <a:srgbClr val="FFFFFF"/>
                      </a:solidFill>
                    </a:lnL>
                    <a:lnR w="19050">
                      <a:solidFill>
                        <a:srgbClr val="FFFFFF"/>
                      </a:solidFill>
                    </a:lnR>
                    <a:lnT w="19050">
                      <a:solidFill>
                        <a:srgbClr val="FFFFFF"/>
                      </a:solidFill>
                    </a:lnT>
                    <a:lnB w="19050">
                      <a:solidFill>
                        <a:srgbClr val="FFFFFF"/>
                      </a:solidFill>
                    </a:lnB>
                    <a:solidFill>
                      <a:srgbClr val="FFFFFF"/>
                    </a:solidFill>
                  </a:tcPr>
                </a:tc>
                <a:tc>
                  <a:txBody>
                    <a:bodyPr/>
                    <a:lstStyle/>
                    <a:p>
                      <a:r>
                        <a:rPr sz="1000" b="0">
                          <a:solidFill>
                            <a:srgbClr val="9AA9AD"/>
                          </a:solidFill>
                          <a:latin typeface="Calibri"/>
                        </a:rPr>
                        <a:t>–</a:t>
                      </a:r>
                    </a:p>
                  </a:txBody>
                  <a:tcPr marL="64008" marR="64008" marT="18288" marB="18288" anchor="ctr">
                    <a:lnL w="19050">
                      <a:solidFill>
                        <a:srgbClr val="FFFFFF"/>
                      </a:solidFill>
                    </a:lnL>
                    <a:lnR w="19050">
                      <a:solidFill>
                        <a:srgbClr val="FFFFFF"/>
                      </a:solidFill>
                    </a:lnR>
                    <a:lnT w="19050">
                      <a:solidFill>
                        <a:srgbClr val="FFFFFF"/>
                      </a:solidFill>
                    </a:lnT>
                    <a:lnB w="19050">
                      <a:solidFill>
                        <a:srgbClr val="FFFFFF"/>
                      </a:solidFill>
                    </a:lnB>
                    <a:solidFill>
                      <a:srgbClr val="FFFFFF"/>
                    </a:solidFill>
                  </a:tcPr>
                </a:tc>
                <a:tc>
                  <a:txBody>
                    <a:bodyPr/>
                    <a:lstStyle/>
                    <a:p>
                      <a:r>
                        <a:rPr sz="1000" b="0">
                          <a:solidFill>
                            <a:srgbClr val="9AA9AD"/>
                          </a:solidFill>
                          <a:latin typeface="Calibri"/>
                        </a:rPr>
                        <a:t>–</a:t>
                      </a:r>
                    </a:p>
                  </a:txBody>
                  <a:tcPr marL="64008" marR="64008" marT="18288" marB="18288" anchor="ctr">
                    <a:lnL w="19050">
                      <a:solidFill>
                        <a:srgbClr val="FFFFFF"/>
                      </a:solidFill>
                    </a:lnL>
                    <a:lnR w="19050">
                      <a:solidFill>
                        <a:srgbClr val="FFFFFF"/>
                      </a:solidFill>
                    </a:lnR>
                    <a:lnT w="19050">
                      <a:solidFill>
                        <a:srgbClr val="FFFFFF"/>
                      </a:solidFill>
                    </a:lnT>
                    <a:lnB w="19050">
                      <a:solidFill>
                        <a:srgbClr val="FFFFFF"/>
                      </a:solidFill>
                    </a:lnB>
                    <a:solidFill>
                      <a:srgbClr val="FFFFFF"/>
                    </a:solidFill>
                  </a:tcPr>
                </a:tc>
                <a:extLst>
                  <a:ext uri="{0D108BD9-81ED-4DB2-BD59-A6C34878D82A}">
                    <a16:rowId xmlns:a16="http://schemas.microsoft.com/office/drawing/2014/main" val="10006"/>
                  </a:ext>
                </a:extLst>
              </a:tr>
              <a:tr h="228600">
                <a:tc>
                  <a:txBody>
                    <a:bodyPr/>
                    <a:lstStyle/>
                    <a:p>
                      <a:r>
                        <a:rPr sz="1000" b="1">
                          <a:solidFill>
                            <a:srgbClr val="16262B"/>
                          </a:solidFill>
                          <a:latin typeface="Calibri"/>
                        </a:rPr>
                        <a:t>7</a:t>
                      </a:r>
                    </a:p>
                  </a:txBody>
                  <a:tcPr marL="64008" marR="64008" marT="18288" marB="18288" anchor="ctr">
                    <a:lnL w="19050">
                      <a:solidFill>
                        <a:srgbClr val="FFFFFF"/>
                      </a:solidFill>
                    </a:lnL>
                    <a:lnR w="19050">
                      <a:solidFill>
                        <a:srgbClr val="FFFFFF"/>
                      </a:solidFill>
                    </a:lnR>
                    <a:lnT w="19050">
                      <a:solidFill>
                        <a:srgbClr val="FFFFFF"/>
                      </a:solidFill>
                    </a:lnT>
                    <a:lnB w="19050">
                      <a:solidFill>
                        <a:srgbClr val="FFFFFF"/>
                      </a:solidFill>
                    </a:lnB>
                    <a:solidFill>
                      <a:srgbClr val="EDF5F5"/>
                    </a:solidFill>
                  </a:tcPr>
                </a:tc>
                <a:tc>
                  <a:txBody>
                    <a:bodyPr/>
                    <a:lstStyle/>
                    <a:p>
                      <a:r>
                        <a:rPr sz="1000" b="0">
                          <a:solidFill>
                            <a:srgbClr val="16262B"/>
                          </a:solidFill>
                          <a:latin typeface="Calibri"/>
                        </a:rPr>
                        <a:t>150 to 175</a:t>
                      </a:r>
                    </a:p>
                  </a:txBody>
                  <a:tcPr marL="64008" marR="64008" marT="18288" marB="18288" anchor="ctr">
                    <a:lnL w="19050">
                      <a:solidFill>
                        <a:srgbClr val="FFFFFF"/>
                      </a:solidFill>
                    </a:lnL>
                    <a:lnR w="19050">
                      <a:solidFill>
                        <a:srgbClr val="FFFFFF"/>
                      </a:solidFill>
                    </a:lnR>
                    <a:lnT w="19050">
                      <a:solidFill>
                        <a:srgbClr val="FFFFFF"/>
                      </a:solidFill>
                    </a:lnT>
                    <a:lnB w="19050">
                      <a:solidFill>
                        <a:srgbClr val="FFFFFF"/>
                      </a:solidFill>
                    </a:lnB>
                    <a:solidFill>
                      <a:srgbClr val="EDF5F5"/>
                    </a:solidFill>
                  </a:tcPr>
                </a:tc>
                <a:tc>
                  <a:txBody>
                    <a:bodyPr/>
                    <a:lstStyle/>
                    <a:p>
                      <a:r>
                        <a:rPr sz="1000" b="0">
                          <a:solidFill>
                            <a:srgbClr val="16262B"/>
                          </a:solidFill>
                          <a:latin typeface="Calibri"/>
                        </a:rPr>
                        <a:t>−3.0</a:t>
                      </a:r>
                    </a:p>
                  </a:txBody>
                  <a:tcPr marL="64008" marR="64008" marT="18288" marB="18288" anchor="ctr">
                    <a:lnL w="19050">
                      <a:solidFill>
                        <a:srgbClr val="FFFFFF"/>
                      </a:solidFill>
                    </a:lnL>
                    <a:lnR w="19050">
                      <a:solidFill>
                        <a:srgbClr val="FFFFFF"/>
                      </a:solidFill>
                    </a:lnR>
                    <a:lnT w="19050">
                      <a:solidFill>
                        <a:srgbClr val="FFFFFF"/>
                      </a:solidFill>
                    </a:lnT>
                    <a:lnB w="19050">
                      <a:solidFill>
                        <a:srgbClr val="FFFFFF"/>
                      </a:solidFill>
                    </a:lnB>
                    <a:solidFill>
                      <a:srgbClr val="EDF5F5"/>
                    </a:solidFill>
                  </a:tcPr>
                </a:tc>
                <a:tc>
                  <a:txBody>
                    <a:bodyPr/>
                    <a:lstStyle/>
                    <a:p>
                      <a:r>
                        <a:rPr sz="1000" b="0">
                          <a:solidFill>
                            <a:srgbClr val="16262B"/>
                          </a:solidFill>
                          <a:latin typeface="Calibri"/>
                        </a:rPr>
                        <a:t>0.43</a:t>
                      </a:r>
                    </a:p>
                  </a:txBody>
                  <a:tcPr marL="64008" marR="64008" marT="18288" marB="18288" anchor="ctr">
                    <a:lnL w="19050">
                      <a:solidFill>
                        <a:srgbClr val="FFFFFF"/>
                      </a:solidFill>
                    </a:lnL>
                    <a:lnR w="19050">
                      <a:solidFill>
                        <a:srgbClr val="FFFFFF"/>
                      </a:solidFill>
                    </a:lnR>
                    <a:lnT w="19050">
                      <a:solidFill>
                        <a:srgbClr val="FFFFFF"/>
                      </a:solidFill>
                    </a:lnT>
                    <a:lnB w="19050">
                      <a:solidFill>
                        <a:srgbClr val="FFFFFF"/>
                      </a:solidFill>
                    </a:lnB>
                    <a:solidFill>
                      <a:srgbClr val="EDF5F5"/>
                    </a:solidFill>
                  </a:tcPr>
                </a:tc>
                <a:tc>
                  <a:txBody>
                    <a:bodyPr/>
                    <a:lstStyle/>
                    <a:p>
                      <a:r>
                        <a:rPr sz="1000" b="0">
                          <a:solidFill>
                            <a:srgbClr val="9AA9AD"/>
                          </a:solidFill>
                          <a:latin typeface="Calibri"/>
                        </a:rPr>
                        <a:t>–</a:t>
                      </a:r>
                    </a:p>
                  </a:txBody>
                  <a:tcPr marL="64008" marR="64008" marT="18288" marB="18288" anchor="ctr">
                    <a:lnL w="19050">
                      <a:solidFill>
                        <a:srgbClr val="FFFFFF"/>
                      </a:solidFill>
                    </a:lnL>
                    <a:lnR w="19050">
                      <a:solidFill>
                        <a:srgbClr val="FFFFFF"/>
                      </a:solidFill>
                    </a:lnR>
                    <a:lnT w="19050">
                      <a:solidFill>
                        <a:srgbClr val="FFFFFF"/>
                      </a:solidFill>
                    </a:lnT>
                    <a:lnB w="19050">
                      <a:solidFill>
                        <a:srgbClr val="FFFFFF"/>
                      </a:solidFill>
                    </a:lnB>
                    <a:solidFill>
                      <a:srgbClr val="EDF5F5"/>
                    </a:solidFill>
                  </a:tcPr>
                </a:tc>
                <a:tc>
                  <a:txBody>
                    <a:bodyPr/>
                    <a:lstStyle/>
                    <a:p>
                      <a:r>
                        <a:rPr sz="1000" b="0">
                          <a:solidFill>
                            <a:srgbClr val="9AA9AD"/>
                          </a:solidFill>
                          <a:latin typeface="Calibri"/>
                        </a:rPr>
                        <a:t>–</a:t>
                      </a:r>
                    </a:p>
                  </a:txBody>
                  <a:tcPr marL="64008" marR="64008" marT="18288" marB="18288" anchor="ctr">
                    <a:lnL w="19050">
                      <a:solidFill>
                        <a:srgbClr val="FFFFFF"/>
                      </a:solidFill>
                    </a:lnL>
                    <a:lnR w="19050">
                      <a:solidFill>
                        <a:srgbClr val="FFFFFF"/>
                      </a:solidFill>
                    </a:lnR>
                    <a:lnT w="19050">
                      <a:solidFill>
                        <a:srgbClr val="FFFFFF"/>
                      </a:solidFill>
                    </a:lnT>
                    <a:lnB w="19050">
                      <a:solidFill>
                        <a:srgbClr val="FFFFFF"/>
                      </a:solidFill>
                    </a:lnB>
                    <a:solidFill>
                      <a:srgbClr val="EDF5F5"/>
                    </a:solidFill>
                  </a:tcPr>
                </a:tc>
                <a:tc>
                  <a:txBody>
                    <a:bodyPr/>
                    <a:lstStyle/>
                    <a:p>
                      <a:r>
                        <a:rPr sz="1000" b="0">
                          <a:solidFill>
                            <a:srgbClr val="9AA9AD"/>
                          </a:solidFill>
                          <a:latin typeface="Calibri"/>
                        </a:rPr>
                        <a:t>–</a:t>
                      </a:r>
                    </a:p>
                  </a:txBody>
                  <a:tcPr marL="64008" marR="64008" marT="18288" marB="18288" anchor="ctr">
                    <a:lnL w="19050">
                      <a:solidFill>
                        <a:srgbClr val="FFFFFF"/>
                      </a:solidFill>
                    </a:lnL>
                    <a:lnR w="19050">
                      <a:solidFill>
                        <a:srgbClr val="FFFFFF"/>
                      </a:solidFill>
                    </a:lnR>
                    <a:lnT w="19050">
                      <a:solidFill>
                        <a:srgbClr val="FFFFFF"/>
                      </a:solidFill>
                    </a:lnT>
                    <a:lnB w="19050">
                      <a:solidFill>
                        <a:srgbClr val="FFFFFF"/>
                      </a:solidFill>
                    </a:lnB>
                    <a:solidFill>
                      <a:srgbClr val="EDF5F5"/>
                    </a:solidFill>
                  </a:tcPr>
                </a:tc>
                <a:extLst>
                  <a:ext uri="{0D108BD9-81ED-4DB2-BD59-A6C34878D82A}">
                    <a16:rowId xmlns:a16="http://schemas.microsoft.com/office/drawing/2014/main" val="10007"/>
                  </a:ext>
                </a:extLst>
              </a:tr>
              <a:tr h="228600">
                <a:tc>
                  <a:txBody>
                    <a:bodyPr/>
                    <a:lstStyle/>
                    <a:p>
                      <a:r>
                        <a:rPr sz="1000" b="1">
                          <a:solidFill>
                            <a:srgbClr val="16262B"/>
                          </a:solidFill>
                          <a:latin typeface="Calibri"/>
                        </a:rPr>
                        <a:t>8</a:t>
                      </a:r>
                    </a:p>
                  </a:txBody>
                  <a:tcPr marL="64008" marR="64008" marT="18288" marB="18288" anchor="ctr">
                    <a:lnL w="19050">
                      <a:solidFill>
                        <a:srgbClr val="FFFFFF"/>
                      </a:solidFill>
                    </a:lnL>
                    <a:lnR w="19050">
                      <a:solidFill>
                        <a:srgbClr val="FFFFFF"/>
                      </a:solidFill>
                    </a:lnR>
                    <a:lnT w="19050">
                      <a:solidFill>
                        <a:srgbClr val="FFFFFF"/>
                      </a:solidFill>
                    </a:lnT>
                    <a:lnB w="19050">
                      <a:solidFill>
                        <a:srgbClr val="FFFFFF"/>
                      </a:solidFill>
                    </a:lnB>
                    <a:solidFill>
                      <a:srgbClr val="FFFFFF"/>
                    </a:solidFill>
                  </a:tcPr>
                </a:tc>
                <a:tc>
                  <a:txBody>
                    <a:bodyPr/>
                    <a:lstStyle/>
                    <a:p>
                      <a:r>
                        <a:rPr sz="1000" b="0">
                          <a:solidFill>
                            <a:srgbClr val="16262B"/>
                          </a:solidFill>
                          <a:latin typeface="Calibri"/>
                        </a:rPr>
                        <a:t>175 to 200</a:t>
                      </a:r>
                    </a:p>
                  </a:txBody>
                  <a:tcPr marL="64008" marR="64008" marT="18288" marB="18288" anchor="ctr">
                    <a:lnL w="19050">
                      <a:solidFill>
                        <a:srgbClr val="FFFFFF"/>
                      </a:solidFill>
                    </a:lnL>
                    <a:lnR w="19050">
                      <a:solidFill>
                        <a:srgbClr val="FFFFFF"/>
                      </a:solidFill>
                    </a:lnR>
                    <a:lnT w="19050">
                      <a:solidFill>
                        <a:srgbClr val="FFFFFF"/>
                      </a:solidFill>
                    </a:lnT>
                    <a:lnB w="19050">
                      <a:solidFill>
                        <a:srgbClr val="FFFFFF"/>
                      </a:solidFill>
                    </a:lnB>
                    <a:solidFill>
                      <a:srgbClr val="FFFFFF"/>
                    </a:solidFill>
                  </a:tcPr>
                </a:tc>
                <a:tc>
                  <a:txBody>
                    <a:bodyPr/>
                    <a:lstStyle/>
                    <a:p>
                      <a:r>
                        <a:rPr sz="1000" b="0">
                          <a:solidFill>
                            <a:srgbClr val="16262B"/>
                          </a:solidFill>
                          <a:latin typeface="Calibri"/>
                        </a:rPr>
                        <a:t>−4.5</a:t>
                      </a:r>
                    </a:p>
                  </a:txBody>
                  <a:tcPr marL="64008" marR="64008" marT="18288" marB="18288" anchor="ctr">
                    <a:lnL w="19050">
                      <a:solidFill>
                        <a:srgbClr val="FFFFFF"/>
                      </a:solidFill>
                    </a:lnL>
                    <a:lnR w="19050">
                      <a:solidFill>
                        <a:srgbClr val="FFFFFF"/>
                      </a:solidFill>
                    </a:lnR>
                    <a:lnT w="19050">
                      <a:solidFill>
                        <a:srgbClr val="FFFFFF"/>
                      </a:solidFill>
                    </a:lnT>
                    <a:lnB w="19050">
                      <a:solidFill>
                        <a:srgbClr val="FFFFFF"/>
                      </a:solidFill>
                    </a:lnB>
                    <a:solidFill>
                      <a:srgbClr val="FFFFFF"/>
                    </a:solidFill>
                  </a:tcPr>
                </a:tc>
                <a:tc>
                  <a:txBody>
                    <a:bodyPr/>
                    <a:lstStyle/>
                    <a:p>
                      <a:r>
                        <a:rPr sz="1000" b="0">
                          <a:solidFill>
                            <a:srgbClr val="16262B"/>
                          </a:solidFill>
                          <a:latin typeface="Calibri"/>
                        </a:rPr>
                        <a:t>0.60</a:t>
                      </a:r>
                    </a:p>
                  </a:txBody>
                  <a:tcPr marL="64008" marR="64008" marT="18288" marB="18288" anchor="ctr">
                    <a:lnL w="19050">
                      <a:solidFill>
                        <a:srgbClr val="FFFFFF"/>
                      </a:solidFill>
                    </a:lnL>
                    <a:lnR w="19050">
                      <a:solidFill>
                        <a:srgbClr val="FFFFFF"/>
                      </a:solidFill>
                    </a:lnR>
                    <a:lnT w="19050">
                      <a:solidFill>
                        <a:srgbClr val="FFFFFF"/>
                      </a:solidFill>
                    </a:lnT>
                    <a:lnB w="19050">
                      <a:solidFill>
                        <a:srgbClr val="FFFFFF"/>
                      </a:solidFill>
                    </a:lnB>
                    <a:solidFill>
                      <a:srgbClr val="FFFFFF"/>
                    </a:solidFill>
                  </a:tcPr>
                </a:tc>
                <a:tc>
                  <a:txBody>
                    <a:bodyPr/>
                    <a:lstStyle/>
                    <a:p>
                      <a:r>
                        <a:rPr sz="1000" b="0">
                          <a:solidFill>
                            <a:srgbClr val="9AA9AD"/>
                          </a:solidFill>
                          <a:latin typeface="Calibri"/>
                        </a:rPr>
                        <a:t>–</a:t>
                      </a:r>
                    </a:p>
                  </a:txBody>
                  <a:tcPr marL="64008" marR="64008" marT="18288" marB="18288" anchor="ctr">
                    <a:lnL w="19050">
                      <a:solidFill>
                        <a:srgbClr val="FFFFFF"/>
                      </a:solidFill>
                    </a:lnL>
                    <a:lnR w="19050">
                      <a:solidFill>
                        <a:srgbClr val="FFFFFF"/>
                      </a:solidFill>
                    </a:lnR>
                    <a:lnT w="19050">
                      <a:solidFill>
                        <a:srgbClr val="FFFFFF"/>
                      </a:solidFill>
                    </a:lnT>
                    <a:lnB w="19050">
                      <a:solidFill>
                        <a:srgbClr val="FFFFFF"/>
                      </a:solidFill>
                    </a:lnB>
                    <a:solidFill>
                      <a:srgbClr val="FFFFFF"/>
                    </a:solidFill>
                  </a:tcPr>
                </a:tc>
                <a:tc>
                  <a:txBody>
                    <a:bodyPr/>
                    <a:lstStyle/>
                    <a:p>
                      <a:r>
                        <a:rPr sz="1000" b="0">
                          <a:solidFill>
                            <a:srgbClr val="9AA9AD"/>
                          </a:solidFill>
                          <a:latin typeface="Calibri"/>
                        </a:rPr>
                        <a:t>–</a:t>
                      </a:r>
                    </a:p>
                  </a:txBody>
                  <a:tcPr marL="64008" marR="64008" marT="18288" marB="18288" anchor="ctr">
                    <a:lnL w="19050">
                      <a:solidFill>
                        <a:srgbClr val="FFFFFF"/>
                      </a:solidFill>
                    </a:lnL>
                    <a:lnR w="19050">
                      <a:solidFill>
                        <a:srgbClr val="FFFFFF"/>
                      </a:solidFill>
                    </a:lnR>
                    <a:lnT w="19050">
                      <a:solidFill>
                        <a:srgbClr val="FFFFFF"/>
                      </a:solidFill>
                    </a:lnT>
                    <a:lnB w="19050">
                      <a:solidFill>
                        <a:srgbClr val="FFFFFF"/>
                      </a:solidFill>
                    </a:lnB>
                    <a:solidFill>
                      <a:srgbClr val="FFFFFF"/>
                    </a:solidFill>
                  </a:tcPr>
                </a:tc>
                <a:tc>
                  <a:txBody>
                    <a:bodyPr/>
                    <a:lstStyle/>
                    <a:p>
                      <a:r>
                        <a:rPr sz="1000" b="0">
                          <a:solidFill>
                            <a:srgbClr val="9AA9AD"/>
                          </a:solidFill>
                          <a:latin typeface="Calibri"/>
                        </a:rPr>
                        <a:t>–</a:t>
                      </a:r>
                    </a:p>
                  </a:txBody>
                  <a:tcPr marL="64008" marR="64008" marT="18288" marB="18288" anchor="ctr">
                    <a:lnL w="19050">
                      <a:solidFill>
                        <a:srgbClr val="FFFFFF"/>
                      </a:solidFill>
                    </a:lnL>
                    <a:lnR w="19050">
                      <a:solidFill>
                        <a:srgbClr val="FFFFFF"/>
                      </a:solidFill>
                    </a:lnR>
                    <a:lnT w="19050">
                      <a:solidFill>
                        <a:srgbClr val="FFFFFF"/>
                      </a:solidFill>
                    </a:lnT>
                    <a:lnB w="19050">
                      <a:solidFill>
                        <a:srgbClr val="FFFFFF"/>
                      </a:solidFill>
                    </a:lnB>
                    <a:solidFill>
                      <a:srgbClr val="FFFFFF"/>
                    </a:solidFill>
                  </a:tcPr>
                </a:tc>
                <a:extLst>
                  <a:ext uri="{0D108BD9-81ED-4DB2-BD59-A6C34878D82A}">
                    <a16:rowId xmlns:a16="http://schemas.microsoft.com/office/drawing/2014/main" val="10008"/>
                  </a:ext>
                </a:extLst>
              </a:tr>
              <a:tr h="228600">
                <a:tc>
                  <a:txBody>
                    <a:bodyPr/>
                    <a:lstStyle/>
                    <a:p>
                      <a:r>
                        <a:rPr sz="1000" b="1">
                          <a:solidFill>
                            <a:srgbClr val="16262B"/>
                          </a:solidFill>
                          <a:latin typeface="Calibri"/>
                        </a:rPr>
                        <a:t>9</a:t>
                      </a:r>
                    </a:p>
                  </a:txBody>
                  <a:tcPr marL="64008" marR="64008" marT="18288" marB="18288" anchor="ctr">
                    <a:lnL w="19050">
                      <a:solidFill>
                        <a:srgbClr val="FFFFFF"/>
                      </a:solidFill>
                    </a:lnL>
                    <a:lnR w="19050">
                      <a:solidFill>
                        <a:srgbClr val="FFFFFF"/>
                      </a:solidFill>
                    </a:lnR>
                    <a:lnT w="19050">
                      <a:solidFill>
                        <a:srgbClr val="FFFFFF"/>
                      </a:solidFill>
                    </a:lnT>
                    <a:lnB w="19050">
                      <a:solidFill>
                        <a:srgbClr val="FFFFFF"/>
                      </a:solidFill>
                    </a:lnB>
                    <a:solidFill>
                      <a:srgbClr val="EDF5F5"/>
                    </a:solidFill>
                  </a:tcPr>
                </a:tc>
                <a:tc>
                  <a:txBody>
                    <a:bodyPr/>
                    <a:lstStyle/>
                    <a:p>
                      <a:r>
                        <a:rPr sz="1000" b="0">
                          <a:solidFill>
                            <a:srgbClr val="16262B"/>
                          </a:solidFill>
                          <a:latin typeface="Calibri"/>
                        </a:rPr>
                        <a:t>200 to 225</a:t>
                      </a:r>
                    </a:p>
                  </a:txBody>
                  <a:tcPr marL="64008" marR="64008" marT="18288" marB="18288" anchor="ctr">
                    <a:lnL w="19050">
                      <a:solidFill>
                        <a:srgbClr val="FFFFFF"/>
                      </a:solidFill>
                    </a:lnL>
                    <a:lnR w="19050">
                      <a:solidFill>
                        <a:srgbClr val="FFFFFF"/>
                      </a:solidFill>
                    </a:lnR>
                    <a:lnT w="19050">
                      <a:solidFill>
                        <a:srgbClr val="FFFFFF"/>
                      </a:solidFill>
                    </a:lnT>
                    <a:lnB w="19050">
                      <a:solidFill>
                        <a:srgbClr val="FFFFFF"/>
                      </a:solidFill>
                    </a:lnB>
                    <a:solidFill>
                      <a:srgbClr val="EDF5F5"/>
                    </a:solidFill>
                  </a:tcPr>
                </a:tc>
                <a:tc>
                  <a:txBody>
                    <a:bodyPr/>
                    <a:lstStyle/>
                    <a:p>
                      <a:r>
                        <a:rPr sz="1000" b="0">
                          <a:solidFill>
                            <a:srgbClr val="16262B"/>
                          </a:solidFill>
                          <a:latin typeface="Calibri"/>
                        </a:rPr>
                        <a:t>−3.6</a:t>
                      </a:r>
                    </a:p>
                  </a:txBody>
                  <a:tcPr marL="64008" marR="64008" marT="18288" marB="18288" anchor="ctr">
                    <a:lnL w="19050">
                      <a:solidFill>
                        <a:srgbClr val="FFFFFF"/>
                      </a:solidFill>
                    </a:lnL>
                    <a:lnR w="19050">
                      <a:solidFill>
                        <a:srgbClr val="FFFFFF"/>
                      </a:solidFill>
                    </a:lnR>
                    <a:lnT w="19050">
                      <a:solidFill>
                        <a:srgbClr val="FFFFFF"/>
                      </a:solidFill>
                    </a:lnT>
                    <a:lnB w="19050">
                      <a:solidFill>
                        <a:srgbClr val="FFFFFF"/>
                      </a:solidFill>
                    </a:lnB>
                    <a:solidFill>
                      <a:srgbClr val="EDF5F5"/>
                    </a:solidFill>
                  </a:tcPr>
                </a:tc>
                <a:tc>
                  <a:txBody>
                    <a:bodyPr/>
                    <a:lstStyle/>
                    <a:p>
                      <a:r>
                        <a:rPr sz="1000" b="0">
                          <a:solidFill>
                            <a:srgbClr val="16262B"/>
                          </a:solidFill>
                          <a:latin typeface="Calibri"/>
                        </a:rPr>
                        <a:t>0.39</a:t>
                      </a:r>
                    </a:p>
                  </a:txBody>
                  <a:tcPr marL="64008" marR="64008" marT="18288" marB="18288" anchor="ctr">
                    <a:lnL w="19050">
                      <a:solidFill>
                        <a:srgbClr val="FFFFFF"/>
                      </a:solidFill>
                    </a:lnL>
                    <a:lnR w="19050">
                      <a:solidFill>
                        <a:srgbClr val="FFFFFF"/>
                      </a:solidFill>
                    </a:lnR>
                    <a:lnT w="19050">
                      <a:solidFill>
                        <a:srgbClr val="FFFFFF"/>
                      </a:solidFill>
                    </a:lnT>
                    <a:lnB w="19050">
                      <a:solidFill>
                        <a:srgbClr val="FFFFFF"/>
                      </a:solidFill>
                    </a:lnB>
                    <a:solidFill>
                      <a:srgbClr val="EDF5F5"/>
                    </a:solidFill>
                  </a:tcPr>
                </a:tc>
                <a:tc>
                  <a:txBody>
                    <a:bodyPr/>
                    <a:lstStyle/>
                    <a:p>
                      <a:r>
                        <a:rPr sz="1000" b="0">
                          <a:solidFill>
                            <a:srgbClr val="9AA9AD"/>
                          </a:solidFill>
                          <a:latin typeface="Calibri"/>
                        </a:rPr>
                        <a:t>–</a:t>
                      </a:r>
                    </a:p>
                  </a:txBody>
                  <a:tcPr marL="64008" marR="64008" marT="18288" marB="18288" anchor="ctr">
                    <a:lnL w="19050">
                      <a:solidFill>
                        <a:srgbClr val="FFFFFF"/>
                      </a:solidFill>
                    </a:lnL>
                    <a:lnR w="19050">
                      <a:solidFill>
                        <a:srgbClr val="FFFFFF"/>
                      </a:solidFill>
                    </a:lnR>
                    <a:lnT w="19050">
                      <a:solidFill>
                        <a:srgbClr val="FFFFFF"/>
                      </a:solidFill>
                    </a:lnT>
                    <a:lnB w="19050">
                      <a:solidFill>
                        <a:srgbClr val="FFFFFF"/>
                      </a:solidFill>
                    </a:lnB>
                    <a:solidFill>
                      <a:srgbClr val="EDF5F5"/>
                    </a:solidFill>
                  </a:tcPr>
                </a:tc>
                <a:tc>
                  <a:txBody>
                    <a:bodyPr/>
                    <a:lstStyle/>
                    <a:p>
                      <a:r>
                        <a:rPr sz="1000" b="0">
                          <a:solidFill>
                            <a:srgbClr val="9AA9AD"/>
                          </a:solidFill>
                          <a:latin typeface="Calibri"/>
                        </a:rPr>
                        <a:t>–</a:t>
                      </a:r>
                    </a:p>
                  </a:txBody>
                  <a:tcPr marL="64008" marR="64008" marT="18288" marB="18288" anchor="ctr">
                    <a:lnL w="19050">
                      <a:solidFill>
                        <a:srgbClr val="FFFFFF"/>
                      </a:solidFill>
                    </a:lnL>
                    <a:lnR w="19050">
                      <a:solidFill>
                        <a:srgbClr val="FFFFFF"/>
                      </a:solidFill>
                    </a:lnR>
                    <a:lnT w="19050">
                      <a:solidFill>
                        <a:srgbClr val="FFFFFF"/>
                      </a:solidFill>
                    </a:lnT>
                    <a:lnB w="19050">
                      <a:solidFill>
                        <a:srgbClr val="FFFFFF"/>
                      </a:solidFill>
                    </a:lnB>
                    <a:solidFill>
                      <a:srgbClr val="EDF5F5"/>
                    </a:solidFill>
                  </a:tcPr>
                </a:tc>
                <a:tc>
                  <a:txBody>
                    <a:bodyPr/>
                    <a:lstStyle/>
                    <a:p>
                      <a:r>
                        <a:rPr sz="1000" b="0">
                          <a:solidFill>
                            <a:srgbClr val="9AA9AD"/>
                          </a:solidFill>
                          <a:latin typeface="Calibri"/>
                        </a:rPr>
                        <a:t>–</a:t>
                      </a:r>
                    </a:p>
                  </a:txBody>
                  <a:tcPr marL="64008" marR="64008" marT="18288" marB="18288" anchor="ctr">
                    <a:lnL w="19050">
                      <a:solidFill>
                        <a:srgbClr val="FFFFFF"/>
                      </a:solidFill>
                    </a:lnL>
                    <a:lnR w="19050">
                      <a:solidFill>
                        <a:srgbClr val="FFFFFF"/>
                      </a:solidFill>
                    </a:lnR>
                    <a:lnT w="19050">
                      <a:solidFill>
                        <a:srgbClr val="FFFFFF"/>
                      </a:solidFill>
                    </a:lnT>
                    <a:lnB w="19050">
                      <a:solidFill>
                        <a:srgbClr val="FFFFFF"/>
                      </a:solidFill>
                    </a:lnB>
                    <a:solidFill>
                      <a:srgbClr val="EDF5F5"/>
                    </a:solidFill>
                  </a:tcPr>
                </a:tc>
                <a:extLst>
                  <a:ext uri="{0D108BD9-81ED-4DB2-BD59-A6C34878D82A}">
                    <a16:rowId xmlns:a16="http://schemas.microsoft.com/office/drawing/2014/main" val="10009"/>
                  </a:ext>
                </a:extLst>
              </a:tr>
              <a:tr h="228600">
                <a:tc>
                  <a:txBody>
                    <a:bodyPr/>
                    <a:lstStyle/>
                    <a:p>
                      <a:r>
                        <a:rPr sz="1000" b="1">
                          <a:solidFill>
                            <a:srgbClr val="16262B"/>
                          </a:solidFill>
                          <a:latin typeface="Calibri"/>
                        </a:rPr>
                        <a:t>10</a:t>
                      </a:r>
                    </a:p>
                  </a:txBody>
                  <a:tcPr marL="64008" marR="64008" marT="18288" marB="18288" anchor="ctr">
                    <a:lnL w="19050">
                      <a:solidFill>
                        <a:srgbClr val="FFFFFF"/>
                      </a:solidFill>
                    </a:lnL>
                    <a:lnR w="19050">
                      <a:solidFill>
                        <a:srgbClr val="FFFFFF"/>
                      </a:solidFill>
                    </a:lnR>
                    <a:lnT w="19050">
                      <a:solidFill>
                        <a:srgbClr val="FFFFFF"/>
                      </a:solidFill>
                    </a:lnT>
                    <a:lnB w="19050">
                      <a:solidFill>
                        <a:srgbClr val="FFFFFF"/>
                      </a:solidFill>
                    </a:lnB>
                    <a:solidFill>
                      <a:srgbClr val="FFFFFF"/>
                    </a:solidFill>
                  </a:tcPr>
                </a:tc>
                <a:tc>
                  <a:txBody>
                    <a:bodyPr/>
                    <a:lstStyle/>
                    <a:p>
                      <a:r>
                        <a:rPr sz="1000" b="0">
                          <a:solidFill>
                            <a:srgbClr val="16262B"/>
                          </a:solidFill>
                          <a:latin typeface="Calibri"/>
                        </a:rPr>
                        <a:t>225 to 250</a:t>
                      </a:r>
                    </a:p>
                  </a:txBody>
                  <a:tcPr marL="64008" marR="64008" marT="18288" marB="18288" anchor="ctr">
                    <a:lnL w="19050">
                      <a:solidFill>
                        <a:srgbClr val="FFFFFF"/>
                      </a:solidFill>
                    </a:lnL>
                    <a:lnR w="19050">
                      <a:solidFill>
                        <a:srgbClr val="FFFFFF"/>
                      </a:solidFill>
                    </a:lnR>
                    <a:lnT w="19050">
                      <a:solidFill>
                        <a:srgbClr val="FFFFFF"/>
                      </a:solidFill>
                    </a:lnT>
                    <a:lnB w="19050">
                      <a:solidFill>
                        <a:srgbClr val="FFFFFF"/>
                      </a:solidFill>
                    </a:lnB>
                    <a:solidFill>
                      <a:srgbClr val="FFFFFF"/>
                    </a:solidFill>
                  </a:tcPr>
                </a:tc>
                <a:tc>
                  <a:txBody>
                    <a:bodyPr/>
                    <a:lstStyle/>
                    <a:p>
                      <a:r>
                        <a:rPr sz="1000" b="0">
                          <a:solidFill>
                            <a:srgbClr val="16262B"/>
                          </a:solidFill>
                          <a:latin typeface="Calibri"/>
                        </a:rPr>
                        <a:t>−3.5</a:t>
                      </a:r>
                    </a:p>
                  </a:txBody>
                  <a:tcPr marL="64008" marR="64008" marT="18288" marB="18288" anchor="ctr">
                    <a:lnL w="19050">
                      <a:solidFill>
                        <a:srgbClr val="FFFFFF"/>
                      </a:solidFill>
                    </a:lnL>
                    <a:lnR w="19050">
                      <a:solidFill>
                        <a:srgbClr val="FFFFFF"/>
                      </a:solidFill>
                    </a:lnR>
                    <a:lnT w="19050">
                      <a:solidFill>
                        <a:srgbClr val="FFFFFF"/>
                      </a:solidFill>
                    </a:lnT>
                    <a:lnB w="19050">
                      <a:solidFill>
                        <a:srgbClr val="FFFFFF"/>
                      </a:solidFill>
                    </a:lnB>
                    <a:solidFill>
                      <a:srgbClr val="FFFFFF"/>
                    </a:solidFill>
                  </a:tcPr>
                </a:tc>
                <a:tc>
                  <a:txBody>
                    <a:bodyPr/>
                    <a:lstStyle/>
                    <a:p>
                      <a:r>
                        <a:rPr sz="1000" b="0">
                          <a:solidFill>
                            <a:srgbClr val="16262B"/>
                          </a:solidFill>
                          <a:latin typeface="Calibri"/>
                        </a:rPr>
                        <a:t>0.32</a:t>
                      </a:r>
                    </a:p>
                  </a:txBody>
                  <a:tcPr marL="64008" marR="64008" marT="18288" marB="18288" anchor="ctr">
                    <a:lnL w="19050">
                      <a:solidFill>
                        <a:srgbClr val="FFFFFF"/>
                      </a:solidFill>
                    </a:lnL>
                    <a:lnR w="19050">
                      <a:solidFill>
                        <a:srgbClr val="FFFFFF"/>
                      </a:solidFill>
                    </a:lnR>
                    <a:lnT w="19050">
                      <a:solidFill>
                        <a:srgbClr val="FFFFFF"/>
                      </a:solidFill>
                    </a:lnT>
                    <a:lnB w="19050">
                      <a:solidFill>
                        <a:srgbClr val="FFFFFF"/>
                      </a:solidFill>
                    </a:lnB>
                    <a:solidFill>
                      <a:srgbClr val="FFFFFF"/>
                    </a:solidFill>
                  </a:tcPr>
                </a:tc>
                <a:tc>
                  <a:txBody>
                    <a:bodyPr/>
                    <a:lstStyle/>
                    <a:p>
                      <a:r>
                        <a:rPr sz="1000" b="0">
                          <a:solidFill>
                            <a:srgbClr val="9AA9AD"/>
                          </a:solidFill>
                          <a:latin typeface="Calibri"/>
                        </a:rPr>
                        <a:t>–</a:t>
                      </a:r>
                    </a:p>
                  </a:txBody>
                  <a:tcPr marL="64008" marR="64008" marT="18288" marB="18288" anchor="ctr">
                    <a:lnL w="19050">
                      <a:solidFill>
                        <a:srgbClr val="FFFFFF"/>
                      </a:solidFill>
                    </a:lnL>
                    <a:lnR w="19050">
                      <a:solidFill>
                        <a:srgbClr val="FFFFFF"/>
                      </a:solidFill>
                    </a:lnR>
                    <a:lnT w="19050">
                      <a:solidFill>
                        <a:srgbClr val="FFFFFF"/>
                      </a:solidFill>
                    </a:lnT>
                    <a:lnB w="19050">
                      <a:solidFill>
                        <a:srgbClr val="FFFFFF"/>
                      </a:solidFill>
                    </a:lnB>
                    <a:solidFill>
                      <a:srgbClr val="FFFFFF"/>
                    </a:solidFill>
                  </a:tcPr>
                </a:tc>
                <a:tc>
                  <a:txBody>
                    <a:bodyPr/>
                    <a:lstStyle/>
                    <a:p>
                      <a:r>
                        <a:rPr sz="1000" b="0">
                          <a:solidFill>
                            <a:srgbClr val="9AA9AD"/>
                          </a:solidFill>
                          <a:latin typeface="Calibri"/>
                        </a:rPr>
                        <a:t>–</a:t>
                      </a:r>
                    </a:p>
                  </a:txBody>
                  <a:tcPr marL="64008" marR="64008" marT="18288" marB="18288" anchor="ctr">
                    <a:lnL w="19050">
                      <a:solidFill>
                        <a:srgbClr val="FFFFFF"/>
                      </a:solidFill>
                    </a:lnL>
                    <a:lnR w="19050">
                      <a:solidFill>
                        <a:srgbClr val="FFFFFF"/>
                      </a:solidFill>
                    </a:lnR>
                    <a:lnT w="19050">
                      <a:solidFill>
                        <a:srgbClr val="FFFFFF"/>
                      </a:solidFill>
                    </a:lnT>
                    <a:lnB w="19050">
                      <a:solidFill>
                        <a:srgbClr val="FFFFFF"/>
                      </a:solidFill>
                    </a:lnB>
                    <a:solidFill>
                      <a:srgbClr val="FFFFFF"/>
                    </a:solidFill>
                  </a:tcPr>
                </a:tc>
                <a:tc>
                  <a:txBody>
                    <a:bodyPr/>
                    <a:lstStyle/>
                    <a:p>
                      <a:r>
                        <a:rPr sz="1000" b="0">
                          <a:solidFill>
                            <a:srgbClr val="9AA9AD"/>
                          </a:solidFill>
                          <a:latin typeface="Calibri"/>
                        </a:rPr>
                        <a:t>–</a:t>
                      </a:r>
                    </a:p>
                  </a:txBody>
                  <a:tcPr marL="64008" marR="64008" marT="18288" marB="18288" anchor="ctr">
                    <a:lnL w="19050">
                      <a:solidFill>
                        <a:srgbClr val="FFFFFF"/>
                      </a:solidFill>
                    </a:lnL>
                    <a:lnR w="19050">
                      <a:solidFill>
                        <a:srgbClr val="FFFFFF"/>
                      </a:solidFill>
                    </a:lnR>
                    <a:lnT w="19050">
                      <a:solidFill>
                        <a:srgbClr val="FFFFFF"/>
                      </a:solidFill>
                    </a:lnT>
                    <a:lnB w="19050">
                      <a:solidFill>
                        <a:srgbClr val="FFFFFF"/>
                      </a:solidFill>
                    </a:lnB>
                    <a:solidFill>
                      <a:srgbClr val="FFFFFF"/>
                    </a:solidFill>
                  </a:tcPr>
                </a:tc>
                <a:extLst>
                  <a:ext uri="{0D108BD9-81ED-4DB2-BD59-A6C34878D82A}">
                    <a16:rowId xmlns:a16="http://schemas.microsoft.com/office/drawing/2014/main" val="10010"/>
                  </a:ext>
                </a:extLst>
              </a:tr>
            </a:tbl>
          </a:graphicData>
        </a:graphic>
      </p:graphicFrame>
      <p:sp>
        <p:nvSpPr>
          <p:cNvPr id="5" name="Shape 4"/>
          <p:cNvSpPr/>
          <p:nvPr/>
        </p:nvSpPr>
        <p:spPr>
          <a:xfrm>
            <a:off x="6035040" y="1234440"/>
            <a:ext cx="2651760" cy="2514600"/>
          </a:xfrm>
          <a:prstGeom prst="roundRect">
            <a:avLst>
              <a:gd name="adj" fmla="val 9375"/>
            </a:avLst>
          </a:prstGeom>
          <a:solidFill>
            <a:srgbClr val="EDF5F5"/>
          </a:solidFill>
          <a:ln w="12700">
            <a:solidFill>
              <a:srgbClr val="EDF5F5"/>
            </a:solidFill>
            <a:prstDash val="solid"/>
          </a:ln>
        </p:spPr>
        <p:txBody>
          <a:bodyPr/>
          <a:lstStyle/>
          <a:p>
            <a:endParaRPr lang="sv-SE"/>
          </a:p>
        </p:txBody>
      </p:sp>
      <p:sp>
        <p:nvSpPr>
          <p:cNvPr id="6" name="TextBox 5"/>
          <p:cNvSpPr txBox="1"/>
          <p:nvPr/>
        </p:nvSpPr>
        <p:spPr>
          <a:xfrm>
            <a:off x="6217920" y="1389888"/>
            <a:ext cx="2286000" cy="228600"/>
          </a:xfrm>
          <a:prstGeom prst="rect">
            <a:avLst/>
          </a:prstGeom>
          <a:noFill/>
        </p:spPr>
        <p:txBody>
          <a:bodyPr wrap="square" lIns="0" tIns="0" rIns="0" bIns="0" anchor="t">
            <a:spAutoFit/>
          </a:bodyPr>
          <a:lstStyle/>
          <a:p>
            <a:r>
              <a:rPr sz="1100" b="1" spc="200">
                <a:solidFill>
                  <a:srgbClr val="028090"/>
                </a:solidFill>
                <a:latin typeface="Calibri"/>
              </a:rPr>
              <a:t>WHAT IT GIVES</a:t>
            </a:r>
          </a:p>
        </p:txBody>
      </p:sp>
      <p:sp>
        <p:nvSpPr>
          <p:cNvPr id="7" name="TextBox 6"/>
          <p:cNvSpPr txBox="1"/>
          <p:nvPr/>
        </p:nvSpPr>
        <p:spPr>
          <a:xfrm>
            <a:off x="6217920" y="1737360"/>
            <a:ext cx="2331720" cy="1920240"/>
          </a:xfrm>
          <a:prstGeom prst="rect">
            <a:avLst/>
          </a:prstGeom>
          <a:noFill/>
        </p:spPr>
        <p:txBody>
          <a:bodyPr wrap="square" lIns="0" tIns="0" rIns="0" bIns="0" anchor="t">
            <a:spAutoFit/>
          </a:bodyPr>
          <a:lstStyle/>
          <a:p>
            <a:pPr marL="171450" indent="-171450">
              <a:spcAft>
                <a:spcPts val="600"/>
              </a:spcAft>
              <a:buChar char="•"/>
            </a:pPr>
            <a:r>
              <a:rPr sz="1100" b="0">
                <a:solidFill>
                  <a:srgbClr val="16262B"/>
                </a:solidFill>
                <a:latin typeface="Calibri"/>
              </a:rPr>
              <a:t>TQI per section over time shows how fast each stretch deteriorates</a:t>
            </a:r>
          </a:p>
          <a:p>
            <a:pPr marL="171450" indent="-171450">
              <a:spcAft>
                <a:spcPts val="600"/>
              </a:spcAft>
              <a:buChar char="•"/>
            </a:pPr>
            <a:r>
              <a:rPr sz="1100" b="0">
                <a:solidFill>
                  <a:srgbClr val="16262B"/>
                </a:solidFill>
                <a:latin typeface="Calibri"/>
              </a:rPr>
              <a:t>Differences between runs flag where a fault is growing</a:t>
            </a:r>
          </a:p>
          <a:p>
            <a:pPr marL="171450" indent="-171450">
              <a:spcAft>
                <a:spcPts val="600"/>
              </a:spcAft>
              <a:buChar char="•"/>
            </a:pPr>
            <a:r>
              <a:rPr sz="1100" b="0">
                <a:solidFill>
                  <a:srgbClr val="16262B"/>
                </a:solidFill>
                <a:latin typeface="Calibri"/>
              </a:rPr>
              <a:t>Sharma et al. (2018) model TQI over 13 inspection runs in the same way</a:t>
            </a:r>
          </a:p>
        </p:txBody>
      </p:sp>
      <p:sp>
        <p:nvSpPr>
          <p:cNvPr id="8" name="Text 3"/>
          <p:cNvSpPr txBox="1"/>
          <p:nvPr/>
        </p:nvSpPr>
        <p:spPr>
          <a:xfrm>
            <a:off x="457200" y="3822191"/>
            <a:ext cx="8229600" cy="365760"/>
          </a:xfrm>
          <a:prstGeom prst="rect">
            <a:avLst/>
          </a:prstGeom>
          <a:noFill/>
          <a:ln/>
        </p:spPr>
        <p:txBody>
          <a:bodyPr wrap="square" lIns="0" tIns="0" rIns="0" bIns="0" rtlCol="0" anchor="ctr"/>
          <a:lstStyle/>
          <a:p>
            <a:pPr marL="0" indent="0">
              <a:buNone/>
            </a:pPr>
            <a:r>
              <a:rPr lang="en-US" sz="950" i="1" dirty="0">
                <a:solidFill>
                  <a:srgbClr val="5F7178"/>
                </a:solidFill>
                <a:latin typeface="Calibri" pitchFamily="34" charset="0"/>
                <a:ea typeface="Calibri" pitchFamily="34" charset="-122"/>
                <a:cs typeface="Calibri" pitchFamily="34" charset="-120"/>
              </a:rPr>
              <a:t>Run 1 is this scan on the fixed 25 m grid: gauge is the mean deviation from 1435 mm (mm), TQI combines gauge and alignment and is normalised with run 1. Runs 2 to n are not available yet.</a:t>
            </a:r>
            <a:endParaRPr lang="en-US" sz="950" dirty="0"/>
          </a:p>
        </p:txBody>
      </p:sp>
      <p:sp>
        <p:nvSpPr>
          <p:cNvPr id="9" name="Shape 16"/>
          <p:cNvSpPr/>
          <p:nvPr/>
        </p:nvSpPr>
        <p:spPr>
          <a:xfrm>
            <a:off x="457200" y="4224528"/>
            <a:ext cx="8229600" cy="457200"/>
          </a:xfrm>
          <a:prstGeom prst="roundRect">
            <a:avLst>
              <a:gd name="adj" fmla="val 9091"/>
            </a:avLst>
          </a:prstGeom>
          <a:solidFill>
            <a:srgbClr val="0B2027"/>
          </a:solidFill>
          <a:ln w="12700">
            <a:solidFill>
              <a:srgbClr val="0B2027"/>
            </a:solidFill>
            <a:prstDash val="solid"/>
          </a:ln>
        </p:spPr>
        <p:txBody>
          <a:bodyPr/>
          <a:lstStyle/>
          <a:p>
            <a:endParaRPr lang="sv-SE"/>
          </a:p>
        </p:txBody>
      </p:sp>
      <p:sp>
        <p:nvSpPr>
          <p:cNvPr id="10" name="Text 17"/>
          <p:cNvSpPr txBox="1"/>
          <p:nvPr/>
        </p:nvSpPr>
        <p:spPr>
          <a:xfrm>
            <a:off x="731520" y="4224528"/>
            <a:ext cx="7680960" cy="45720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Each new run adds a column. The trend per section is the result.</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ctr"/>
          <a:lstStyle/>
          <a:p>
            <a:pPr marL="0" indent="0">
              <a:buNone/>
            </a:pPr>
            <a:r>
              <a:rPr lang="en-US" sz="1100" b="1" kern="0" spc="200" dirty="0">
                <a:solidFill>
                  <a:srgbClr val="028090"/>
                </a:solidFill>
                <a:latin typeface="Calibri" pitchFamily="34" charset="0"/>
                <a:ea typeface="Calibri" pitchFamily="34" charset="-122"/>
                <a:cs typeface="Calibri" pitchFamily="34" charset="-120"/>
              </a:rPr>
              <a:t>NEXT</a:t>
            </a:r>
            <a:endParaRPr lang="en-US" sz="11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marL="0" indent="0">
              <a:buNone/>
            </a:pPr>
            <a:r>
              <a:rPr lang="en-US" sz="2700" b="1" dirty="0">
                <a:solidFill>
                  <a:srgbClr val="16262B"/>
                </a:solidFill>
                <a:latin typeface="Cambria" pitchFamily="34" charset="0"/>
                <a:ea typeface="Cambria" pitchFamily="34" charset="-122"/>
                <a:cs typeface="Cambria" pitchFamily="34" charset="-120"/>
              </a:rPr>
              <a:t>Questions for Amit, and what comes next</a:t>
            </a:r>
            <a:endParaRPr lang="en-US" sz="2700" dirty="0"/>
          </a:p>
        </p:txBody>
      </p:sp>
      <p:sp>
        <p:nvSpPr>
          <p:cNvPr id="4" name="Shape 4"/>
          <p:cNvSpPr/>
          <p:nvPr/>
        </p:nvSpPr>
        <p:spPr>
          <a:xfrm>
            <a:off x="457200" y="1325880"/>
            <a:ext cx="4023360" cy="2514600"/>
          </a:xfrm>
          <a:prstGeom prst="roundRect">
            <a:avLst>
              <a:gd name="adj" fmla="val 9375"/>
            </a:avLst>
          </a:prstGeom>
          <a:solidFill>
            <a:srgbClr val="EDF5F5"/>
          </a:solidFill>
          <a:ln w="12700">
            <a:solidFill>
              <a:srgbClr val="EDF5F5"/>
            </a:solidFill>
            <a:prstDash val="solid"/>
          </a:ln>
        </p:spPr>
        <p:txBody>
          <a:bodyPr/>
          <a:lstStyle/>
          <a:p>
            <a:endParaRPr lang="sv-SE"/>
          </a:p>
        </p:txBody>
      </p:sp>
      <p:sp>
        <p:nvSpPr>
          <p:cNvPr id="5" name="TextBox 4"/>
          <p:cNvSpPr txBox="1"/>
          <p:nvPr/>
        </p:nvSpPr>
        <p:spPr>
          <a:xfrm>
            <a:off x="685800" y="1508760"/>
            <a:ext cx="3566160" cy="228600"/>
          </a:xfrm>
          <a:prstGeom prst="rect">
            <a:avLst/>
          </a:prstGeom>
          <a:noFill/>
        </p:spPr>
        <p:txBody>
          <a:bodyPr wrap="square" lIns="0" tIns="0" rIns="0" bIns="0" anchor="t">
            <a:spAutoFit/>
          </a:bodyPr>
          <a:lstStyle/>
          <a:p>
            <a:r>
              <a:rPr sz="1100" b="1" spc="200">
                <a:solidFill>
                  <a:srgbClr val="028090"/>
                </a:solidFill>
                <a:latin typeface="Calibri"/>
              </a:rPr>
              <a:t>QUESTIONS FOR AMIT</a:t>
            </a:r>
          </a:p>
        </p:txBody>
      </p:sp>
      <p:sp>
        <p:nvSpPr>
          <p:cNvPr id="6" name="TextBox 5"/>
          <p:cNvSpPr txBox="1"/>
          <p:nvPr/>
        </p:nvSpPr>
        <p:spPr>
          <a:xfrm>
            <a:off x="685800" y="1874519"/>
            <a:ext cx="3611880" cy="1920240"/>
          </a:xfrm>
          <a:prstGeom prst="rect">
            <a:avLst/>
          </a:prstGeom>
          <a:noFill/>
        </p:spPr>
        <p:txBody>
          <a:bodyPr wrap="square" lIns="0" tIns="0" rIns="0" bIns="0" anchor="t">
            <a:spAutoFit/>
          </a:bodyPr>
          <a:lstStyle/>
          <a:p>
            <a:pPr marL="171450" indent="-171450">
              <a:spcAft>
                <a:spcPts val="700"/>
              </a:spcAft>
              <a:buChar char="•"/>
            </a:pPr>
            <a:r>
              <a:rPr sz="1200" b="0">
                <a:solidFill>
                  <a:srgbClr val="16262B"/>
                </a:solidFill>
                <a:latin typeface="Calibri"/>
              </a:rPr>
              <a:t>Are there more runs of this track, in the same coordinate system?</a:t>
            </a:r>
          </a:p>
          <a:p>
            <a:pPr marL="171450" indent="-171450">
              <a:spcAft>
                <a:spcPts val="700"/>
              </a:spcAft>
              <a:buChar char="•"/>
            </a:pPr>
            <a:r>
              <a:rPr sz="1200" b="0">
                <a:solidFill>
                  <a:srgbClr val="16262B"/>
                </a:solidFill>
                <a:latin typeface="Calibri"/>
              </a:rPr>
              <a:t>How repeatable are the positions between runs?</a:t>
            </a:r>
          </a:p>
          <a:p>
            <a:pPr marL="171450" indent="-171450">
              <a:spcAft>
                <a:spcPts val="700"/>
              </a:spcAft>
              <a:buChar char="•"/>
            </a:pPr>
            <a:r>
              <a:rPr sz="1200" b="0">
                <a:solidFill>
                  <a:srgbClr val="16262B"/>
                </a:solidFill>
                <a:latin typeface="Calibri"/>
              </a:rPr>
              <a:t>Is the height relative to the sensor, as it looks, and do all runs use the same reference?</a:t>
            </a:r>
          </a:p>
        </p:txBody>
      </p:sp>
      <p:sp>
        <p:nvSpPr>
          <p:cNvPr id="7" name="Shape 4"/>
          <p:cNvSpPr/>
          <p:nvPr/>
        </p:nvSpPr>
        <p:spPr>
          <a:xfrm>
            <a:off x="4663440" y="1325880"/>
            <a:ext cx="4023360" cy="2514600"/>
          </a:xfrm>
          <a:prstGeom prst="roundRect">
            <a:avLst>
              <a:gd name="adj" fmla="val 9375"/>
            </a:avLst>
          </a:prstGeom>
          <a:solidFill>
            <a:srgbClr val="EDF5F5"/>
          </a:solidFill>
          <a:ln w="12700">
            <a:solidFill>
              <a:srgbClr val="EDF5F5"/>
            </a:solidFill>
            <a:prstDash val="solid"/>
          </a:ln>
        </p:spPr>
        <p:txBody>
          <a:bodyPr/>
          <a:lstStyle/>
          <a:p>
            <a:endParaRPr lang="sv-SE"/>
          </a:p>
        </p:txBody>
      </p:sp>
      <p:sp>
        <p:nvSpPr>
          <p:cNvPr id="8" name="TextBox 7"/>
          <p:cNvSpPr txBox="1"/>
          <p:nvPr/>
        </p:nvSpPr>
        <p:spPr>
          <a:xfrm>
            <a:off x="4892040" y="1508760"/>
            <a:ext cx="3566160" cy="228600"/>
          </a:xfrm>
          <a:prstGeom prst="rect">
            <a:avLst/>
          </a:prstGeom>
          <a:noFill/>
        </p:spPr>
        <p:txBody>
          <a:bodyPr wrap="square" lIns="0" tIns="0" rIns="0" bIns="0" anchor="t">
            <a:spAutoFit/>
          </a:bodyPr>
          <a:lstStyle/>
          <a:p>
            <a:r>
              <a:rPr sz="1100" b="1" spc="200">
                <a:solidFill>
                  <a:srgbClr val="028090"/>
                </a:solidFill>
                <a:latin typeface="Calibri"/>
              </a:rPr>
              <a:t>NEXT STEPS</a:t>
            </a:r>
          </a:p>
        </p:txBody>
      </p:sp>
      <p:sp>
        <p:nvSpPr>
          <p:cNvPr id="9" name="TextBox 8"/>
          <p:cNvSpPr txBox="1"/>
          <p:nvPr/>
        </p:nvSpPr>
        <p:spPr>
          <a:xfrm>
            <a:off x="4892040" y="1874519"/>
            <a:ext cx="3611880" cy="1920240"/>
          </a:xfrm>
          <a:prstGeom prst="rect">
            <a:avLst/>
          </a:prstGeom>
          <a:noFill/>
        </p:spPr>
        <p:txBody>
          <a:bodyPr wrap="square" lIns="0" tIns="0" rIns="0" bIns="0" anchor="t">
            <a:spAutoFit/>
          </a:bodyPr>
          <a:lstStyle/>
          <a:p>
            <a:pPr marL="171450" indent="-171450">
              <a:spcAft>
                <a:spcPts val="700"/>
              </a:spcAft>
              <a:buChar char="•"/>
            </a:pPr>
            <a:r>
              <a:rPr sz="1200" b="0">
                <a:solidFill>
                  <a:srgbClr val="16262B"/>
                </a:solidFill>
                <a:latin typeface="Calibri"/>
              </a:rPr>
              <a:t>Build a second run with the same reference and compare it with run 1</a:t>
            </a:r>
          </a:p>
          <a:p>
            <a:pPr marL="171450" indent="-171450">
              <a:spcAft>
                <a:spcPts val="700"/>
              </a:spcAft>
              <a:buChar char="•"/>
            </a:pPr>
            <a:r>
              <a:rPr sz="1200" b="0">
                <a:solidFill>
                  <a:srgbClr val="16262B"/>
                </a:solidFill>
                <a:latin typeface="Calibri"/>
              </a:rPr>
              <a:t>Check how well the coordinates of real runs line up, and set change thresholds from that</a:t>
            </a:r>
          </a:p>
          <a:p>
            <a:pPr marL="171450" indent="-171450">
              <a:spcAft>
                <a:spcPts val="700"/>
              </a:spcAft>
              <a:buChar char="•"/>
            </a:pPr>
            <a:r>
              <a:rPr sz="1200" b="0">
                <a:solidFill>
                  <a:srgbClr val="16262B"/>
                </a:solidFill>
                <a:latin typeface="Calibri"/>
              </a:rPr>
              <a:t>Follow TQI per section over the runs, normalised with run 1</a:t>
            </a:r>
          </a:p>
        </p:txBody>
      </p:sp>
      <p:sp>
        <p:nvSpPr>
          <p:cNvPr id="10" name="Shape 16"/>
          <p:cNvSpPr/>
          <p:nvPr/>
        </p:nvSpPr>
        <p:spPr>
          <a:xfrm>
            <a:off x="457200" y="4114800"/>
            <a:ext cx="8229600" cy="530352"/>
          </a:xfrm>
          <a:prstGeom prst="roundRect">
            <a:avLst>
              <a:gd name="adj" fmla="val 9091"/>
            </a:avLst>
          </a:prstGeom>
          <a:solidFill>
            <a:srgbClr val="0B2027"/>
          </a:solidFill>
          <a:ln w="12700">
            <a:solidFill>
              <a:srgbClr val="0B2027"/>
            </a:solidFill>
            <a:prstDash val="solid"/>
          </a:ln>
        </p:spPr>
        <p:txBody>
          <a:bodyPr/>
          <a:lstStyle/>
          <a:p>
            <a:endParaRPr lang="sv-SE"/>
          </a:p>
        </p:txBody>
      </p:sp>
      <p:sp>
        <p:nvSpPr>
          <p:cNvPr id="11" name="Text 17"/>
          <p:cNvSpPr txBox="1"/>
          <p:nvPr/>
        </p:nvSpPr>
        <p:spPr>
          <a:xfrm>
            <a:off x="731520" y="4114800"/>
            <a:ext cx="7680960" cy="530352"/>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The number of runs, and how well they line up, decide how much change we can detect.</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2784521-C6C8-DADF-EE43-75F3B2008BE2}"/>
              </a:ext>
            </a:extLst>
          </p:cNvPr>
          <p:cNvPicPr>
            <a:picLocks noChangeAspect="1"/>
          </p:cNvPicPr>
          <p:nvPr/>
        </p:nvPicPr>
        <p:blipFill>
          <a:blip r:embed="rId2"/>
          <a:stretch>
            <a:fillRect/>
          </a:stretch>
        </p:blipFill>
        <p:spPr>
          <a:xfrm>
            <a:off x="0" y="891623"/>
            <a:ext cx="9144000" cy="3360254"/>
          </a:xfrm>
          <a:prstGeom prst="rect">
            <a:avLst/>
          </a:prstGeom>
        </p:spPr>
      </p:pic>
    </p:spTree>
    <p:extLst>
      <p:ext uri="{BB962C8B-B14F-4D97-AF65-F5344CB8AC3E}">
        <p14:creationId xmlns:p14="http://schemas.microsoft.com/office/powerpoint/2010/main" val="182756982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1751</TotalTime>
  <Words>3742</Words>
  <Application>Microsoft Office PowerPoint</Application>
  <PresentationFormat>Bildspel på skärmen (16:9)</PresentationFormat>
  <Paragraphs>475</Paragraphs>
  <Slides>25</Slides>
  <Notes>14</Notes>
  <HiddenSlides>0</HiddenSlides>
  <MMClips>0</MMClips>
  <ScaleCrop>false</ScaleCrop>
  <HeadingPairs>
    <vt:vector size="6" baseType="variant">
      <vt:variant>
        <vt:lpstr>Använt teckensnitt</vt:lpstr>
      </vt:variant>
      <vt:variant>
        <vt:i4>5</vt:i4>
      </vt:variant>
      <vt:variant>
        <vt:lpstr>Tema</vt:lpstr>
      </vt:variant>
      <vt:variant>
        <vt:i4>1</vt:i4>
      </vt:variant>
      <vt:variant>
        <vt:lpstr>Bildrubriker</vt:lpstr>
      </vt:variant>
      <vt:variant>
        <vt:i4>25</vt:i4>
      </vt:variant>
    </vt:vector>
  </HeadingPairs>
  <TitlesOfParts>
    <vt:vector size="31" baseType="lpstr">
      <vt:lpstr>Arial</vt:lpstr>
      <vt:lpstr>Calibri</vt:lpstr>
      <vt:lpstr>Cambria</vt:lpstr>
      <vt:lpstr>Symbol</vt:lpstr>
      <vt:lpstr>Times New Roman</vt:lpstr>
      <vt:lpstr>Office Theme</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Point Cloud Processing for Railway Track Geometry</dc:title>
  <dc:subject>PptxGenJS Presentation</dc:subject>
  <dc:creator>Viktor Lindberg</dc:creator>
  <cp:lastModifiedBy>Viktor Lindberg</cp:lastModifiedBy>
  <cp:revision>5</cp:revision>
  <dcterms:created xsi:type="dcterms:W3CDTF">2026-09-17T23:05:45Z</dcterms:created>
  <dcterms:modified xsi:type="dcterms:W3CDTF">2026-10-02T13:58:45Z</dcterms:modified>
</cp:coreProperties>
</file>