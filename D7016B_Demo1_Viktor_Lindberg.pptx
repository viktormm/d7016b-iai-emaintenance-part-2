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4" d="100"/>
          <a:sy n="114" d="100"/>
        </p:scale>
        <p:origin x="139" y="11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16262B"/>
                </a:solidFill>
                <a:latin typeface="Calibri"/>
              </a:defRPr>
            </a:pPr>
            <a:r>
              <a:rPr lang="sv-SE" sz="1200" b="0" i="0" u="none" strike="noStrike">
                <a:solidFill>
                  <a:srgbClr val="16262B"/>
                </a:solidFill>
                <a:latin typeface="Calibri"/>
              </a:rPr>
              <a:t>Model accuracy (%)</a:t>
            </a:r>
          </a:p>
        </c:rich>
      </c:tx>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028090"/>
            </a:solidFill>
            <a:effectLst/>
          </c:spPr>
          <c:invertIfNegative val="0"/>
          <c:dPt>
            <c:idx val="0"/>
            <c:invertIfNegative val="0"/>
            <c:bubble3D val="0"/>
            <c:extLst>
              <c:ext xmlns:c16="http://schemas.microsoft.com/office/drawing/2014/chart" uri="{C3380CC4-5D6E-409C-BE32-E72D297353CC}">
                <c16:uniqueId val="{00000001-25E2-4992-A084-889CB87EBD2A}"/>
              </c:ext>
            </c:extLst>
          </c:dPt>
          <c:dPt>
            <c:idx val="1"/>
            <c:invertIfNegative val="0"/>
            <c:bubble3D val="0"/>
            <c:spPr>
              <a:solidFill>
                <a:srgbClr val="00A896"/>
              </a:solidFill>
              <a:effectLst/>
            </c:spPr>
            <c:extLst>
              <c:ext xmlns:c16="http://schemas.microsoft.com/office/drawing/2014/chart" uri="{C3380CC4-5D6E-409C-BE32-E72D297353CC}">
                <c16:uniqueId val="{00000003-25E2-4992-A084-889CB87EBD2A}"/>
              </c:ext>
            </c:extLst>
          </c:dPt>
          <c:dLbls>
            <c:numFmt formatCode="0.0&quot;%&quot;" sourceLinked="0"/>
            <c:spPr>
              <a:noFill/>
              <a:ln>
                <a:noFill/>
              </a:ln>
              <a:effectLst/>
            </c:spPr>
            <c:txPr>
              <a:bodyPr/>
              <a:lstStyle/>
              <a:p>
                <a:pPr>
                  <a:defRPr sz="1200" b="0" i="0" u="none" strike="noStrike">
                    <a:solidFill>
                      <a:srgbClr val="16262B"/>
                    </a:solidFill>
                    <a:latin typeface="Calibri"/>
                  </a:defRPr>
                </a:pPr>
                <a:endParaRPr lang="sv-S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80/20 split</c:v>
                </c:pt>
                <c:pt idx="1">
                  <c:v>5-fold CV</c:v>
                </c:pt>
              </c:strCache>
            </c:strRef>
          </c:cat>
          <c:val>
            <c:numRef>
              <c:f>Sheet1!$B$2:$B$3</c:f>
              <c:numCache>
                <c:formatCode>General</c:formatCode>
                <c:ptCount val="2"/>
                <c:pt idx="0">
                  <c:v>93</c:v>
                </c:pt>
                <c:pt idx="1">
                  <c:v>96.7</c:v>
                </c:pt>
              </c:numCache>
            </c:numRef>
          </c:val>
          <c:extLst>
            <c:ext xmlns:c16="http://schemas.microsoft.com/office/drawing/2014/chart" uri="{C3380CC4-5D6E-409C-BE32-E72D297353CC}">
              <c16:uniqueId val="{00000004-25E2-4992-A084-889CB87EBD2A}"/>
            </c:ext>
          </c:extLst>
        </c:ser>
        <c:dLbls>
          <c:showLegendKey val="0"/>
          <c:showVal val="1"/>
          <c:showCatName val="0"/>
          <c:showSerName val="0"/>
          <c:showPercent val="0"/>
          <c:showBubbleSize val="0"/>
        </c:dLbls>
        <c:gapWidth val="13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178"/>
                </a:solidFill>
                <a:latin typeface="Calibri"/>
              </a:defRPr>
            </a:pPr>
            <a:endParaRPr lang="en-US"/>
          </a:p>
        </c:txPr>
        <c:crossAx val="2094734552"/>
        <c:crosses val="autoZero"/>
        <c:auto val="1"/>
        <c:lblAlgn val="ctr"/>
        <c:lblOffset val="100"/>
        <c:noMultiLvlLbl val="1"/>
      </c:catAx>
      <c:valAx>
        <c:axId val="2094734552"/>
        <c:scaling>
          <c:orientation val="minMax"/>
          <c:max val="100"/>
          <c:min val="80"/>
        </c:scaling>
        <c:delete val="0"/>
        <c:axPos val="l"/>
        <c:majorGridlines>
          <c:spPr>
            <a:ln w="12700" cap="flat">
              <a:solidFill>
                <a:srgbClr val="DDE7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178"/>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50" b="0" i="0" u="none" strike="noStrike">
                <a:solidFill>
                  <a:srgbClr val="16262B"/>
                </a:solidFill>
                <a:latin typeface="Calibri"/>
              </a:defRPr>
            </a:pPr>
            <a:r>
              <a:rPr lang="sv-SE" sz="1150" b="0" i="0" u="none" strike="noStrike">
                <a:solidFill>
                  <a:srgbClr val="16262B"/>
                </a:solidFill>
                <a:latin typeface="Calibri"/>
              </a:rPr>
              <a:t>Mean deviation from design, per parameter (illustrative)</a:t>
            </a:r>
          </a:p>
        </c:rich>
      </c:tx>
      <c:overlay val="0"/>
    </c:title>
    <c:autoTitleDeleted val="0"/>
    <c:plotArea>
      <c:layout/>
      <c:barChart>
        <c:barDir val="col"/>
        <c:grouping val="clustered"/>
        <c:varyColors val="0"/>
        <c:ser>
          <c:idx val="0"/>
          <c:order val="0"/>
          <c:tx>
            <c:strRef>
              <c:f>Sheet1!$B$1</c:f>
              <c:strCache>
                <c:ptCount val="1"/>
                <c:pt idx="0">
                  <c:v>Gauge-dominant</c:v>
                </c:pt>
              </c:strCache>
            </c:strRef>
          </c:tx>
          <c:spPr>
            <a:solidFill>
              <a:srgbClr val="0095AD"/>
            </a:solidFill>
            <a:effectLst/>
          </c:spPr>
          <c:invertIfNegative val="0"/>
          <c:cat>
            <c:strRef>
              <c:f>Sheet1!$A$2:$A$6</c:f>
              <c:strCache>
                <c:ptCount val="5"/>
                <c:pt idx="0">
                  <c:v>gauge</c:v>
                </c:pt>
                <c:pt idx="1">
                  <c:v>cross-level</c:v>
                </c:pt>
                <c:pt idx="2">
                  <c:v>cant</c:v>
                </c:pt>
                <c:pt idx="3">
                  <c:v>twist</c:v>
                </c:pt>
                <c:pt idx="4">
                  <c:v>surface</c:v>
                </c:pt>
              </c:strCache>
            </c:strRef>
          </c:cat>
          <c:val>
            <c:numRef>
              <c:f>Sheet1!$B$2:$B$6</c:f>
              <c:numCache>
                <c:formatCode>General</c:formatCode>
                <c:ptCount val="5"/>
                <c:pt idx="0">
                  <c:v>4.5999999999999996</c:v>
                </c:pt>
                <c:pt idx="1">
                  <c:v>1.1000000000000001</c:v>
                </c:pt>
                <c:pt idx="2">
                  <c:v>0.8</c:v>
                </c:pt>
                <c:pt idx="3">
                  <c:v>1.2</c:v>
                </c:pt>
                <c:pt idx="4">
                  <c:v>1</c:v>
                </c:pt>
              </c:numCache>
            </c:numRef>
          </c:val>
          <c:extLst>
            <c:ext xmlns:c16="http://schemas.microsoft.com/office/drawing/2014/chart" uri="{C3380CC4-5D6E-409C-BE32-E72D297353CC}">
              <c16:uniqueId val="{00000000-8027-4FF7-B7F9-DC91F956B89C}"/>
            </c:ext>
          </c:extLst>
        </c:ser>
        <c:ser>
          <c:idx val="1"/>
          <c:order val="1"/>
          <c:tx>
            <c:strRef>
              <c:f>Sheet1!$C$1</c:f>
              <c:strCache>
                <c:ptCount val="1"/>
                <c:pt idx="0">
                  <c:v>Twist-dominant</c:v>
                </c:pt>
              </c:strCache>
            </c:strRef>
          </c:tx>
          <c:spPr>
            <a:solidFill>
              <a:srgbClr val="E8604C"/>
            </a:solidFill>
            <a:effectLst/>
          </c:spPr>
          <c:invertIfNegative val="0"/>
          <c:cat>
            <c:strRef>
              <c:f>Sheet1!$A$2:$A$6</c:f>
              <c:strCache>
                <c:ptCount val="5"/>
                <c:pt idx="0">
                  <c:v>gauge</c:v>
                </c:pt>
                <c:pt idx="1">
                  <c:v>cross-level</c:v>
                </c:pt>
                <c:pt idx="2">
                  <c:v>cant</c:v>
                </c:pt>
                <c:pt idx="3">
                  <c:v>twist</c:v>
                </c:pt>
                <c:pt idx="4">
                  <c:v>surface</c:v>
                </c:pt>
              </c:strCache>
            </c:strRef>
          </c:cat>
          <c:val>
            <c:numRef>
              <c:f>Sheet1!$C$2:$C$6</c:f>
              <c:numCache>
                <c:formatCode>General</c:formatCode>
                <c:ptCount val="5"/>
                <c:pt idx="0">
                  <c:v>1</c:v>
                </c:pt>
                <c:pt idx="1">
                  <c:v>2.4</c:v>
                </c:pt>
                <c:pt idx="2">
                  <c:v>0.9</c:v>
                </c:pt>
                <c:pt idx="3">
                  <c:v>5.0999999999999996</c:v>
                </c:pt>
                <c:pt idx="4">
                  <c:v>1.3</c:v>
                </c:pt>
              </c:numCache>
            </c:numRef>
          </c:val>
          <c:extLst>
            <c:ext xmlns:c16="http://schemas.microsoft.com/office/drawing/2014/chart" uri="{C3380CC4-5D6E-409C-BE32-E72D297353CC}">
              <c16:uniqueId val="{00000001-8027-4FF7-B7F9-DC91F956B89C}"/>
            </c:ext>
          </c:extLst>
        </c:ser>
        <c:ser>
          <c:idx val="2"/>
          <c:order val="2"/>
          <c:tx>
            <c:strRef>
              <c:f>Sheet1!$D$1</c:f>
              <c:strCache>
                <c:ptCount val="1"/>
                <c:pt idx="0">
                  <c:v>Surface-dominant</c:v>
                </c:pt>
              </c:strCache>
            </c:strRef>
          </c:tx>
          <c:spPr>
            <a:solidFill>
              <a:srgbClr val="4A3AA7"/>
            </a:solidFill>
            <a:effectLst/>
          </c:spPr>
          <c:invertIfNegative val="0"/>
          <c:cat>
            <c:strRef>
              <c:f>Sheet1!$A$2:$A$6</c:f>
              <c:strCache>
                <c:ptCount val="5"/>
                <c:pt idx="0">
                  <c:v>gauge</c:v>
                </c:pt>
                <c:pt idx="1">
                  <c:v>cross-level</c:v>
                </c:pt>
                <c:pt idx="2">
                  <c:v>cant</c:v>
                </c:pt>
                <c:pt idx="3">
                  <c:v>twist</c:v>
                </c:pt>
                <c:pt idx="4">
                  <c:v>surface</c:v>
                </c:pt>
              </c:strCache>
            </c:strRef>
          </c:cat>
          <c:val>
            <c:numRef>
              <c:f>Sheet1!$D$2:$D$6</c:f>
              <c:numCache>
                <c:formatCode>General</c:formatCode>
                <c:ptCount val="5"/>
                <c:pt idx="0">
                  <c:v>1.2</c:v>
                </c:pt>
                <c:pt idx="1">
                  <c:v>1</c:v>
                </c:pt>
                <c:pt idx="2">
                  <c:v>0.7</c:v>
                </c:pt>
                <c:pt idx="3">
                  <c:v>1.4</c:v>
                </c:pt>
                <c:pt idx="4">
                  <c:v>4.4000000000000004</c:v>
                </c:pt>
              </c:numCache>
            </c:numRef>
          </c:val>
          <c:extLst>
            <c:ext xmlns:c16="http://schemas.microsoft.com/office/drawing/2014/chart" uri="{C3380CC4-5D6E-409C-BE32-E72D297353CC}">
              <c16:uniqueId val="{00000002-8027-4FF7-B7F9-DC91F956B89C}"/>
            </c:ext>
          </c:extLst>
        </c:ser>
        <c:dLbls>
          <c:showLegendKey val="0"/>
          <c:showVal val="0"/>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178"/>
                </a:solidFill>
                <a:latin typeface="Calibri"/>
              </a:defRPr>
            </a:pPr>
            <a:endParaRPr lang="en-US"/>
          </a:p>
        </c:txPr>
        <c:crossAx val="2094734552"/>
        <c:crosses val="autoZero"/>
        <c:auto val="1"/>
        <c:lblAlgn val="ctr"/>
        <c:lblOffset val="100"/>
        <c:noMultiLvlLbl val="1"/>
      </c:catAx>
      <c:valAx>
        <c:axId val="2094734552"/>
        <c:scaling>
          <c:orientation val="minMax"/>
          <c:max val="6"/>
          <c:min val="0"/>
        </c:scaling>
        <c:delete val="0"/>
        <c:axPos val="l"/>
        <c:majorGridlines>
          <c:spPr>
            <a:ln w="12700" cap="flat">
              <a:solidFill>
                <a:srgbClr val="DDE7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178"/>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00803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I want to measure the shape of the track from a 3D laser scan, and check it against the abnormal vibration events I already found in the previous course. Mention that Amit has agreed to have data collected for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Sensors measured how hard the wheels hit the track. Each event was summarised into 16 numbers describing the shape of the vibration signal, and an SVM learned to separate normal from abnormal. Four selection methods were compared - Pearson correlation, mutual information, recursive feature elimination and Lasso. RFE was best: 9 of the 16 features matched the full 96.7 per cent cross-validated accuracy, and 6 features reached 95.3 per cent. The six it kept are physically sensible - two measures of how sharp the impact is, one of how big it is, and three of its frequency character. The point of the slide: the model is good at saying THAT something is wrong.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motivation. For a maintenance planner, knowing something is wrong at km 42.3 is much less useful than knowing the gauge there is 8 mm too wide.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I already built, with geometry columns added. The vibration is a symptom; the 3D data measures the thing causing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come from the paper Amit sent (Sharma et al. 2018), and all five can be measured from a point cloud. Cant is the odd one out: it is the cross-level a curve is meant to have, because the outer rail is deliberately raised so trains can take the curve. So on a curve the quantity that matters is measured cross-level minus design cant. Twist then follows from cross-level measured at two points a fixed distance apart.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it in three sentences: each section gives a series of measurements, not one number. If the track were perfect, plotting them would give a straight line exactly as long as the section. Every wobble makes that line longer, and TQI is the extra length. The x10^6 is only cosmetic - it turns 0.000002 into 2. The formula is applied to each parameter separately, because gauge is in millimetres and cant is an angle and they cannot be added; each column is normalised by its own 95th percentile and averaged into the TQI column. Keep the individual columns as well as the TQI - if one fault type drives the abnormal events, averaging them together would hide it. Say clearly that these numbers are illustrative.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3 are the point cloud processing - the bulk of the project and what the course brief asks for. Step 3 is where the condition table and the TQI come from. Step 4 is the join, and it is the step that depends on there being position information in the vibration data. Steps 5 and 6 are the analysis, and the next slide expands them. Flag that the centreline inside step 1 is what makes everything else possible: gauge has to be measured perpendicular to the track, and on a curve that direction changes constantly.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one-slide version of where the project is heading; the three backup slides at the end expand each step. Step 1: standardise the five geometry parameters, reduce them with PCA and group the abnormal events with k-means, choosing the number of clusters by silhouette score. Strictly the clustering can be done in the full five-dimensional space with PCA used only to plot it - say that if asked, it is the more careful version. Step 2: for each cluster, look at which parameter sits furthest from design, and name the cluster after it. Step 3: train the classifier on the vibration features only. The headline is the two rows at the bottom: today two classes, the aim is one normal class plus three or four named fault types. If asked whether that is circular - it is not. Geometry defines the types once; the classifier never sees geometry, so after one survey the onboard sensor can diagnose on its 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time plan quickly rather than reading it out. Phase 1 is essentially done: the scope is agreed, the plan is submitted, the paper is read and the introduction is drafted. The red cells are the tasks still open today. Point out that the pipeline is being built on a public railway dataset so the work is not blocked while LTU collects the data, and that if the two datasets cannot be matched in the end, steps 1 to 3 still make a complete project.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position-log question out loud here: do the vibration runs have a speed or position log? Whether that exists decides whether the two datasets can be matched at all, and someone in the room may simply know. Two other things worth raising if there is time: whether 25 m is a sensible section length, and which TQI formulation they would use.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goal plainly: today the model has two classes, and the aim is to end with one normal class plus three or four named fault types. The geometry is what defines those types - take only the events already flagged abnormal, describe each by the geometry measured at that location, and cluster them with k-means. No hand labelling is needed. Choose the number of clusters with a silhouette score rather than by eye, and if the clusters turn out weak, say so - it would mean the vibration signature is driven by something the scanner cannot see, which is itself a finding. If asked about the axes: they are the first two principal components, so each axis is a mixture of all five geometry parameters and has no physical unit. The projection only shows that groups exist; the next slide is what says what each group is made of, in real units. This figure is illustrative; there is no data yet.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what makes the clusters mean something. Each group is described by which parameter is furthest from design, so cluster 1 becomes a gauge fault, cluster 2 a twist fault, and so on. That is the diagnosis: not just that the track is bad here, but what is wrong with it. Normalise each parameter before comparing, since they are in different units.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for the obvious challenge: is this circular? No - and this is the important point. The fault types are defined from the geometry, but the classifier is trained on the vibration features only. So geometry supplies the ground truth once, and after that the cheap onboard sensor can diagnose on its own. That is what would make the method deployable: you do not need to laser scan the network every time you want a diagnosis. Compare against the two-class baseline from Assignment 3 and use the same cross-validation, and read the off-diagonal cells as well as the accuracy - confusing twist with surface matters less than missing a fault entirely. With only 150 events and four classes the per-class counts are small, so report cross-validated figures rather than a single split.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for reference rather than presenting it. Two traps worth remembering. First, gauge and the spacing must be in the same unit - gauge in millimetres against a spacing in metres gives nonsense. Second, only the differences between neighbouring measurements enter the formula, so a section that is uniformly 10 mm too wide but perfectly smooth scores TQI = 0. TQI measures roughness, not offset, which is why the fault-signature analysis uses mean deviation from design instead.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6675120" y="-1005840"/>
            <a:ext cx="3840480" cy="3840480"/>
          </a:xfrm>
          <a:prstGeom prst="ellipse">
            <a:avLst/>
          </a:prstGeom>
          <a:solidFill>
            <a:srgbClr val="028090">
              <a:alpha val="22000"/>
            </a:srgbClr>
          </a:solidFill>
          <a:ln w="12700">
            <a:solidFill>
              <a:srgbClr val="333333"/>
            </a:solidFill>
            <a:prstDash val="solid"/>
          </a:ln>
        </p:spPr>
        <p:txBody>
          <a:bodyPr/>
          <a:lstStyle/>
          <a:p>
            <a:endParaRPr lang="sv-SE"/>
          </a:p>
        </p:txBody>
      </p:sp>
      <p:sp>
        <p:nvSpPr>
          <p:cNvPr id="3" name="Shape 1"/>
          <p:cNvSpPr/>
          <p:nvPr/>
        </p:nvSpPr>
        <p:spPr>
          <a:xfrm>
            <a:off x="7680960" y="2651760"/>
            <a:ext cx="2377440" cy="2377440"/>
          </a:xfrm>
          <a:prstGeom prst="ellipse">
            <a:avLst/>
          </a:prstGeom>
          <a:solidFill>
            <a:srgbClr val="00A896">
              <a:alpha val="15000"/>
            </a:srgbClr>
          </a:solidFill>
          <a:ln w="12700">
            <a:solidFill>
              <a:srgbClr val="333333"/>
            </a:solidFill>
            <a:prstDash val="solid"/>
          </a:ln>
        </p:spPr>
        <p:txBody>
          <a:bodyPr/>
          <a:lstStyle/>
          <a:p>
            <a:endParaRPr lang="sv-SE"/>
          </a:p>
        </p:txBody>
      </p:sp>
      <p:sp>
        <p:nvSpPr>
          <p:cNvPr id="4" name="Text 2"/>
          <p:cNvSpPr txBox="1"/>
          <p:nvPr/>
        </p:nvSpPr>
        <p:spPr>
          <a:xfrm>
            <a:off x="457200" y="1097280"/>
            <a:ext cx="6766560" cy="256032"/>
          </a:xfrm>
          <a:prstGeom prst="rect">
            <a:avLst/>
          </a:prstGeom>
          <a:noFill/>
          <a:ln/>
        </p:spPr>
        <p:txBody>
          <a:bodyPr wrap="square" lIns="0" tIns="0" rIns="0" bIns="0" rtlCol="0" anchor="ctr"/>
          <a:lstStyle/>
          <a:p>
            <a:pPr marL="0" indent="0">
              <a:buNone/>
            </a:pPr>
            <a:r>
              <a:rPr lang="en-US" sz="1150" b="1" kern="0" spc="200" dirty="0">
                <a:solidFill>
                  <a:srgbClr val="00A896"/>
                </a:solidFill>
                <a:latin typeface="Calibri" pitchFamily="34" charset="0"/>
                <a:ea typeface="Calibri" pitchFamily="34" charset="-122"/>
                <a:cs typeface="Calibri" pitchFamily="34" charset="-120"/>
              </a:rPr>
              <a:t>D7016B · PROJECT DEMONSTRATION 1</a:t>
            </a:r>
            <a:endParaRPr lang="en-US" sz="1150" dirty="0"/>
          </a:p>
        </p:txBody>
      </p:sp>
      <p:sp>
        <p:nvSpPr>
          <p:cNvPr id="5" name="Text 3"/>
          <p:cNvSpPr txBox="1"/>
          <p:nvPr/>
        </p:nvSpPr>
        <p:spPr>
          <a:xfrm>
            <a:off x="457200" y="1417320"/>
            <a:ext cx="6858000" cy="1097280"/>
          </a:xfrm>
          <a:prstGeom prst="rect">
            <a:avLst/>
          </a:prstGeom>
          <a:noFill/>
          <a:ln/>
        </p:spPr>
        <p:txBody>
          <a:bodyPr wrap="square" lIns="0" tIns="0" rIns="0" bIns="0" rtlCol="0" anchor="ctr"/>
          <a:lstStyle/>
          <a:p>
            <a:pPr marL="0" indent="0">
              <a:buNone/>
            </a:pPr>
            <a:r>
              <a:rPr lang="en-US" sz="3100" b="1" dirty="0">
                <a:solidFill>
                  <a:srgbClr val="FFFFFF"/>
                </a:solidFill>
                <a:latin typeface="Cambria" pitchFamily="34" charset="0"/>
                <a:ea typeface="Cambria" pitchFamily="34" charset="-122"/>
                <a:cs typeface="Cambria" pitchFamily="34" charset="-120"/>
              </a:rPr>
              <a:t>Railway track geometry from point cloud data</a:t>
            </a:r>
            <a:endParaRPr lang="en-US" sz="3100" dirty="0"/>
          </a:p>
        </p:txBody>
      </p:sp>
      <p:sp>
        <p:nvSpPr>
          <p:cNvPr id="6" name="Text 4"/>
          <p:cNvSpPr txBox="1"/>
          <p:nvPr/>
        </p:nvSpPr>
        <p:spPr>
          <a:xfrm>
            <a:off x="457200" y="2560320"/>
            <a:ext cx="6583680" cy="365760"/>
          </a:xfrm>
          <a:prstGeom prst="rect">
            <a:avLst/>
          </a:prstGeom>
          <a:noFill/>
          <a:ln/>
        </p:spPr>
        <p:txBody>
          <a:bodyPr wrap="square" lIns="0" tIns="0" rIns="0" bIns="0" rtlCol="0" anchor="ctr"/>
          <a:lstStyle/>
          <a:p>
            <a:pPr marL="0" indent="0">
              <a:buNone/>
            </a:pPr>
            <a:r>
              <a:rPr lang="en-US" sz="1600" i="1" dirty="0">
                <a:solidFill>
                  <a:srgbClr val="00A896"/>
                </a:solidFill>
                <a:latin typeface="Calibri" pitchFamily="34" charset="0"/>
                <a:ea typeface="Calibri" pitchFamily="34" charset="-122"/>
                <a:cs typeface="Calibri" pitchFamily="34" charset="-120"/>
              </a:rPr>
              <a:t>…and how it relates to abnormal vibration events</a:t>
            </a:r>
            <a:endParaRPr lang="en-US" sz="1600" dirty="0"/>
          </a:p>
        </p:txBody>
      </p:sp>
      <p:sp>
        <p:nvSpPr>
          <p:cNvPr id="7" name="Text 5"/>
          <p:cNvSpPr txBox="1"/>
          <p:nvPr/>
        </p:nvSpPr>
        <p:spPr>
          <a:xfrm>
            <a:off x="457200" y="3703320"/>
            <a:ext cx="5943600" cy="914400"/>
          </a:xfrm>
          <a:prstGeom prst="rect">
            <a:avLst/>
          </a:prstGeom>
          <a:noFill/>
          <a:ln/>
        </p:spPr>
        <p:txBody>
          <a:bodyPr wrap="square" lIns="0" tIns="0" rIns="0" bIns="0" rtlCol="0" anchor="ctr"/>
          <a:lstStyle/>
          <a:p>
            <a:pPr marL="0" indent="0">
              <a:lnSpc>
                <a:spcPts val="1800"/>
              </a:lnSpc>
              <a:buNone/>
            </a:pPr>
            <a:r>
              <a:rPr lang="en-US" sz="1250" b="1" dirty="0">
                <a:solidFill>
                  <a:srgbClr val="C7D8DB"/>
                </a:solidFill>
                <a:latin typeface="Calibri" pitchFamily="34" charset="0"/>
                <a:ea typeface="Calibri" pitchFamily="34" charset="-122"/>
                <a:cs typeface="Calibri" pitchFamily="34" charset="-120"/>
              </a:rPr>
              <a:t>Viktor Lindberg</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Supervisor: Amit Patwardhan</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Luleå University of Technology · D7016B – Industrial AI and </a:t>
            </a:r>
            <a:r>
              <a:rPr lang="en-US" sz="1250" dirty="0" err="1">
                <a:solidFill>
                  <a:srgbClr val="C7D8DB"/>
                </a:solidFill>
                <a:latin typeface="Calibri" pitchFamily="34" charset="0"/>
                <a:ea typeface="Calibri" pitchFamily="34" charset="-122"/>
                <a:cs typeface="Calibri" pitchFamily="34" charset="-120"/>
              </a:rPr>
              <a:t>eMaintenance</a:t>
            </a:r>
            <a:r>
              <a:rPr lang="en-US" sz="1250" dirty="0">
                <a:solidFill>
                  <a:srgbClr val="C7D8DB"/>
                </a:solidFill>
                <a:latin typeface="Calibri" pitchFamily="34" charset="0"/>
                <a:ea typeface="Calibri" pitchFamily="34" charset="-122"/>
                <a:cs typeface="Calibri" pitchFamily="34" charset="-120"/>
              </a:rPr>
              <a:t>: Part II</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WHERE THIS STARTS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From the previous course</a:t>
            </a:r>
            <a:endParaRPr lang="en-US" sz="2700" dirty="0"/>
          </a:p>
        </p:txBody>
      </p:sp>
      <p:sp>
        <p:nvSpPr>
          <p:cNvPr id="4" name="Shape 2"/>
          <p:cNvSpPr/>
          <p:nvPr/>
        </p:nvSpPr>
        <p:spPr>
          <a:xfrm>
            <a:off x="457200" y="1261872"/>
            <a:ext cx="3931920" cy="658368"/>
          </a:xfrm>
          <a:prstGeom prst="roundRect">
            <a:avLst>
              <a:gd name="adj" fmla="val 8333"/>
            </a:avLst>
          </a:prstGeom>
          <a:solidFill>
            <a:srgbClr val="EDF5F5"/>
          </a:solidFill>
          <a:ln w="12700">
            <a:solidFill>
              <a:srgbClr val="EDF5F5"/>
            </a:solidFill>
            <a:prstDash val="solid"/>
          </a:ln>
        </p:spPr>
        <p:txBody>
          <a:bodyPr/>
          <a:lstStyle/>
          <a:p>
            <a:endParaRPr lang="sv-SE"/>
          </a:p>
        </p:txBody>
      </p:sp>
      <p:sp>
        <p:nvSpPr>
          <p:cNvPr id="5" name="Text 3"/>
          <p:cNvSpPr txBox="1"/>
          <p:nvPr/>
        </p:nvSpPr>
        <p:spPr>
          <a:xfrm>
            <a:off x="594360" y="1261872"/>
            <a:ext cx="1051560" cy="658368"/>
          </a:xfrm>
          <a:prstGeom prst="rect">
            <a:avLst/>
          </a:prstGeom>
          <a:noFill/>
          <a:ln/>
        </p:spPr>
        <p:txBody>
          <a:bodyPr wrap="square" lIns="0" tIns="0" rIns="0" bIns="0" rtlCol="0" anchor="ctr"/>
          <a:lstStyle/>
          <a:p>
            <a:pPr marL="0" indent="0" algn="ctr">
              <a:buNone/>
            </a:pPr>
            <a:r>
              <a:rPr lang="en-US" sz="2400" b="1" dirty="0">
                <a:solidFill>
                  <a:srgbClr val="028090"/>
                </a:solidFill>
                <a:latin typeface="Cambria" pitchFamily="34" charset="0"/>
                <a:ea typeface="Cambria" pitchFamily="34" charset="-122"/>
                <a:cs typeface="Cambria" pitchFamily="34" charset="-120"/>
              </a:rPr>
              <a:t>150</a:t>
            </a:r>
            <a:endParaRPr lang="en-US" sz="2400" dirty="0"/>
          </a:p>
        </p:txBody>
      </p:sp>
      <p:sp>
        <p:nvSpPr>
          <p:cNvPr id="6" name="Text 4"/>
          <p:cNvSpPr txBox="1"/>
          <p:nvPr/>
        </p:nvSpPr>
        <p:spPr>
          <a:xfrm>
            <a:off x="1691640" y="1316736"/>
            <a:ext cx="2606040" cy="256032"/>
          </a:xfrm>
          <a:prstGeom prst="rect">
            <a:avLst/>
          </a:prstGeom>
          <a:noFill/>
          <a:ln/>
        </p:spPr>
        <p:txBody>
          <a:bodyPr wrap="square" lIns="0" tIns="0" rIns="0" bIns="0" rtlCol="0" anchor="ctr"/>
          <a:lstStyle/>
          <a:p>
            <a:pPr marL="0" indent="0">
              <a:buNone/>
            </a:pPr>
            <a:r>
              <a:rPr lang="en-US" sz="1250" b="1" dirty="0">
                <a:solidFill>
                  <a:srgbClr val="16262B"/>
                </a:solidFill>
                <a:latin typeface="Calibri" pitchFamily="34" charset="0"/>
                <a:ea typeface="Calibri" pitchFamily="34" charset="-122"/>
                <a:cs typeface="Calibri" pitchFamily="34" charset="-120"/>
              </a:rPr>
              <a:t>vibration events</a:t>
            </a:r>
            <a:endParaRPr lang="en-US" sz="1250" dirty="0"/>
          </a:p>
        </p:txBody>
      </p:sp>
      <p:sp>
        <p:nvSpPr>
          <p:cNvPr id="7" name="Text 5"/>
          <p:cNvSpPr txBox="1"/>
          <p:nvPr/>
        </p:nvSpPr>
        <p:spPr>
          <a:xfrm>
            <a:off x="1691640" y="1572768"/>
            <a:ext cx="2633472" cy="310896"/>
          </a:xfrm>
          <a:prstGeom prst="rect">
            <a:avLst/>
          </a:prstGeom>
          <a:noFill/>
          <a:ln/>
        </p:spPr>
        <p:txBody>
          <a:bodyPr wrap="square" lIns="0" tIns="0" rIns="0" bIns="0" rtlCol="0" anchor="ctr"/>
          <a:lstStyle/>
          <a:p>
            <a:pPr marL="0" indent="0">
              <a:buNone/>
            </a:pPr>
            <a:r>
              <a:rPr lang="en-US" sz="950" dirty="0">
                <a:solidFill>
                  <a:srgbClr val="5F7178"/>
                </a:solidFill>
                <a:latin typeface="Calibri" pitchFamily="34" charset="0"/>
                <a:ea typeface="Calibri" pitchFamily="34" charset="-122"/>
                <a:cs typeface="Calibri" pitchFamily="34" charset="-120"/>
              </a:rPr>
              <a:t>three measurement trials at switches</a:t>
            </a:r>
            <a:endParaRPr lang="en-US" sz="950" dirty="0"/>
          </a:p>
        </p:txBody>
      </p:sp>
      <p:sp>
        <p:nvSpPr>
          <p:cNvPr id="8" name="Shape 6"/>
          <p:cNvSpPr/>
          <p:nvPr/>
        </p:nvSpPr>
        <p:spPr>
          <a:xfrm>
            <a:off x="457200" y="1993392"/>
            <a:ext cx="3931920" cy="658368"/>
          </a:xfrm>
          <a:prstGeom prst="roundRect">
            <a:avLst>
              <a:gd name="adj" fmla="val 8333"/>
            </a:avLst>
          </a:prstGeom>
          <a:solidFill>
            <a:srgbClr val="EDF5F5"/>
          </a:solidFill>
          <a:ln w="12700">
            <a:solidFill>
              <a:srgbClr val="EDF5F5"/>
            </a:solidFill>
            <a:prstDash val="solid"/>
          </a:ln>
        </p:spPr>
        <p:txBody>
          <a:bodyPr/>
          <a:lstStyle/>
          <a:p>
            <a:endParaRPr lang="sv-SE"/>
          </a:p>
        </p:txBody>
      </p:sp>
      <p:sp>
        <p:nvSpPr>
          <p:cNvPr id="9" name="Text 7"/>
          <p:cNvSpPr txBox="1"/>
          <p:nvPr/>
        </p:nvSpPr>
        <p:spPr>
          <a:xfrm>
            <a:off x="594360" y="1993392"/>
            <a:ext cx="1051560" cy="658368"/>
          </a:xfrm>
          <a:prstGeom prst="rect">
            <a:avLst/>
          </a:prstGeom>
          <a:noFill/>
          <a:ln/>
        </p:spPr>
        <p:txBody>
          <a:bodyPr wrap="square" lIns="0" tIns="0" rIns="0" bIns="0" rtlCol="0" anchor="ctr"/>
          <a:lstStyle/>
          <a:p>
            <a:pPr marL="0" indent="0" algn="ctr">
              <a:buNone/>
            </a:pPr>
            <a:r>
              <a:rPr lang="en-US" sz="2400" b="1" dirty="0">
                <a:solidFill>
                  <a:srgbClr val="028090"/>
                </a:solidFill>
                <a:latin typeface="Cambria" pitchFamily="34" charset="0"/>
                <a:ea typeface="Cambria" pitchFamily="34" charset="-122"/>
                <a:cs typeface="Cambria" pitchFamily="34" charset="-120"/>
              </a:rPr>
              <a:t>16</a:t>
            </a:r>
            <a:endParaRPr lang="en-US" sz="2400" dirty="0"/>
          </a:p>
        </p:txBody>
      </p:sp>
      <p:sp>
        <p:nvSpPr>
          <p:cNvPr id="10" name="Text 8"/>
          <p:cNvSpPr txBox="1"/>
          <p:nvPr/>
        </p:nvSpPr>
        <p:spPr>
          <a:xfrm>
            <a:off x="1691640" y="2048256"/>
            <a:ext cx="2606040" cy="256032"/>
          </a:xfrm>
          <a:prstGeom prst="rect">
            <a:avLst/>
          </a:prstGeom>
          <a:noFill/>
          <a:ln/>
        </p:spPr>
        <p:txBody>
          <a:bodyPr wrap="square" lIns="0" tIns="0" rIns="0" bIns="0" rtlCol="0" anchor="ctr"/>
          <a:lstStyle/>
          <a:p>
            <a:pPr marL="0" indent="0">
              <a:buNone/>
            </a:pPr>
            <a:r>
              <a:rPr lang="en-US" sz="1250" b="1" dirty="0">
                <a:solidFill>
                  <a:srgbClr val="16262B"/>
                </a:solidFill>
                <a:latin typeface="Calibri" pitchFamily="34" charset="0"/>
                <a:ea typeface="Calibri" pitchFamily="34" charset="-122"/>
                <a:cs typeface="Calibri" pitchFamily="34" charset="-120"/>
              </a:rPr>
              <a:t>features per event</a:t>
            </a:r>
            <a:endParaRPr lang="en-US" sz="1250" dirty="0"/>
          </a:p>
        </p:txBody>
      </p:sp>
      <p:sp>
        <p:nvSpPr>
          <p:cNvPr id="11" name="Text 9"/>
          <p:cNvSpPr txBox="1"/>
          <p:nvPr/>
        </p:nvSpPr>
        <p:spPr>
          <a:xfrm>
            <a:off x="1691640" y="2304288"/>
            <a:ext cx="2633472" cy="310896"/>
          </a:xfrm>
          <a:prstGeom prst="rect">
            <a:avLst/>
          </a:prstGeom>
          <a:noFill/>
          <a:ln/>
        </p:spPr>
        <p:txBody>
          <a:bodyPr wrap="square" lIns="0" tIns="0" rIns="0" bIns="0" rtlCol="0" anchor="ctr"/>
          <a:lstStyle/>
          <a:p>
            <a:pPr marL="0" indent="0">
              <a:buNone/>
            </a:pPr>
            <a:r>
              <a:rPr lang="en-US" sz="950" dirty="0">
                <a:solidFill>
                  <a:srgbClr val="5F7178"/>
                </a:solidFill>
                <a:latin typeface="Calibri" pitchFamily="34" charset="0"/>
                <a:ea typeface="Calibri" pitchFamily="34" charset="-122"/>
                <a:cs typeface="Calibri" pitchFamily="34" charset="-120"/>
              </a:rPr>
              <a:t>time and frequency statistics of the signal</a:t>
            </a:r>
            <a:endParaRPr lang="en-US" sz="950" dirty="0"/>
          </a:p>
        </p:txBody>
      </p:sp>
      <p:sp>
        <p:nvSpPr>
          <p:cNvPr id="12" name="Shape 10"/>
          <p:cNvSpPr/>
          <p:nvPr/>
        </p:nvSpPr>
        <p:spPr>
          <a:xfrm>
            <a:off x="457200" y="2724912"/>
            <a:ext cx="3931920" cy="658368"/>
          </a:xfrm>
          <a:prstGeom prst="roundRect">
            <a:avLst>
              <a:gd name="adj" fmla="val 8333"/>
            </a:avLst>
          </a:prstGeom>
          <a:solidFill>
            <a:srgbClr val="EDF5F5"/>
          </a:solidFill>
          <a:ln w="12700">
            <a:solidFill>
              <a:srgbClr val="EDF5F5"/>
            </a:solidFill>
            <a:prstDash val="solid"/>
          </a:ln>
        </p:spPr>
        <p:txBody>
          <a:bodyPr/>
          <a:lstStyle/>
          <a:p>
            <a:endParaRPr lang="sv-SE"/>
          </a:p>
        </p:txBody>
      </p:sp>
      <p:sp>
        <p:nvSpPr>
          <p:cNvPr id="13" name="Text 11"/>
          <p:cNvSpPr txBox="1"/>
          <p:nvPr/>
        </p:nvSpPr>
        <p:spPr>
          <a:xfrm>
            <a:off x="594360" y="2724912"/>
            <a:ext cx="1051560" cy="658368"/>
          </a:xfrm>
          <a:prstGeom prst="rect">
            <a:avLst/>
          </a:prstGeom>
          <a:noFill/>
          <a:ln/>
        </p:spPr>
        <p:txBody>
          <a:bodyPr wrap="square" lIns="0" tIns="0" rIns="0" bIns="0" rtlCol="0" anchor="ctr"/>
          <a:lstStyle/>
          <a:p>
            <a:pPr marL="0" indent="0" algn="ctr">
              <a:buNone/>
            </a:pPr>
            <a:r>
              <a:rPr lang="en-US" sz="2400" b="1" dirty="0">
                <a:solidFill>
                  <a:srgbClr val="028090"/>
                </a:solidFill>
                <a:latin typeface="Cambria" pitchFamily="34" charset="0"/>
                <a:ea typeface="Cambria" pitchFamily="34" charset="-122"/>
                <a:cs typeface="Cambria" pitchFamily="34" charset="-120"/>
              </a:rPr>
              <a:t>6</a:t>
            </a:r>
            <a:endParaRPr lang="en-US" sz="2400" dirty="0"/>
          </a:p>
        </p:txBody>
      </p:sp>
      <p:sp>
        <p:nvSpPr>
          <p:cNvPr id="14" name="Text 12"/>
          <p:cNvSpPr txBox="1"/>
          <p:nvPr/>
        </p:nvSpPr>
        <p:spPr>
          <a:xfrm>
            <a:off x="1691640" y="2779776"/>
            <a:ext cx="2606040" cy="256032"/>
          </a:xfrm>
          <a:prstGeom prst="rect">
            <a:avLst/>
          </a:prstGeom>
          <a:noFill/>
          <a:ln/>
        </p:spPr>
        <p:txBody>
          <a:bodyPr wrap="square" lIns="0" tIns="0" rIns="0" bIns="0" rtlCol="0" anchor="ctr"/>
          <a:lstStyle/>
          <a:p>
            <a:pPr marL="0" indent="0">
              <a:buNone/>
            </a:pPr>
            <a:r>
              <a:rPr lang="en-US" sz="1250" b="1" dirty="0">
                <a:solidFill>
                  <a:srgbClr val="16262B"/>
                </a:solidFill>
                <a:latin typeface="Calibri" pitchFamily="34" charset="0"/>
                <a:ea typeface="Calibri" pitchFamily="34" charset="-122"/>
                <a:cs typeface="Calibri" pitchFamily="34" charset="-120"/>
              </a:rPr>
              <a:t>features after selection</a:t>
            </a:r>
            <a:endParaRPr lang="en-US" sz="1250" dirty="0"/>
          </a:p>
        </p:txBody>
      </p:sp>
      <p:sp>
        <p:nvSpPr>
          <p:cNvPr id="15" name="Text 13"/>
          <p:cNvSpPr txBox="1"/>
          <p:nvPr/>
        </p:nvSpPr>
        <p:spPr>
          <a:xfrm>
            <a:off x="1691640" y="3035808"/>
            <a:ext cx="2633472" cy="310896"/>
          </a:xfrm>
          <a:prstGeom prst="rect">
            <a:avLst/>
          </a:prstGeom>
          <a:noFill/>
          <a:ln/>
        </p:spPr>
        <p:txBody>
          <a:bodyPr wrap="square" lIns="0" tIns="0" rIns="0" bIns="0" rtlCol="0" anchor="ctr"/>
          <a:lstStyle/>
          <a:p>
            <a:pPr marL="0" indent="0">
              <a:buNone/>
            </a:pPr>
            <a:r>
              <a:rPr lang="en-US" sz="950" dirty="0">
                <a:solidFill>
                  <a:srgbClr val="5F7178"/>
                </a:solidFill>
                <a:latin typeface="Calibri" pitchFamily="34" charset="0"/>
                <a:ea typeface="Calibri" pitchFamily="34" charset="-122"/>
                <a:cs typeface="Calibri" pitchFamily="34" charset="-120"/>
              </a:rPr>
              <a:t>kurtosis, crest factor, zero crossings, and three more</a:t>
            </a:r>
            <a:endParaRPr lang="en-US" sz="950" dirty="0"/>
          </a:p>
        </p:txBody>
      </p:sp>
      <p:sp>
        <p:nvSpPr>
          <p:cNvPr id="16" name="Shape 14"/>
          <p:cNvSpPr/>
          <p:nvPr/>
        </p:nvSpPr>
        <p:spPr>
          <a:xfrm>
            <a:off x="457200" y="3456432"/>
            <a:ext cx="3931920" cy="658368"/>
          </a:xfrm>
          <a:prstGeom prst="roundRect">
            <a:avLst>
              <a:gd name="adj" fmla="val 8333"/>
            </a:avLst>
          </a:prstGeom>
          <a:solidFill>
            <a:srgbClr val="EDF5F5"/>
          </a:solidFill>
          <a:ln w="12700">
            <a:solidFill>
              <a:srgbClr val="EDF5F5"/>
            </a:solidFill>
            <a:prstDash val="solid"/>
          </a:ln>
        </p:spPr>
        <p:txBody>
          <a:bodyPr/>
          <a:lstStyle/>
          <a:p>
            <a:endParaRPr lang="sv-SE"/>
          </a:p>
        </p:txBody>
      </p:sp>
      <p:sp>
        <p:nvSpPr>
          <p:cNvPr id="17" name="Text 15"/>
          <p:cNvSpPr txBox="1"/>
          <p:nvPr/>
        </p:nvSpPr>
        <p:spPr>
          <a:xfrm>
            <a:off x="594360" y="3456432"/>
            <a:ext cx="1051560" cy="658368"/>
          </a:xfrm>
          <a:prstGeom prst="rect">
            <a:avLst/>
          </a:prstGeom>
          <a:noFill/>
          <a:ln/>
        </p:spPr>
        <p:txBody>
          <a:bodyPr wrap="square" lIns="0" tIns="0" rIns="0" bIns="0" rtlCol="0" anchor="ctr"/>
          <a:lstStyle/>
          <a:p>
            <a:pPr marL="0" indent="0" algn="ctr">
              <a:buNone/>
            </a:pPr>
            <a:r>
              <a:rPr lang="en-US" sz="2400" b="1" dirty="0">
                <a:solidFill>
                  <a:srgbClr val="028090"/>
                </a:solidFill>
                <a:latin typeface="Cambria" pitchFamily="34" charset="0"/>
                <a:ea typeface="Cambria" pitchFamily="34" charset="-122"/>
                <a:cs typeface="Cambria" pitchFamily="34" charset="-120"/>
              </a:rPr>
              <a:t>93 %</a:t>
            </a:r>
            <a:endParaRPr lang="en-US" sz="2400" dirty="0"/>
          </a:p>
        </p:txBody>
      </p:sp>
      <p:sp>
        <p:nvSpPr>
          <p:cNvPr id="18" name="Text 16"/>
          <p:cNvSpPr txBox="1"/>
          <p:nvPr/>
        </p:nvSpPr>
        <p:spPr>
          <a:xfrm>
            <a:off x="1691640" y="3511296"/>
            <a:ext cx="2606040" cy="256032"/>
          </a:xfrm>
          <a:prstGeom prst="rect">
            <a:avLst/>
          </a:prstGeom>
          <a:noFill/>
          <a:ln/>
        </p:spPr>
        <p:txBody>
          <a:bodyPr wrap="square" lIns="0" tIns="0" rIns="0" bIns="0" rtlCol="0" anchor="ctr"/>
          <a:lstStyle/>
          <a:p>
            <a:pPr marL="0" indent="0">
              <a:buNone/>
            </a:pPr>
            <a:r>
              <a:rPr lang="en-US" sz="1250" b="1" dirty="0">
                <a:solidFill>
                  <a:srgbClr val="16262B"/>
                </a:solidFill>
                <a:latin typeface="Calibri" pitchFamily="34" charset="0"/>
                <a:ea typeface="Calibri" pitchFamily="34" charset="-122"/>
                <a:cs typeface="Calibri" pitchFamily="34" charset="-120"/>
              </a:rPr>
              <a:t>classified correctly</a:t>
            </a:r>
            <a:endParaRPr lang="en-US" sz="1250" dirty="0"/>
          </a:p>
        </p:txBody>
      </p:sp>
      <p:sp>
        <p:nvSpPr>
          <p:cNvPr id="19" name="Text 17"/>
          <p:cNvSpPr txBox="1"/>
          <p:nvPr/>
        </p:nvSpPr>
        <p:spPr>
          <a:xfrm>
            <a:off x="1691640" y="3767328"/>
            <a:ext cx="2633472" cy="310896"/>
          </a:xfrm>
          <a:prstGeom prst="rect">
            <a:avLst/>
          </a:prstGeom>
          <a:noFill/>
          <a:ln/>
        </p:spPr>
        <p:txBody>
          <a:bodyPr wrap="square" lIns="0" tIns="0" rIns="0" bIns="0" rtlCol="0" anchor="ctr"/>
          <a:lstStyle/>
          <a:p>
            <a:pPr marL="0" indent="0">
              <a:buNone/>
            </a:pPr>
            <a:r>
              <a:rPr lang="en-US" sz="950" dirty="0">
                <a:solidFill>
                  <a:srgbClr val="5F7178"/>
                </a:solidFill>
                <a:latin typeface="Calibri" pitchFamily="34" charset="0"/>
                <a:ea typeface="Calibri" pitchFamily="34" charset="-122"/>
                <a:cs typeface="Calibri" pitchFamily="34" charset="-120"/>
              </a:rPr>
              <a:t>SVM on a held-out test set</a:t>
            </a:r>
            <a:endParaRPr lang="en-US" sz="950" dirty="0"/>
          </a:p>
        </p:txBody>
      </p:sp>
      <p:graphicFrame>
        <p:nvGraphicFramePr>
          <p:cNvPr id="20" name="Chart 0"/>
          <p:cNvGraphicFramePr/>
          <p:nvPr/>
        </p:nvGraphicFramePr>
        <p:xfrm>
          <a:off x="4709160" y="1280160"/>
          <a:ext cx="397764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21" name="Text 18"/>
          <p:cNvSpPr txBox="1"/>
          <p:nvPr/>
        </p:nvSpPr>
        <p:spPr>
          <a:xfrm>
            <a:off x="457200" y="4279392"/>
            <a:ext cx="8229600" cy="320040"/>
          </a:xfrm>
          <a:prstGeom prst="rect">
            <a:avLst/>
          </a:prstGeom>
          <a:noFill/>
          <a:ln/>
        </p:spPr>
        <p:txBody>
          <a:bodyPr wrap="square" lIns="0" tIns="0" rIns="0" bIns="0" rtlCol="0" anchor="ctr"/>
          <a:lstStyle/>
          <a:p>
            <a:pPr marL="0" indent="0" algn="ctr">
              <a:buNone/>
            </a:pPr>
            <a:r>
              <a:rPr lang="en-US" sz="1200" i="1" dirty="0">
                <a:solidFill>
                  <a:srgbClr val="5F7178"/>
                </a:solidFill>
                <a:latin typeface="Calibri" pitchFamily="34" charset="0"/>
                <a:ea typeface="Calibri" pitchFamily="34" charset="-122"/>
                <a:cs typeface="Calibri" pitchFamily="34" charset="-120"/>
              </a:rPr>
              <a:t>Feature selection showed most of the 16 were redundant: 9 matched the best accuracy, 6 came close.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Detection is not diagnosis</a:t>
            </a:r>
            <a:endParaRPr lang="en-US" sz="2700" dirty="0"/>
          </a:p>
        </p:txBody>
      </p:sp>
      <p:sp>
        <p:nvSpPr>
          <p:cNvPr id="4" name="Shape 2"/>
          <p:cNvSpPr/>
          <p:nvPr/>
        </p:nvSpPr>
        <p:spPr>
          <a:xfrm>
            <a:off x="457200" y="1280160"/>
            <a:ext cx="3931920" cy="2743200"/>
          </a:xfrm>
          <a:prstGeom prst="roundRect">
            <a:avLst>
              <a:gd name="adj" fmla="val 2000"/>
            </a:avLst>
          </a:prstGeom>
          <a:solidFill>
            <a:srgbClr val="EDF5F5"/>
          </a:solidFill>
          <a:ln w="12700">
            <a:solidFill>
              <a:srgbClr val="EDF5F5"/>
            </a:solidFill>
            <a:prstDash val="solid"/>
          </a:ln>
        </p:spPr>
        <p:txBody>
          <a:bodyPr/>
          <a:lstStyle/>
          <a:p>
            <a:endParaRPr lang="sv-SE"/>
          </a:p>
        </p:txBody>
      </p:sp>
      <p:sp>
        <p:nvSpPr>
          <p:cNvPr id="5" name="Text 3"/>
          <p:cNvSpPr txBox="1"/>
          <p:nvPr/>
        </p:nvSpPr>
        <p:spPr>
          <a:xfrm>
            <a:off x="713232" y="1463040"/>
            <a:ext cx="3383280" cy="274320"/>
          </a:xfrm>
          <a:prstGeom prst="rect">
            <a:avLst/>
          </a:prstGeom>
          <a:noFill/>
          <a:ln/>
        </p:spPr>
        <p:txBody>
          <a:bodyPr wrap="square" lIns="0" tIns="0" rIns="0" bIns="0" rtlCol="0" anchor="ctr"/>
          <a:lstStyle/>
          <a:p>
            <a:pPr marL="0" indent="0">
              <a:buNone/>
            </a:pPr>
            <a:r>
              <a:rPr lang="en-US" sz="1300" b="1" dirty="0">
                <a:solidFill>
                  <a:srgbClr val="028090"/>
                </a:solidFill>
                <a:latin typeface="Calibri" pitchFamily="34" charset="0"/>
                <a:ea typeface="Calibri" pitchFamily="34" charset="-122"/>
                <a:cs typeface="Calibri" pitchFamily="34" charset="-120"/>
              </a:rPr>
              <a:t>What the vibration data shows</a:t>
            </a:r>
            <a:endParaRPr lang="en-US" sz="1300" dirty="0"/>
          </a:p>
        </p:txBody>
      </p:sp>
      <p:sp>
        <p:nvSpPr>
          <p:cNvPr id="6" name="Text 4"/>
          <p:cNvSpPr txBox="1"/>
          <p:nvPr/>
        </p:nvSpPr>
        <p:spPr>
          <a:xfrm>
            <a:off x="713232" y="1874520"/>
            <a:ext cx="3383280" cy="868680"/>
          </a:xfrm>
          <a:prstGeom prst="rect">
            <a:avLst/>
          </a:prstGeom>
          <a:noFill/>
          <a:ln/>
        </p:spPr>
        <p:txBody>
          <a:bodyPr wrap="square" lIns="0" tIns="0" rIns="0" bIns="0" rtlCol="0" anchor="ctr"/>
          <a:lstStyle/>
          <a:p>
            <a:pPr marL="0" indent="0">
              <a:lnSpc>
                <a:spcPts val="2600"/>
              </a:lnSpc>
              <a:buNone/>
            </a:pPr>
            <a:r>
              <a:rPr lang="en-US" sz="2000" i="1" dirty="0">
                <a:solidFill>
                  <a:srgbClr val="16262B"/>
                </a:solidFill>
                <a:latin typeface="Cambria" pitchFamily="34" charset="0"/>
                <a:ea typeface="Cambria" pitchFamily="34" charset="-122"/>
                <a:cs typeface="Cambria" pitchFamily="34" charset="-120"/>
              </a:rPr>
              <a:t>“Something is wrong</a:t>
            </a:r>
            <a:endParaRPr lang="en-US" sz="2000" dirty="0"/>
          </a:p>
          <a:p>
            <a:pPr marL="0" indent="0">
              <a:lnSpc>
                <a:spcPts val="2600"/>
              </a:lnSpc>
              <a:buNone/>
            </a:pPr>
            <a:r>
              <a:rPr lang="en-US" sz="2000" i="1" dirty="0">
                <a:solidFill>
                  <a:srgbClr val="16262B"/>
                </a:solidFill>
                <a:latin typeface="Cambria" pitchFamily="34" charset="0"/>
                <a:ea typeface="Cambria" pitchFamily="34" charset="-122"/>
                <a:cs typeface="Cambria" pitchFamily="34" charset="-120"/>
              </a:rPr>
              <a:t>here.”</a:t>
            </a:r>
            <a:endParaRPr lang="en-US" sz="2000" dirty="0"/>
          </a:p>
        </p:txBody>
      </p:sp>
      <p:sp>
        <p:nvSpPr>
          <p:cNvPr id="7" name="Text 5"/>
          <p:cNvSpPr txBox="1"/>
          <p:nvPr/>
        </p:nvSpPr>
        <p:spPr>
          <a:xfrm>
            <a:off x="713232" y="2880360"/>
            <a:ext cx="3383280" cy="9144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Where it happened</a:t>
            </a:r>
            <a:endParaRPr lang="en-US" sz="1300" dirty="0"/>
          </a:p>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How hard the impact was</a:t>
            </a:r>
            <a:endParaRPr lang="en-US" sz="1300" dirty="0"/>
          </a:p>
        </p:txBody>
      </p:sp>
      <p:sp>
        <p:nvSpPr>
          <p:cNvPr id="8" name="Shape 6"/>
          <p:cNvSpPr/>
          <p:nvPr/>
        </p:nvSpPr>
        <p:spPr>
          <a:xfrm>
            <a:off x="4754880" y="1280160"/>
            <a:ext cx="3931920" cy="2743200"/>
          </a:xfrm>
          <a:prstGeom prst="roundRect">
            <a:avLst>
              <a:gd name="adj" fmla="val 2000"/>
            </a:avLst>
          </a:prstGeom>
          <a:solidFill>
            <a:srgbClr val="FBEDEA"/>
          </a:solidFill>
          <a:ln w="12700">
            <a:solidFill>
              <a:srgbClr val="FBEDEA"/>
            </a:solidFill>
            <a:prstDash val="solid"/>
          </a:ln>
        </p:spPr>
        <p:txBody>
          <a:bodyPr/>
          <a:lstStyle/>
          <a:p>
            <a:endParaRPr lang="sv-SE"/>
          </a:p>
        </p:txBody>
      </p:sp>
      <p:sp>
        <p:nvSpPr>
          <p:cNvPr id="9" name="Text 7"/>
          <p:cNvSpPr txBox="1"/>
          <p:nvPr/>
        </p:nvSpPr>
        <p:spPr>
          <a:xfrm>
            <a:off x="5010912" y="1463040"/>
            <a:ext cx="3383280" cy="274320"/>
          </a:xfrm>
          <a:prstGeom prst="rect">
            <a:avLst/>
          </a:prstGeom>
          <a:noFill/>
          <a:ln/>
        </p:spPr>
        <p:txBody>
          <a:bodyPr wrap="square" lIns="0" tIns="0" rIns="0" bIns="0" rtlCol="0" anchor="ctr"/>
          <a:lstStyle/>
          <a:p>
            <a:pPr marL="0" indent="0">
              <a:buNone/>
            </a:pPr>
            <a:r>
              <a:rPr lang="en-US" sz="1300" b="1" dirty="0">
                <a:solidFill>
                  <a:srgbClr val="E8604C"/>
                </a:solidFill>
                <a:latin typeface="Calibri" pitchFamily="34" charset="0"/>
                <a:ea typeface="Calibri" pitchFamily="34" charset="-122"/>
                <a:cs typeface="Calibri" pitchFamily="34" charset="-120"/>
              </a:rPr>
              <a:t>What it leaves unanswered</a:t>
            </a:r>
            <a:endParaRPr lang="en-US" sz="1300" dirty="0"/>
          </a:p>
        </p:txBody>
      </p:sp>
      <p:sp>
        <p:nvSpPr>
          <p:cNvPr id="10" name="Text 8"/>
          <p:cNvSpPr txBox="1"/>
          <p:nvPr/>
        </p:nvSpPr>
        <p:spPr>
          <a:xfrm>
            <a:off x="5010912" y="1874520"/>
            <a:ext cx="3474720" cy="868680"/>
          </a:xfrm>
          <a:prstGeom prst="rect">
            <a:avLst/>
          </a:prstGeom>
          <a:noFill/>
          <a:ln/>
        </p:spPr>
        <p:txBody>
          <a:bodyPr wrap="square" lIns="0" tIns="0" rIns="0" bIns="0" rtlCol="0" anchor="ctr"/>
          <a:lstStyle/>
          <a:p>
            <a:pPr marL="0" indent="0">
              <a:lnSpc>
                <a:spcPts val="2600"/>
              </a:lnSpc>
              <a:buNone/>
            </a:pPr>
            <a:r>
              <a:rPr lang="en-US" sz="2000" i="1" dirty="0">
                <a:solidFill>
                  <a:srgbClr val="16262B"/>
                </a:solidFill>
                <a:latin typeface="Cambria" pitchFamily="34" charset="0"/>
                <a:ea typeface="Cambria" pitchFamily="34" charset="-122"/>
                <a:cs typeface="Cambria" pitchFamily="34" charset="-120"/>
              </a:rPr>
              <a:t>“…but what is wrong</a:t>
            </a:r>
            <a:endParaRPr lang="en-US" sz="2000" dirty="0"/>
          </a:p>
          <a:p>
            <a:pPr marL="0" indent="0">
              <a:lnSpc>
                <a:spcPts val="2600"/>
              </a:lnSpc>
              <a:buNone/>
            </a:pPr>
            <a:r>
              <a:rPr lang="en-US" sz="2000" i="1" dirty="0">
                <a:solidFill>
                  <a:srgbClr val="16262B"/>
                </a:solidFill>
                <a:latin typeface="Cambria" pitchFamily="34" charset="0"/>
                <a:ea typeface="Cambria" pitchFamily="34" charset="-122"/>
                <a:cs typeface="Cambria" pitchFamily="34" charset="-120"/>
              </a:rPr>
              <a:t>with the track?”</a:t>
            </a:r>
            <a:endParaRPr lang="en-US" sz="2000" dirty="0"/>
          </a:p>
        </p:txBody>
      </p:sp>
      <p:sp>
        <p:nvSpPr>
          <p:cNvPr id="11" name="Text 9"/>
          <p:cNvSpPr txBox="1"/>
          <p:nvPr/>
        </p:nvSpPr>
        <p:spPr>
          <a:xfrm>
            <a:off x="5010912" y="2880360"/>
            <a:ext cx="3383280" cy="10058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A widened gauge?</a:t>
            </a:r>
            <a:endParaRPr lang="en-US" sz="1300" dirty="0"/>
          </a:p>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A worn crossing?</a:t>
            </a:r>
            <a:endParaRPr lang="en-US" sz="1300" dirty="0"/>
          </a:p>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A settled sleeper?</a:t>
            </a:r>
            <a:endParaRPr lang="en-US" sz="1300" dirty="0"/>
          </a:p>
        </p:txBody>
      </p:sp>
      <p:sp>
        <p:nvSpPr>
          <p:cNvPr id="12" name="Text 10"/>
          <p:cNvSpPr txBox="1"/>
          <p:nvPr/>
        </p:nvSpPr>
        <p:spPr>
          <a:xfrm>
            <a:off x="457200" y="4224528"/>
            <a:ext cx="8229600" cy="320040"/>
          </a:xfrm>
          <a:prstGeom prst="rect">
            <a:avLst/>
          </a:prstGeom>
          <a:noFill/>
          <a:ln/>
        </p:spPr>
        <p:txBody>
          <a:bodyPr wrap="square" lIns="0" tIns="0" rIns="0" bIns="0" rtlCol="0" anchor="ctr"/>
          <a:lstStyle/>
          <a:p>
            <a:pPr marL="0" indent="0" algn="ctr">
              <a:buNone/>
            </a:pPr>
            <a:r>
              <a:rPr lang="en-US" sz="1300" b="1" i="1" dirty="0">
                <a:solidFill>
                  <a:srgbClr val="5F7178"/>
                </a:solidFill>
                <a:latin typeface="Calibri" pitchFamily="34" charset="0"/>
                <a:ea typeface="Calibri" pitchFamily="34" charset="-122"/>
                <a:cs typeface="Calibri" pitchFamily="34" charset="-120"/>
              </a:rPr>
              <a:t>The vibration looks the same — but each one needs a different repair.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02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0A896"/>
                </a:solidFill>
                <a:latin typeface="Calibri" pitchFamily="34" charset="0"/>
                <a:ea typeface="Calibri" pitchFamily="34" charset="-122"/>
                <a:cs typeface="Calibri" pitchFamily="34" charset="-120"/>
              </a:rPr>
              <a:t>THE IDEA</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Measure the track itself, at the same places</a:t>
            </a:r>
            <a:endParaRPr lang="en-US" sz="2700" dirty="0"/>
          </a:p>
        </p:txBody>
      </p:sp>
      <p:sp>
        <p:nvSpPr>
          <p:cNvPr id="4" name="Shape 2"/>
          <p:cNvSpPr/>
          <p:nvPr/>
        </p:nvSpPr>
        <p:spPr>
          <a:xfrm>
            <a:off x="457200" y="1280160"/>
            <a:ext cx="3931920" cy="1920240"/>
          </a:xfrm>
          <a:prstGeom prst="roundRect">
            <a:avLst>
              <a:gd name="adj" fmla="val 2857"/>
            </a:avLst>
          </a:prstGeom>
          <a:solidFill>
            <a:srgbClr val="FFFFFF">
              <a:alpha val="8000"/>
            </a:srgbClr>
          </a:solidFill>
          <a:ln w="19050">
            <a:solidFill>
              <a:srgbClr val="028090"/>
            </a:solidFill>
            <a:prstDash val="solid"/>
          </a:ln>
        </p:spPr>
        <p:txBody>
          <a:bodyPr/>
          <a:lstStyle/>
          <a:p>
            <a:endParaRPr lang="sv-SE"/>
          </a:p>
        </p:txBody>
      </p:sp>
      <p:sp>
        <p:nvSpPr>
          <p:cNvPr id="5" name="Text 3"/>
          <p:cNvSpPr txBox="1"/>
          <p:nvPr/>
        </p:nvSpPr>
        <p:spPr>
          <a:xfrm>
            <a:off x="731520" y="1463040"/>
            <a:ext cx="3383280" cy="256032"/>
          </a:xfrm>
          <a:prstGeom prst="rect">
            <a:avLst/>
          </a:prstGeom>
          <a:noFill/>
          <a:ln/>
        </p:spPr>
        <p:txBody>
          <a:bodyPr wrap="square" lIns="0" tIns="0" rIns="0" bIns="0" rtlCol="0" anchor="ctr"/>
          <a:lstStyle/>
          <a:p>
            <a:pPr marL="0" indent="0">
              <a:buNone/>
            </a:pPr>
            <a:r>
              <a:rPr lang="en-US" sz="1100" b="1" kern="0" spc="150" dirty="0">
                <a:solidFill>
                  <a:srgbClr val="028090"/>
                </a:solidFill>
                <a:latin typeface="Calibri" pitchFamily="34" charset="0"/>
                <a:ea typeface="Calibri" pitchFamily="34" charset="-122"/>
                <a:cs typeface="Calibri" pitchFamily="34" charset="-120"/>
              </a:rPr>
              <a:t>VIBRATION DATA</a:t>
            </a:r>
            <a:endParaRPr lang="en-US" sz="1100" dirty="0"/>
          </a:p>
        </p:txBody>
      </p:sp>
      <p:sp>
        <p:nvSpPr>
          <p:cNvPr id="6" name="Text 4"/>
          <p:cNvSpPr txBox="1"/>
          <p:nvPr/>
        </p:nvSpPr>
        <p:spPr>
          <a:xfrm>
            <a:off x="731520" y="1737360"/>
            <a:ext cx="3383280" cy="38404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the reaction</a:t>
            </a:r>
            <a:endParaRPr lang="en-US" sz="2100" dirty="0"/>
          </a:p>
        </p:txBody>
      </p:sp>
      <p:sp>
        <p:nvSpPr>
          <p:cNvPr id="7" name="Text 5"/>
          <p:cNvSpPr txBox="1"/>
          <p:nvPr/>
        </p:nvSpPr>
        <p:spPr>
          <a:xfrm>
            <a:off x="731520" y="2240280"/>
            <a:ext cx="3429000" cy="822960"/>
          </a:xfrm>
          <a:prstGeom prst="rect">
            <a:avLst/>
          </a:prstGeom>
          <a:noFill/>
          <a:ln/>
        </p:spPr>
        <p:txBody>
          <a:bodyPr wrap="square" lIns="0" tIns="0" rIns="0" bIns="0" rtlCol="0" anchor="ctr"/>
          <a:lstStyle/>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How hard the wheel was hit.</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Measured indirectly.</a:t>
            </a:r>
            <a:endParaRPr lang="en-US" sz="1250" dirty="0"/>
          </a:p>
        </p:txBody>
      </p:sp>
      <p:sp>
        <p:nvSpPr>
          <p:cNvPr id="8" name="Shape 6"/>
          <p:cNvSpPr/>
          <p:nvPr/>
        </p:nvSpPr>
        <p:spPr>
          <a:xfrm>
            <a:off x="4754880" y="1280160"/>
            <a:ext cx="3931920" cy="1920240"/>
          </a:xfrm>
          <a:prstGeom prst="roundRect">
            <a:avLst>
              <a:gd name="adj" fmla="val 2857"/>
            </a:avLst>
          </a:prstGeom>
          <a:solidFill>
            <a:srgbClr val="FFFFFF">
              <a:alpha val="8000"/>
            </a:srgbClr>
          </a:solidFill>
          <a:ln w="19050">
            <a:solidFill>
              <a:srgbClr val="00A896"/>
            </a:solidFill>
            <a:prstDash val="solid"/>
          </a:ln>
        </p:spPr>
        <p:txBody>
          <a:bodyPr/>
          <a:lstStyle/>
          <a:p>
            <a:endParaRPr lang="sv-SE"/>
          </a:p>
        </p:txBody>
      </p:sp>
      <p:sp>
        <p:nvSpPr>
          <p:cNvPr id="9" name="Text 7"/>
          <p:cNvSpPr txBox="1"/>
          <p:nvPr/>
        </p:nvSpPr>
        <p:spPr>
          <a:xfrm>
            <a:off x="5029200" y="1463040"/>
            <a:ext cx="3383280" cy="256032"/>
          </a:xfrm>
          <a:prstGeom prst="rect">
            <a:avLst/>
          </a:prstGeom>
          <a:noFill/>
          <a:ln/>
        </p:spPr>
        <p:txBody>
          <a:bodyPr wrap="square" lIns="0" tIns="0" rIns="0" bIns="0" rtlCol="0" anchor="ctr"/>
          <a:lstStyle/>
          <a:p>
            <a:pPr marL="0" indent="0">
              <a:buNone/>
            </a:pPr>
            <a:r>
              <a:rPr lang="en-US" sz="1100" b="1" kern="0" spc="150" dirty="0">
                <a:solidFill>
                  <a:srgbClr val="00A896"/>
                </a:solidFill>
                <a:latin typeface="Calibri" pitchFamily="34" charset="0"/>
                <a:ea typeface="Calibri" pitchFamily="34" charset="-122"/>
                <a:cs typeface="Calibri" pitchFamily="34" charset="-120"/>
              </a:rPr>
              <a:t>3D DATA</a:t>
            </a:r>
            <a:endParaRPr lang="en-US" sz="1100" dirty="0"/>
          </a:p>
        </p:txBody>
      </p:sp>
      <p:sp>
        <p:nvSpPr>
          <p:cNvPr id="10" name="Text 8"/>
          <p:cNvSpPr txBox="1"/>
          <p:nvPr/>
        </p:nvSpPr>
        <p:spPr>
          <a:xfrm>
            <a:off x="5029200" y="1737360"/>
            <a:ext cx="3383280" cy="38404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the track itself</a:t>
            </a:r>
            <a:endParaRPr lang="en-US" sz="2100" dirty="0"/>
          </a:p>
        </p:txBody>
      </p:sp>
      <p:sp>
        <p:nvSpPr>
          <p:cNvPr id="11" name="Text 9"/>
          <p:cNvSpPr txBox="1"/>
          <p:nvPr/>
        </p:nvSpPr>
        <p:spPr>
          <a:xfrm>
            <a:off x="5029200" y="2240280"/>
            <a:ext cx="3429000" cy="822960"/>
          </a:xfrm>
          <a:prstGeom prst="rect">
            <a:avLst/>
          </a:prstGeom>
          <a:noFill/>
          <a:ln/>
        </p:spPr>
        <p:txBody>
          <a:bodyPr wrap="square" lIns="0" tIns="0" rIns="0" bIns="0" rtlCol="0" anchor="ctr"/>
          <a:lstStyle/>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The actual shape of the rails.</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Measured directly, in metres.</a:t>
            </a:r>
            <a:endParaRPr lang="en-US" sz="1250" dirty="0"/>
          </a:p>
        </p:txBody>
      </p:sp>
      <p:sp>
        <p:nvSpPr>
          <p:cNvPr id="12" name="Shape 10"/>
          <p:cNvSpPr/>
          <p:nvPr/>
        </p:nvSpPr>
        <p:spPr>
          <a:xfrm>
            <a:off x="457200" y="3383280"/>
            <a:ext cx="8229600" cy="1280160"/>
          </a:xfrm>
          <a:prstGeom prst="roundRect">
            <a:avLst>
              <a:gd name="adj" fmla="val 4286"/>
            </a:avLst>
          </a:prstGeom>
          <a:solidFill>
            <a:srgbClr val="00A896">
              <a:alpha val="12000"/>
            </a:srgbClr>
          </a:solidFill>
          <a:ln w="12700">
            <a:solidFill>
              <a:srgbClr val="00A896"/>
            </a:solidFill>
            <a:prstDash val="solid"/>
          </a:ln>
        </p:spPr>
        <p:txBody>
          <a:bodyPr/>
          <a:lstStyle/>
          <a:p>
            <a:endParaRPr lang="sv-SE"/>
          </a:p>
        </p:txBody>
      </p:sp>
      <p:sp>
        <p:nvSpPr>
          <p:cNvPr id="13" name="Text 11"/>
          <p:cNvSpPr txBox="1"/>
          <p:nvPr/>
        </p:nvSpPr>
        <p:spPr>
          <a:xfrm>
            <a:off x="731520" y="3493008"/>
            <a:ext cx="7680960" cy="292608"/>
          </a:xfrm>
          <a:prstGeom prst="rect">
            <a:avLst/>
          </a:prstGeom>
          <a:noFill/>
          <a:ln/>
        </p:spPr>
        <p:txBody>
          <a:bodyPr wrap="square" lIns="0" tIns="0" rIns="0" bIns="0" rtlCol="0" anchor="ctr"/>
          <a:lstStyle/>
          <a:p>
            <a:pPr marL="0" indent="0">
              <a:buNone/>
            </a:pPr>
            <a:r>
              <a:rPr lang="en-US" sz="1400" b="1" dirty="0">
                <a:solidFill>
                  <a:srgbClr val="00A896"/>
                </a:solidFill>
                <a:latin typeface="Cambria" pitchFamily="34" charset="0"/>
                <a:ea typeface="Cambria" pitchFamily="34" charset="-122"/>
                <a:cs typeface="Cambria" pitchFamily="34" charset="-120"/>
              </a:rPr>
              <a:t>Today:  </a:t>
            </a:r>
            <a:r>
              <a:rPr lang="en-US" sz="1400" i="1" dirty="0">
                <a:solidFill>
                  <a:srgbClr val="FFFFFF"/>
                </a:solidFill>
                <a:latin typeface="Cambria" pitchFamily="34" charset="0"/>
                <a:ea typeface="Cambria" pitchFamily="34" charset="-122"/>
                <a:cs typeface="Cambria" pitchFamily="34" charset="-120"/>
              </a:rPr>
              <a:t>“Something is wrong here.”</a:t>
            </a:r>
            <a:endParaRPr lang="en-US" sz="1400" dirty="0"/>
          </a:p>
        </p:txBody>
      </p:sp>
      <p:sp>
        <p:nvSpPr>
          <p:cNvPr id="14" name="Text 12"/>
          <p:cNvSpPr txBox="1"/>
          <p:nvPr/>
        </p:nvSpPr>
        <p:spPr>
          <a:xfrm>
            <a:off x="731520" y="3822192"/>
            <a:ext cx="7680960" cy="292608"/>
          </a:xfrm>
          <a:prstGeom prst="rect">
            <a:avLst/>
          </a:prstGeom>
          <a:noFill/>
          <a:ln/>
        </p:spPr>
        <p:txBody>
          <a:bodyPr wrap="square" lIns="0" tIns="0" rIns="0" bIns="0" rtlCol="0" anchor="ctr"/>
          <a:lstStyle/>
          <a:p>
            <a:pPr marL="0" indent="0">
              <a:buNone/>
            </a:pPr>
            <a:r>
              <a:rPr lang="en-US" sz="1400" b="1" dirty="0">
                <a:solidFill>
                  <a:srgbClr val="00A896"/>
                </a:solidFill>
                <a:latin typeface="Cambria" pitchFamily="34" charset="0"/>
                <a:ea typeface="Cambria" pitchFamily="34" charset="-122"/>
                <a:cs typeface="Cambria" pitchFamily="34" charset="-120"/>
              </a:rPr>
              <a:t>With 3D data:  </a:t>
            </a:r>
            <a:r>
              <a:rPr lang="en-US" sz="1400" i="1" dirty="0">
                <a:solidFill>
                  <a:srgbClr val="FFFFFF"/>
                </a:solidFill>
                <a:latin typeface="Cambria" pitchFamily="34" charset="0"/>
                <a:ea typeface="Cambria" pitchFamily="34" charset="-122"/>
                <a:cs typeface="Cambria" pitchFamily="34" charset="-120"/>
              </a:rPr>
              <a:t>“Something is wrong here — and the rails are 8 mm too far apart.”</a:t>
            </a:r>
            <a:endParaRPr lang="en-US" sz="1400" dirty="0"/>
          </a:p>
        </p:txBody>
      </p:sp>
      <p:sp>
        <p:nvSpPr>
          <p:cNvPr id="15" name="Text 13"/>
          <p:cNvSpPr txBox="1"/>
          <p:nvPr/>
        </p:nvSpPr>
        <p:spPr>
          <a:xfrm>
            <a:off x="731520" y="4187952"/>
            <a:ext cx="7680960" cy="347472"/>
          </a:xfrm>
          <a:prstGeom prst="rect">
            <a:avLst/>
          </a:prstGeom>
          <a:noFill/>
          <a:ln/>
        </p:spPr>
        <p:txBody>
          <a:bodyPr wrap="square" lIns="0" tIns="0" rIns="0" bIns="0" rtlCol="0" anchor="ctr"/>
          <a:lstStyle/>
          <a:p>
            <a:pPr marL="0" indent="0">
              <a:buNone/>
            </a:pPr>
            <a:r>
              <a:rPr lang="en-US" sz="1200" dirty="0">
                <a:solidFill>
                  <a:srgbClr val="C7D8DB"/>
                </a:solidFill>
                <a:latin typeface="Calibri" pitchFamily="34" charset="0"/>
                <a:ea typeface="Calibri" pitchFamily="34" charset="-122"/>
                <a:cs typeface="Calibri" pitchFamily="34" charset="-120"/>
              </a:rPr>
              <a:t>Or one rail sits higher than the other, or the rail top is uneven — whatever the scan shows at that spot.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MEASUREMENTS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Five geometry parameters per section of track</a:t>
            </a:r>
            <a:endParaRPr lang="en-US" sz="2700" dirty="0"/>
          </a:p>
        </p:txBody>
      </p:sp>
      <p:sp>
        <p:nvSpPr>
          <p:cNvPr id="4" name="Shape 2"/>
          <p:cNvSpPr/>
          <p:nvPr/>
        </p:nvSpPr>
        <p:spPr>
          <a:xfrm>
            <a:off x="457200" y="1325880"/>
            <a:ext cx="384048" cy="384048"/>
          </a:xfrm>
          <a:prstGeom prst="ellipse">
            <a:avLst/>
          </a:prstGeom>
          <a:solidFill>
            <a:srgbClr val="028090"/>
          </a:solidFill>
          <a:ln w="12700">
            <a:solidFill>
              <a:srgbClr val="028090"/>
            </a:solidFill>
            <a:prstDash val="solid"/>
          </a:ln>
        </p:spPr>
        <p:txBody>
          <a:bodyPr/>
          <a:lstStyle/>
          <a:p>
            <a:endParaRPr lang="sv-SE"/>
          </a:p>
        </p:txBody>
      </p:sp>
      <p:sp>
        <p:nvSpPr>
          <p:cNvPr id="5" name="Text 3"/>
          <p:cNvSpPr txBox="1"/>
          <p:nvPr/>
        </p:nvSpPr>
        <p:spPr>
          <a:xfrm>
            <a:off x="457200" y="13258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316736"/>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Gauge</a:t>
            </a:r>
            <a:endParaRPr lang="en-US" sz="1400" dirty="0"/>
          </a:p>
        </p:txBody>
      </p:sp>
      <p:sp>
        <p:nvSpPr>
          <p:cNvPr id="7" name="Text 5"/>
          <p:cNvSpPr txBox="1"/>
          <p:nvPr/>
        </p:nvSpPr>
        <p:spPr>
          <a:xfrm>
            <a:off x="2377440" y="1307592"/>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how far apart the rails are</a:t>
            </a:r>
            <a:endParaRPr lang="en-US" sz="1100" dirty="0"/>
          </a:p>
        </p:txBody>
      </p:sp>
      <p:sp>
        <p:nvSpPr>
          <p:cNvPr id="8" name="Shape 6"/>
          <p:cNvSpPr/>
          <p:nvPr/>
        </p:nvSpPr>
        <p:spPr>
          <a:xfrm>
            <a:off x="457200" y="1929384"/>
            <a:ext cx="384048" cy="384048"/>
          </a:xfrm>
          <a:prstGeom prst="ellipse">
            <a:avLst/>
          </a:prstGeom>
          <a:solidFill>
            <a:srgbClr val="028090"/>
          </a:solidFill>
          <a:ln w="12700">
            <a:solidFill>
              <a:srgbClr val="028090"/>
            </a:solidFill>
            <a:prstDash val="solid"/>
          </a:ln>
        </p:spPr>
        <p:txBody>
          <a:bodyPr/>
          <a:lstStyle/>
          <a:p>
            <a:endParaRPr lang="sv-SE"/>
          </a:p>
        </p:txBody>
      </p:sp>
      <p:sp>
        <p:nvSpPr>
          <p:cNvPr id="9" name="Text 7"/>
          <p:cNvSpPr txBox="1"/>
          <p:nvPr/>
        </p:nvSpPr>
        <p:spPr>
          <a:xfrm>
            <a:off x="457200" y="192938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05840" y="1920240"/>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Cross-level</a:t>
            </a:r>
            <a:endParaRPr lang="en-US" sz="1400" dirty="0"/>
          </a:p>
        </p:txBody>
      </p:sp>
      <p:sp>
        <p:nvSpPr>
          <p:cNvPr id="11" name="Text 9"/>
          <p:cNvSpPr txBox="1"/>
          <p:nvPr/>
        </p:nvSpPr>
        <p:spPr>
          <a:xfrm>
            <a:off x="2377440" y="1911096"/>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how much one rail sits above the other</a:t>
            </a:r>
            <a:endParaRPr lang="en-US" sz="1100" dirty="0"/>
          </a:p>
        </p:txBody>
      </p:sp>
      <p:sp>
        <p:nvSpPr>
          <p:cNvPr id="12" name="Shape 10"/>
          <p:cNvSpPr/>
          <p:nvPr/>
        </p:nvSpPr>
        <p:spPr>
          <a:xfrm>
            <a:off x="457200" y="2532888"/>
            <a:ext cx="384048" cy="384048"/>
          </a:xfrm>
          <a:prstGeom prst="ellipse">
            <a:avLst/>
          </a:prstGeom>
          <a:solidFill>
            <a:srgbClr val="028090"/>
          </a:solidFill>
          <a:ln w="12700">
            <a:solidFill>
              <a:srgbClr val="028090"/>
            </a:solidFill>
            <a:prstDash val="solid"/>
          </a:ln>
        </p:spPr>
        <p:txBody>
          <a:bodyPr/>
          <a:lstStyle/>
          <a:p>
            <a:endParaRPr lang="sv-SE"/>
          </a:p>
        </p:txBody>
      </p:sp>
      <p:sp>
        <p:nvSpPr>
          <p:cNvPr id="13" name="Text 11"/>
          <p:cNvSpPr txBox="1"/>
          <p:nvPr/>
        </p:nvSpPr>
        <p:spPr>
          <a:xfrm>
            <a:off x="457200" y="253288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005840" y="2523744"/>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Cant</a:t>
            </a:r>
            <a:endParaRPr lang="en-US" sz="1400" dirty="0"/>
          </a:p>
        </p:txBody>
      </p:sp>
      <p:sp>
        <p:nvSpPr>
          <p:cNvPr id="15" name="Text 13"/>
          <p:cNvSpPr txBox="1"/>
          <p:nvPr/>
        </p:nvSpPr>
        <p:spPr>
          <a:xfrm>
            <a:off x="2377440" y="2514600"/>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the cross-level a curve is designed to have</a:t>
            </a:r>
            <a:endParaRPr lang="en-US" sz="1100" dirty="0"/>
          </a:p>
        </p:txBody>
      </p:sp>
      <p:sp>
        <p:nvSpPr>
          <p:cNvPr id="16" name="Shape 14"/>
          <p:cNvSpPr/>
          <p:nvPr/>
        </p:nvSpPr>
        <p:spPr>
          <a:xfrm>
            <a:off x="457200" y="3136392"/>
            <a:ext cx="384048" cy="384048"/>
          </a:xfrm>
          <a:prstGeom prst="ellipse">
            <a:avLst/>
          </a:prstGeom>
          <a:solidFill>
            <a:srgbClr val="028090"/>
          </a:solidFill>
          <a:ln w="12700">
            <a:solidFill>
              <a:srgbClr val="028090"/>
            </a:solidFill>
            <a:prstDash val="solid"/>
          </a:ln>
        </p:spPr>
        <p:txBody>
          <a:bodyPr/>
          <a:lstStyle/>
          <a:p>
            <a:endParaRPr lang="sv-SE"/>
          </a:p>
        </p:txBody>
      </p:sp>
      <p:sp>
        <p:nvSpPr>
          <p:cNvPr id="17" name="Text 15"/>
          <p:cNvSpPr txBox="1"/>
          <p:nvPr/>
        </p:nvSpPr>
        <p:spPr>
          <a:xfrm>
            <a:off x="457200" y="313639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005840" y="3127248"/>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Twist</a:t>
            </a:r>
            <a:endParaRPr lang="en-US" sz="1400" dirty="0"/>
          </a:p>
        </p:txBody>
      </p:sp>
      <p:sp>
        <p:nvSpPr>
          <p:cNvPr id="19" name="Text 17"/>
          <p:cNvSpPr txBox="1"/>
          <p:nvPr/>
        </p:nvSpPr>
        <p:spPr>
          <a:xfrm>
            <a:off x="2377440" y="3118104"/>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how much that tilt changes over a short distance</a:t>
            </a:r>
            <a:endParaRPr lang="en-US" sz="1100" dirty="0"/>
          </a:p>
        </p:txBody>
      </p:sp>
      <p:sp>
        <p:nvSpPr>
          <p:cNvPr id="20" name="Shape 18"/>
          <p:cNvSpPr/>
          <p:nvPr/>
        </p:nvSpPr>
        <p:spPr>
          <a:xfrm>
            <a:off x="457200" y="3739896"/>
            <a:ext cx="384048" cy="384048"/>
          </a:xfrm>
          <a:prstGeom prst="ellipse">
            <a:avLst/>
          </a:prstGeom>
          <a:solidFill>
            <a:srgbClr val="028090"/>
          </a:solidFill>
          <a:ln w="12700">
            <a:solidFill>
              <a:srgbClr val="028090"/>
            </a:solidFill>
            <a:prstDash val="solid"/>
          </a:ln>
        </p:spPr>
        <p:txBody>
          <a:bodyPr/>
          <a:lstStyle/>
          <a:p>
            <a:endParaRPr lang="sv-SE"/>
          </a:p>
        </p:txBody>
      </p:sp>
      <p:sp>
        <p:nvSpPr>
          <p:cNvPr id="21" name="Text 19"/>
          <p:cNvSpPr txBox="1"/>
          <p:nvPr/>
        </p:nvSpPr>
        <p:spPr>
          <a:xfrm>
            <a:off x="457200" y="37398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005840" y="3730752"/>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Surface</a:t>
            </a:r>
            <a:endParaRPr lang="en-US" sz="1400" dirty="0"/>
          </a:p>
        </p:txBody>
      </p:sp>
      <p:sp>
        <p:nvSpPr>
          <p:cNvPr id="23" name="Text 21"/>
          <p:cNvSpPr txBox="1"/>
          <p:nvPr/>
        </p:nvSpPr>
        <p:spPr>
          <a:xfrm>
            <a:off x="2377440" y="3721608"/>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how even the top of the rail is</a:t>
            </a:r>
            <a:endParaRPr lang="en-US" sz="1100" dirty="0"/>
          </a:p>
        </p:txBody>
      </p:sp>
      <p:sp>
        <p:nvSpPr>
          <p:cNvPr id="31" name="Text 29"/>
          <p:cNvSpPr txBox="1"/>
          <p:nvPr/>
        </p:nvSpPr>
        <p:spPr>
          <a:xfrm>
            <a:off x="4932983" y="4053936"/>
            <a:ext cx="2788920" cy="256032"/>
          </a:xfrm>
          <a:prstGeom prst="rect">
            <a:avLst/>
          </a:prstGeom>
          <a:noFill/>
          <a:ln/>
        </p:spPr>
        <p:txBody>
          <a:bodyPr wrap="square" lIns="0" tIns="0" rIns="0" bIns="0" rtlCol="0" anchor="ctr"/>
          <a:lstStyle/>
          <a:p>
            <a:pPr algn="ctr"/>
            <a:r>
              <a:rPr lang="sv-SE" sz="1050" dirty="0" err="1"/>
              <a:t>Figure</a:t>
            </a:r>
            <a:r>
              <a:rPr lang="sv-SE" sz="1050" dirty="0"/>
              <a:t> 1: Track </a:t>
            </a:r>
            <a:r>
              <a:rPr lang="sv-SE" sz="1050" dirty="0" err="1"/>
              <a:t>geometry</a:t>
            </a:r>
            <a:r>
              <a:rPr lang="sv-SE" sz="1050" dirty="0"/>
              <a:t> </a:t>
            </a:r>
            <a:r>
              <a:rPr lang="sv-SE" sz="1050" dirty="0" err="1"/>
              <a:t>measurements</a:t>
            </a:r>
            <a:r>
              <a:rPr lang="sv-SE" sz="1050" dirty="0"/>
              <a:t>. </a:t>
            </a:r>
          </a:p>
          <a:p>
            <a:pPr algn="ctr"/>
            <a:r>
              <a:rPr lang="sv-SE" sz="1050" dirty="0"/>
              <a:t>From Sharma et al. (2018) </a:t>
            </a:r>
            <a:endParaRPr lang="en-US" sz="1050" dirty="0"/>
          </a:p>
        </p:txBody>
      </p:sp>
      <p:sp>
        <p:nvSpPr>
          <p:cNvPr id="32" name="Text 30"/>
          <p:cNvSpPr txBox="1"/>
          <p:nvPr/>
        </p:nvSpPr>
        <p:spPr>
          <a:xfrm>
            <a:off x="457200" y="4370832"/>
            <a:ext cx="8229600" cy="310896"/>
          </a:xfrm>
          <a:prstGeom prst="rect">
            <a:avLst/>
          </a:prstGeom>
          <a:noFill/>
          <a:ln/>
        </p:spPr>
        <p:txBody>
          <a:bodyPr wrap="square" lIns="0" tIns="0" rIns="0" bIns="0" rtlCol="0" anchor="ctr"/>
          <a:lstStyle/>
          <a:p>
            <a:pPr marL="0" indent="0" algn="ctr">
              <a:buNone/>
            </a:pPr>
            <a:r>
              <a:rPr lang="en-US" sz="1200" i="1" dirty="0">
                <a:solidFill>
                  <a:srgbClr val="5F7178"/>
                </a:solidFill>
                <a:latin typeface="Calibri" pitchFamily="34" charset="0"/>
                <a:ea typeface="Calibri" pitchFamily="34" charset="-122"/>
                <a:cs typeface="Calibri" pitchFamily="34" charset="-120"/>
              </a:rPr>
              <a:t>These are the parameters railways already use to judge track condition — Sharma et al. (2018).</a:t>
            </a:r>
            <a:endParaRPr lang="en-US" sz="1200" dirty="0"/>
          </a:p>
        </p:txBody>
      </p:sp>
      <p:pic>
        <p:nvPicPr>
          <p:cNvPr id="34" name="Picture 33">
            <a:extLst>
              <a:ext uri="{FF2B5EF4-FFF2-40B4-BE49-F238E27FC236}">
                <a16:creationId xmlns:a16="http://schemas.microsoft.com/office/drawing/2014/main" id="{B066608A-1DD8-3546-1C35-2280E245E510}"/>
              </a:ext>
            </a:extLst>
          </p:cNvPr>
          <p:cNvPicPr>
            <a:picLocks noChangeAspect="1"/>
          </p:cNvPicPr>
          <p:nvPr/>
        </p:nvPicPr>
        <p:blipFill>
          <a:blip r:embed="rId3"/>
          <a:stretch>
            <a:fillRect/>
          </a:stretch>
        </p:blipFill>
        <p:spPr>
          <a:xfrm>
            <a:off x="5084821" y="1255582"/>
            <a:ext cx="2485245" cy="273749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TRACK QUALITY INDEX</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One number per section, so sections can be ranked</a:t>
            </a:r>
            <a:endParaRPr lang="en-US" sz="2700" dirty="0"/>
          </a:p>
        </p:txBody>
      </p:sp>
      <p:sp>
        <p:nvSpPr>
          <p:cNvPr id="4" name="Shape 2"/>
          <p:cNvSpPr/>
          <p:nvPr/>
        </p:nvSpPr>
        <p:spPr>
          <a:xfrm>
            <a:off x="457200" y="1115568"/>
            <a:ext cx="3931920" cy="1280160"/>
          </a:xfrm>
          <a:prstGeom prst="roundRect">
            <a:avLst>
              <a:gd name="adj" fmla="val 4286"/>
            </a:avLst>
          </a:prstGeom>
          <a:solidFill>
            <a:srgbClr val="EDF5F5"/>
          </a:solidFill>
          <a:ln w="12700">
            <a:solidFill>
              <a:srgbClr val="EDF5F5"/>
            </a:solidFill>
            <a:prstDash val="solid"/>
          </a:ln>
        </p:spPr>
        <p:txBody>
          <a:bodyPr/>
          <a:lstStyle/>
          <a:p>
            <a:endParaRPr lang="sv-SE"/>
          </a:p>
        </p:txBody>
      </p:sp>
      <p:sp>
        <p:nvSpPr>
          <p:cNvPr id="5" name="Text 3"/>
          <p:cNvSpPr txBox="1"/>
          <p:nvPr/>
        </p:nvSpPr>
        <p:spPr>
          <a:xfrm>
            <a:off x="640080" y="1188720"/>
            <a:ext cx="3703320" cy="548640"/>
          </a:xfrm>
          <a:prstGeom prst="rect">
            <a:avLst/>
          </a:prstGeom>
          <a:noFill/>
          <a:ln/>
        </p:spPr>
        <p:txBody>
          <a:bodyPr wrap="square" lIns="0" tIns="0" rIns="0" bIns="0" rtlCol="0" anchor="ctr"/>
          <a:lstStyle/>
          <a:p>
            <a:pPr marL="0" indent="0" algn="ctr">
              <a:buNone/>
            </a:pPr>
            <a:r>
              <a:rPr lang="en-US" sz="2300" b="1" i="1" dirty="0">
                <a:solidFill>
                  <a:srgbClr val="028090"/>
                </a:solidFill>
                <a:latin typeface="Cambria" pitchFamily="34" charset="0"/>
                <a:ea typeface="Cambria" pitchFamily="34" charset="-122"/>
                <a:cs typeface="Cambria" pitchFamily="34" charset="-120"/>
              </a:rPr>
              <a:t>TQI</a:t>
            </a:r>
            <a:r>
              <a:rPr lang="en-US" sz="2300" b="1" dirty="0">
                <a:solidFill>
                  <a:srgbClr val="028090"/>
                </a:solidFill>
                <a:latin typeface="Cambria" pitchFamily="34" charset="0"/>
                <a:ea typeface="Cambria" pitchFamily="34" charset="-122"/>
                <a:cs typeface="Cambria" pitchFamily="34" charset="-120"/>
              </a:rPr>
              <a:t> = ( </a:t>
            </a:r>
            <a:r>
              <a:rPr lang="en-US" sz="2300" b="1" i="1" dirty="0">
                <a:solidFill>
                  <a:srgbClr val="028090"/>
                </a:solidFill>
                <a:latin typeface="Cambria" pitchFamily="34" charset="0"/>
                <a:ea typeface="Cambria" pitchFamily="34" charset="-122"/>
                <a:cs typeface="Cambria" pitchFamily="34" charset="-120"/>
              </a:rPr>
              <a:t>L</a:t>
            </a:r>
            <a:r>
              <a:rPr lang="en-US" sz="2300" b="1" i="1" baseline="-40000" dirty="0">
                <a:solidFill>
                  <a:srgbClr val="028090"/>
                </a:solidFill>
                <a:latin typeface="Cambria" pitchFamily="34" charset="0"/>
                <a:ea typeface="Cambria" pitchFamily="34" charset="-122"/>
                <a:cs typeface="Cambria" pitchFamily="34" charset="-120"/>
              </a:rPr>
              <a:t>s</a:t>
            </a:r>
            <a:r>
              <a:rPr lang="en-US" sz="2300" b="1" dirty="0">
                <a:solidFill>
                  <a:srgbClr val="028090"/>
                </a:solidFill>
                <a:latin typeface="Cambria" pitchFamily="34" charset="0"/>
                <a:ea typeface="Cambria" pitchFamily="34" charset="-122"/>
                <a:cs typeface="Cambria" pitchFamily="34" charset="-120"/>
              </a:rPr>
              <a:t> / </a:t>
            </a:r>
            <a:r>
              <a:rPr lang="en-US" sz="2300" b="1" i="1" dirty="0">
                <a:solidFill>
                  <a:srgbClr val="028090"/>
                </a:solidFill>
                <a:latin typeface="Cambria" pitchFamily="34" charset="0"/>
                <a:ea typeface="Cambria" pitchFamily="34" charset="-122"/>
                <a:cs typeface="Cambria" pitchFamily="34" charset="-120"/>
              </a:rPr>
              <a:t>L</a:t>
            </a:r>
            <a:r>
              <a:rPr lang="en-US" sz="2300" b="1" baseline="-40000" dirty="0">
                <a:solidFill>
                  <a:srgbClr val="028090"/>
                </a:solidFill>
                <a:latin typeface="Cambria" pitchFamily="34" charset="0"/>
                <a:ea typeface="Cambria" pitchFamily="34" charset="-122"/>
                <a:cs typeface="Cambria" pitchFamily="34" charset="-120"/>
              </a:rPr>
              <a:t>0</a:t>
            </a:r>
            <a:r>
              <a:rPr lang="en-US" sz="2300" b="1" dirty="0">
                <a:solidFill>
                  <a:srgbClr val="028090"/>
                </a:solidFill>
                <a:latin typeface="Cambria" pitchFamily="34" charset="0"/>
                <a:ea typeface="Cambria" pitchFamily="34" charset="-122"/>
                <a:cs typeface="Cambria" pitchFamily="34" charset="-120"/>
              </a:rPr>
              <a:t> − 1 ) × 10</a:t>
            </a:r>
            <a:r>
              <a:rPr lang="en-US" sz="2300" b="1" baseline="30000" dirty="0">
                <a:solidFill>
                  <a:srgbClr val="028090"/>
                </a:solidFill>
                <a:latin typeface="Cambria" pitchFamily="34" charset="0"/>
                <a:ea typeface="Cambria" pitchFamily="34" charset="-122"/>
                <a:cs typeface="Cambria" pitchFamily="34" charset="-120"/>
              </a:rPr>
              <a:t>6</a:t>
            </a:r>
            <a:endParaRPr lang="en-US" sz="2300" dirty="0"/>
          </a:p>
        </p:txBody>
      </p:sp>
      <p:sp>
        <p:nvSpPr>
          <p:cNvPr id="6" name="Shape 4"/>
          <p:cNvSpPr/>
          <p:nvPr/>
        </p:nvSpPr>
        <p:spPr>
          <a:xfrm>
            <a:off x="960120" y="1783080"/>
            <a:ext cx="3063240" cy="0"/>
          </a:xfrm>
          <a:prstGeom prst="line">
            <a:avLst/>
          </a:prstGeom>
          <a:noFill/>
          <a:ln w="12700">
            <a:solidFill>
              <a:srgbClr val="CBDBDD"/>
            </a:solidFill>
            <a:prstDash val="solid"/>
          </a:ln>
        </p:spPr>
        <p:txBody>
          <a:bodyPr/>
          <a:lstStyle/>
          <a:p>
            <a:endParaRPr lang="sv-SE"/>
          </a:p>
        </p:txBody>
      </p:sp>
      <p:sp>
        <p:nvSpPr>
          <p:cNvPr id="7" name="Text 5"/>
          <p:cNvSpPr txBox="1"/>
          <p:nvPr/>
        </p:nvSpPr>
        <p:spPr>
          <a:xfrm>
            <a:off x="731520" y="1901952"/>
            <a:ext cx="3657600" cy="411480"/>
          </a:xfrm>
          <a:prstGeom prst="rect">
            <a:avLst/>
          </a:prstGeom>
          <a:noFill/>
          <a:ln/>
        </p:spPr>
        <p:txBody>
          <a:bodyPr wrap="square" lIns="0" tIns="0" rIns="0" bIns="0" rtlCol="0" anchor="ctr"/>
          <a:lstStyle/>
          <a:p>
            <a:pPr marL="0" indent="0">
              <a:buNone/>
            </a:pPr>
            <a:r>
              <a:rPr lang="en-US" sz="1150" i="1" dirty="0">
                <a:solidFill>
                  <a:srgbClr val="16262B"/>
                </a:solidFill>
                <a:latin typeface="Calibri" pitchFamily="34" charset="0"/>
                <a:ea typeface="Calibri" pitchFamily="34" charset="-122"/>
                <a:cs typeface="Calibri" pitchFamily="34" charset="-120"/>
              </a:rPr>
              <a:t>L</a:t>
            </a:r>
            <a:r>
              <a:rPr lang="en-US" sz="1150" baseline="-40000" dirty="0">
                <a:solidFill>
                  <a:srgbClr val="16262B"/>
                </a:solidFill>
                <a:latin typeface="Calibri" pitchFamily="34" charset="0"/>
                <a:ea typeface="Calibri" pitchFamily="34" charset="-122"/>
                <a:cs typeface="Calibri" pitchFamily="34" charset="-120"/>
              </a:rPr>
              <a:t>0</a:t>
            </a:r>
            <a:r>
              <a:rPr lang="en-US" sz="1150" dirty="0">
                <a:solidFill>
                  <a:srgbClr val="16262B"/>
                </a:solidFill>
                <a:latin typeface="Calibri" pitchFamily="34" charset="0"/>
                <a:ea typeface="Calibri" pitchFamily="34" charset="-122"/>
                <a:cs typeface="Calibri" pitchFamily="34" charset="-120"/>
              </a:rPr>
              <a:t>   the length of the section        </a:t>
            </a:r>
            <a:r>
              <a:rPr lang="en-US" sz="1150" i="1" dirty="0">
                <a:solidFill>
                  <a:srgbClr val="16262B"/>
                </a:solidFill>
                <a:latin typeface="Calibri" pitchFamily="34" charset="0"/>
                <a:ea typeface="Calibri" pitchFamily="34" charset="-122"/>
                <a:cs typeface="Calibri" pitchFamily="34" charset="-120"/>
              </a:rPr>
              <a:t>L</a:t>
            </a:r>
            <a:r>
              <a:rPr lang="en-US" sz="1150" i="1" baseline="-40000" dirty="0">
                <a:solidFill>
                  <a:srgbClr val="16262B"/>
                </a:solidFill>
                <a:latin typeface="Calibri" pitchFamily="34" charset="0"/>
                <a:ea typeface="Calibri" pitchFamily="34" charset="-122"/>
                <a:cs typeface="Calibri" pitchFamily="34" charset="-120"/>
              </a:rPr>
              <a:t>s</a:t>
            </a:r>
            <a:r>
              <a:rPr lang="en-US" sz="1150" dirty="0">
                <a:solidFill>
                  <a:srgbClr val="16262B"/>
                </a:solidFill>
                <a:latin typeface="Calibri" pitchFamily="34" charset="0"/>
                <a:ea typeface="Calibri" pitchFamily="34" charset="-122"/>
                <a:cs typeface="Calibri" pitchFamily="34" charset="-120"/>
              </a:rPr>
              <a:t>   the length of the trace</a:t>
            </a:r>
            <a:endParaRPr lang="en-US" sz="1150" dirty="0"/>
          </a:p>
        </p:txBody>
      </p:sp>
      <p:sp>
        <p:nvSpPr>
          <p:cNvPr id="8" name="Shape 6"/>
          <p:cNvSpPr/>
          <p:nvPr/>
        </p:nvSpPr>
        <p:spPr>
          <a:xfrm>
            <a:off x="4754880" y="1115568"/>
            <a:ext cx="3931920" cy="1280160"/>
          </a:xfrm>
          <a:prstGeom prst="roundRect">
            <a:avLst>
              <a:gd name="adj" fmla="val 4286"/>
            </a:avLst>
          </a:prstGeom>
          <a:solidFill>
            <a:srgbClr val="EDF5F5"/>
          </a:solidFill>
          <a:ln w="12700">
            <a:solidFill>
              <a:srgbClr val="EDF5F5"/>
            </a:solidFill>
            <a:prstDash val="solid"/>
          </a:ln>
        </p:spPr>
        <p:txBody>
          <a:bodyPr/>
          <a:lstStyle/>
          <a:p>
            <a:endParaRPr lang="sv-SE"/>
          </a:p>
        </p:txBody>
      </p:sp>
      <p:sp>
        <p:nvSpPr>
          <p:cNvPr id="9" name="Text 7"/>
          <p:cNvSpPr txBox="1"/>
          <p:nvPr/>
        </p:nvSpPr>
        <p:spPr>
          <a:xfrm>
            <a:off x="4983480" y="1225296"/>
            <a:ext cx="3520440" cy="685800"/>
          </a:xfrm>
          <a:prstGeom prst="rect">
            <a:avLst/>
          </a:prstGeom>
          <a:noFill/>
          <a:ln/>
        </p:spPr>
        <p:txBody>
          <a:bodyPr wrap="square" lIns="0" tIns="0" rIns="0" bIns="0" rtlCol="0" anchor="ctr"/>
          <a:lstStyle/>
          <a:p>
            <a:pPr marL="0" indent="0">
              <a:lnSpc>
                <a:spcPts val="1700"/>
              </a:lnSpc>
              <a:buNone/>
            </a:pPr>
            <a:r>
              <a:rPr lang="en-US" sz="1200" dirty="0">
                <a:solidFill>
                  <a:srgbClr val="16262B"/>
                </a:solidFill>
                <a:latin typeface="Calibri" pitchFamily="34" charset="0"/>
                <a:ea typeface="Calibri" pitchFamily="34" charset="-122"/>
                <a:cs typeface="Calibri" pitchFamily="34" charset="-120"/>
              </a:rPr>
              <a:t>Perfect track → the trace is straight, and TQI = 0.</a:t>
            </a:r>
            <a:endParaRPr lang="en-US" sz="1200" dirty="0"/>
          </a:p>
          <a:p>
            <a:pPr marL="0" indent="0">
              <a:lnSpc>
                <a:spcPts val="1700"/>
              </a:lnSpc>
              <a:buNone/>
            </a:pPr>
            <a:r>
              <a:rPr lang="en-US" sz="1200" dirty="0">
                <a:solidFill>
                  <a:srgbClr val="16262B"/>
                </a:solidFill>
                <a:latin typeface="Calibri" pitchFamily="34" charset="0"/>
                <a:ea typeface="Calibri" pitchFamily="34" charset="-122"/>
                <a:cs typeface="Calibri" pitchFamily="34" charset="-120"/>
              </a:rPr>
              <a:t>Every wobble makes it longer, and TQI is that extra length.</a:t>
            </a:r>
            <a:endParaRPr lang="en-US" sz="1200" dirty="0"/>
          </a:p>
        </p:txBody>
      </p:sp>
      <p:sp>
        <p:nvSpPr>
          <p:cNvPr id="10" name="Text 8"/>
          <p:cNvSpPr txBox="1"/>
          <p:nvPr/>
        </p:nvSpPr>
        <p:spPr>
          <a:xfrm>
            <a:off x="4983480" y="1920240"/>
            <a:ext cx="3520440" cy="411480"/>
          </a:xfrm>
          <a:prstGeom prst="rect">
            <a:avLst/>
          </a:prstGeom>
          <a:noFill/>
          <a:ln/>
        </p:spPr>
        <p:txBody>
          <a:bodyPr wrap="square" lIns="0" tIns="0" rIns="0" bIns="0" rtlCol="0" anchor="ctr"/>
          <a:lstStyle/>
          <a:p>
            <a:pPr marL="0" indent="0">
              <a:buNone/>
            </a:pPr>
            <a:r>
              <a:rPr lang="en-US" sz="1050" i="1" dirty="0">
                <a:solidFill>
                  <a:srgbClr val="5F7178"/>
                </a:solidFill>
                <a:latin typeface="Calibri" pitchFamily="34" charset="0"/>
                <a:ea typeface="Calibri" pitchFamily="34" charset="-122"/>
                <a:cs typeface="Calibri" pitchFamily="34" charset="-120"/>
              </a:rPr>
              <a:t>Applied to each parameter separately, then normalised and averaged — Sharma et al. (2018).</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1243584"/>
        </p:xfrm>
        <a:graphic>
          <a:graphicData uri="http://schemas.openxmlformats.org/drawingml/2006/table">
            <a:tbl>
              <a:tblPr/>
              <a:tblGrid>
                <a:gridCol w="1645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97280">
                  <a:extLst>
                    <a:ext uri="{9D8B030D-6E8A-4147-A177-3AD203B41FA5}">
                      <a16:colId xmlns:a16="http://schemas.microsoft.com/office/drawing/2014/main" val="20006"/>
                    </a:ext>
                  </a:extLst>
                </a:gridCol>
              </a:tblGrid>
              <a:tr h="310896">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section</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gauge</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cross-level</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cant</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twist</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surface</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TQI</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310896">
                <a:tc>
                  <a:txBody>
                    <a:bodyPr/>
                    <a:lstStyle/>
                    <a:p>
                      <a:pPr marL="0" indent="0" algn="l">
                        <a:buNone/>
                      </a:pPr>
                      <a:r>
                        <a:rPr lang="en-US" sz="1100" dirty="0">
                          <a:solidFill>
                            <a:srgbClr val="16262B"/>
                          </a:solidFill>
                          <a:latin typeface="Calibri" pitchFamily="34" charset="0"/>
                          <a:ea typeface="Calibri" pitchFamily="34" charset="-122"/>
                          <a:cs typeface="Calibri" pitchFamily="34" charset="-120"/>
                        </a:rPr>
                        <a:t>42.000 – 42.025</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0.9</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6262B"/>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00" b="1" dirty="0">
                          <a:solidFill>
                            <a:srgbClr val="E8604C"/>
                          </a:solidFill>
                          <a:latin typeface="Calibri" pitchFamily="34" charset="0"/>
                          <a:ea typeface="Calibri" pitchFamily="34" charset="-122"/>
                          <a:cs typeface="Calibri" pitchFamily="34" charset="-120"/>
                        </a:rPr>
                        <a:t>42.025 – 42.050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3.6</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extLst>
                  <a:ext uri="{0D108BD9-81ED-4DB2-BD59-A6C34878D82A}">
                    <a16:rowId xmlns:a16="http://schemas.microsoft.com/office/drawing/2014/main" val="10002"/>
                  </a:ext>
                </a:extLst>
              </a:tr>
              <a:tr h="310896">
                <a:tc>
                  <a:txBody>
                    <a:bodyPr/>
                    <a:lstStyle/>
                    <a:p>
                      <a:pPr marL="0" indent="0" algn="l">
                        <a:buNone/>
                      </a:pPr>
                      <a:r>
                        <a:rPr lang="en-US" sz="1100" dirty="0">
                          <a:solidFill>
                            <a:srgbClr val="16262B"/>
                          </a:solidFill>
                          <a:latin typeface="Calibri" pitchFamily="34" charset="0"/>
                          <a:ea typeface="Calibri" pitchFamily="34" charset="-122"/>
                          <a:cs typeface="Calibri" pitchFamily="34" charset="-120"/>
                        </a:rPr>
                        <a:t>42.050 – 42.075</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0.9</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6262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2" name="Text 9"/>
          <p:cNvSpPr txBox="1"/>
          <p:nvPr/>
        </p:nvSpPr>
        <p:spPr>
          <a:xfrm>
            <a:off x="457200" y="3913632"/>
            <a:ext cx="8229600" cy="274320"/>
          </a:xfrm>
          <a:prstGeom prst="rect">
            <a:avLst/>
          </a:prstGeom>
          <a:noFill/>
          <a:ln/>
        </p:spPr>
        <p:txBody>
          <a:bodyPr wrap="square" lIns="0" tIns="0" rIns="0" bIns="0" rtlCol="0" anchor="ctr"/>
          <a:lstStyle/>
          <a:p>
            <a:pPr marL="0" indent="0">
              <a:buNone/>
            </a:pPr>
            <a:r>
              <a:rPr lang="en-US" sz="1100" i="1" dirty="0">
                <a:solidFill>
                  <a:srgbClr val="5F7178"/>
                </a:solidFill>
                <a:latin typeface="Calibri" pitchFamily="34" charset="0"/>
                <a:ea typeface="Calibri" pitchFamily="34" charset="-122"/>
                <a:cs typeface="Calibri" pitchFamily="34" charset="-120"/>
              </a:rPr>
              <a:t>The middle row is the one to look at: far more variation in every parameter, so a much higher TQI.  Illustrative values — no data yet.</a:t>
            </a:r>
            <a:endParaRPr lang="en-US" sz="1100" dirty="0"/>
          </a:p>
        </p:txBody>
      </p:sp>
      <p:sp>
        <p:nvSpPr>
          <p:cNvPr id="13" name="Text 10"/>
          <p:cNvSpPr txBox="1"/>
          <p:nvPr/>
        </p:nvSpPr>
        <p:spPr>
          <a:xfrm>
            <a:off x="457200" y="4279392"/>
            <a:ext cx="8229600" cy="310896"/>
          </a:xfrm>
          <a:prstGeom prst="rect">
            <a:avLst/>
          </a:prstGeom>
          <a:noFill/>
          <a:ln/>
        </p:spPr>
        <p:txBody>
          <a:bodyPr wrap="square" lIns="0" tIns="0" rIns="0" bIns="0" rtlCol="0" anchor="ctr"/>
          <a:lstStyle/>
          <a:p>
            <a:pPr marL="0" indent="0" algn="ctr">
              <a:buNone/>
            </a:pPr>
            <a:r>
              <a:rPr lang="en-US" sz="1200" i="1" dirty="0">
                <a:solidFill>
                  <a:srgbClr val="5F7178"/>
                </a:solidFill>
                <a:latin typeface="Calibri" pitchFamily="34" charset="0"/>
                <a:ea typeface="Calibri" pitchFamily="34" charset="-122"/>
                <a:cs typeface="Calibri" pitchFamily="34" charset="-120"/>
              </a:rPr>
              <a:t>Every section of track becomes one row — and that table is what gets joined to the vibration events.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Six steps</a:t>
            </a:r>
            <a:endParaRPr lang="en-US" sz="2700" dirty="0"/>
          </a:p>
        </p:txBody>
      </p:sp>
      <p:sp>
        <p:nvSpPr>
          <p:cNvPr id="4" name="Shape 2"/>
          <p:cNvSpPr/>
          <p:nvPr/>
        </p:nvSpPr>
        <p:spPr>
          <a:xfrm>
            <a:off x="457200" y="123444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5" name="Shape 3"/>
          <p:cNvSpPr/>
          <p:nvPr/>
        </p:nvSpPr>
        <p:spPr>
          <a:xfrm>
            <a:off x="640080" y="1298448"/>
            <a:ext cx="347472" cy="347472"/>
          </a:xfrm>
          <a:prstGeom prst="ellipse">
            <a:avLst/>
          </a:prstGeom>
          <a:solidFill>
            <a:srgbClr val="028090"/>
          </a:solidFill>
          <a:ln w="12700">
            <a:solidFill>
              <a:srgbClr val="028090"/>
            </a:solidFill>
            <a:prstDash val="solid"/>
          </a:ln>
        </p:spPr>
        <p:txBody>
          <a:bodyPr/>
          <a:lstStyle/>
          <a:p>
            <a:endParaRPr lang="sv-SE"/>
          </a:p>
        </p:txBody>
      </p:sp>
      <p:sp>
        <p:nvSpPr>
          <p:cNvPr id="6" name="Text 4"/>
          <p:cNvSpPr txBox="1"/>
          <p:nvPr/>
        </p:nvSpPr>
        <p:spPr>
          <a:xfrm>
            <a:off x="640080" y="129844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115568" y="123444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Extract the two rails from the point cloud</a:t>
            </a:r>
            <a:endParaRPr lang="en-US" sz="1350" dirty="0"/>
          </a:p>
        </p:txBody>
      </p:sp>
      <p:sp>
        <p:nvSpPr>
          <p:cNvPr id="8" name="Shape 6"/>
          <p:cNvSpPr/>
          <p:nvPr/>
        </p:nvSpPr>
        <p:spPr>
          <a:xfrm>
            <a:off x="457200" y="178308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9" name="Shape 7"/>
          <p:cNvSpPr/>
          <p:nvPr/>
        </p:nvSpPr>
        <p:spPr>
          <a:xfrm>
            <a:off x="640080" y="1847088"/>
            <a:ext cx="347472" cy="347472"/>
          </a:xfrm>
          <a:prstGeom prst="ellipse">
            <a:avLst/>
          </a:prstGeom>
          <a:solidFill>
            <a:srgbClr val="028090"/>
          </a:solidFill>
          <a:ln w="12700">
            <a:solidFill>
              <a:srgbClr val="028090"/>
            </a:solidFill>
            <a:prstDash val="solid"/>
          </a:ln>
        </p:spPr>
        <p:txBody>
          <a:bodyPr/>
          <a:lstStyle/>
          <a:p>
            <a:endParaRPr lang="sv-SE"/>
          </a:p>
        </p:txBody>
      </p:sp>
      <p:sp>
        <p:nvSpPr>
          <p:cNvPr id="10" name="Text 8"/>
          <p:cNvSpPr txBox="1"/>
          <p:nvPr/>
        </p:nvSpPr>
        <p:spPr>
          <a:xfrm>
            <a:off x="640080" y="184708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15568" y="178308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Split the track into sections</a:t>
            </a:r>
            <a:endParaRPr lang="en-US" sz="1350" dirty="0"/>
          </a:p>
        </p:txBody>
      </p:sp>
      <p:sp>
        <p:nvSpPr>
          <p:cNvPr id="12" name="Shape 10"/>
          <p:cNvSpPr/>
          <p:nvPr/>
        </p:nvSpPr>
        <p:spPr>
          <a:xfrm>
            <a:off x="457200" y="233172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13" name="Shape 11"/>
          <p:cNvSpPr/>
          <p:nvPr/>
        </p:nvSpPr>
        <p:spPr>
          <a:xfrm>
            <a:off x="640080" y="2395728"/>
            <a:ext cx="347472" cy="347472"/>
          </a:xfrm>
          <a:prstGeom prst="ellipse">
            <a:avLst/>
          </a:prstGeom>
          <a:solidFill>
            <a:srgbClr val="028090"/>
          </a:solidFill>
          <a:ln w="12700">
            <a:solidFill>
              <a:srgbClr val="028090"/>
            </a:solidFill>
            <a:prstDash val="solid"/>
          </a:ln>
        </p:spPr>
        <p:txBody>
          <a:bodyPr/>
          <a:lstStyle/>
          <a:p>
            <a:endParaRPr lang="sv-SE"/>
          </a:p>
        </p:txBody>
      </p:sp>
      <p:sp>
        <p:nvSpPr>
          <p:cNvPr id="14" name="Text 12"/>
          <p:cNvSpPr txBox="1"/>
          <p:nvPr/>
        </p:nvSpPr>
        <p:spPr>
          <a:xfrm>
            <a:off x="640080" y="239572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txBox="1"/>
          <p:nvPr/>
        </p:nvSpPr>
        <p:spPr>
          <a:xfrm>
            <a:off x="1115568" y="233172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Measure the geometry and compute TQI per section</a:t>
            </a:r>
            <a:endParaRPr lang="en-US" sz="1350" dirty="0"/>
          </a:p>
        </p:txBody>
      </p:sp>
      <p:sp>
        <p:nvSpPr>
          <p:cNvPr id="16" name="Shape 14"/>
          <p:cNvSpPr/>
          <p:nvPr/>
        </p:nvSpPr>
        <p:spPr>
          <a:xfrm>
            <a:off x="457200" y="288036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17" name="Shape 15"/>
          <p:cNvSpPr/>
          <p:nvPr/>
        </p:nvSpPr>
        <p:spPr>
          <a:xfrm>
            <a:off x="640080" y="2944368"/>
            <a:ext cx="347472" cy="347472"/>
          </a:xfrm>
          <a:prstGeom prst="ellipse">
            <a:avLst/>
          </a:prstGeom>
          <a:solidFill>
            <a:srgbClr val="00A896"/>
          </a:solidFill>
          <a:ln w="12700">
            <a:solidFill>
              <a:srgbClr val="00A896"/>
            </a:solidFill>
            <a:prstDash val="solid"/>
          </a:ln>
        </p:spPr>
        <p:txBody>
          <a:bodyPr/>
          <a:lstStyle/>
          <a:p>
            <a:endParaRPr lang="sv-SE"/>
          </a:p>
        </p:txBody>
      </p:sp>
      <p:sp>
        <p:nvSpPr>
          <p:cNvPr id="18" name="Text 16"/>
          <p:cNvSpPr txBox="1"/>
          <p:nvPr/>
        </p:nvSpPr>
        <p:spPr>
          <a:xfrm>
            <a:off x="640080" y="294436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txBox="1"/>
          <p:nvPr/>
        </p:nvSpPr>
        <p:spPr>
          <a:xfrm>
            <a:off x="1115568" y="288036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Match the vibration events to the same sections</a:t>
            </a:r>
            <a:endParaRPr lang="en-US" sz="1350" dirty="0"/>
          </a:p>
        </p:txBody>
      </p:sp>
      <p:sp>
        <p:nvSpPr>
          <p:cNvPr id="20" name="Shape 18"/>
          <p:cNvSpPr/>
          <p:nvPr/>
        </p:nvSpPr>
        <p:spPr>
          <a:xfrm>
            <a:off x="457200" y="342900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21" name="Shape 19"/>
          <p:cNvSpPr/>
          <p:nvPr/>
        </p:nvSpPr>
        <p:spPr>
          <a:xfrm>
            <a:off x="640080" y="3493008"/>
            <a:ext cx="347472" cy="347472"/>
          </a:xfrm>
          <a:prstGeom prst="ellipse">
            <a:avLst/>
          </a:prstGeom>
          <a:solidFill>
            <a:srgbClr val="E8604C"/>
          </a:solidFill>
          <a:ln w="12700">
            <a:solidFill>
              <a:srgbClr val="E8604C"/>
            </a:solidFill>
            <a:prstDash val="solid"/>
          </a:ln>
        </p:spPr>
        <p:txBody>
          <a:bodyPr/>
          <a:lstStyle/>
          <a:p>
            <a:endParaRPr lang="sv-SE"/>
          </a:p>
        </p:txBody>
      </p:sp>
      <p:sp>
        <p:nvSpPr>
          <p:cNvPr id="22" name="Text 20"/>
          <p:cNvSpPr txBox="1"/>
          <p:nvPr/>
        </p:nvSpPr>
        <p:spPr>
          <a:xfrm>
            <a:off x="640080" y="349300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txBox="1"/>
          <p:nvPr/>
        </p:nvSpPr>
        <p:spPr>
          <a:xfrm>
            <a:off x="1115568" y="342900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Cluster the abnormal events into named fault types</a:t>
            </a:r>
            <a:endParaRPr lang="en-US" sz="1350" dirty="0"/>
          </a:p>
        </p:txBody>
      </p:sp>
      <p:sp>
        <p:nvSpPr>
          <p:cNvPr id="24" name="Shape 22"/>
          <p:cNvSpPr/>
          <p:nvPr/>
        </p:nvSpPr>
        <p:spPr>
          <a:xfrm>
            <a:off x="457200" y="3977640"/>
            <a:ext cx="8229600" cy="475488"/>
          </a:xfrm>
          <a:prstGeom prst="roundRect">
            <a:avLst>
              <a:gd name="adj" fmla="val 11538"/>
            </a:avLst>
          </a:prstGeom>
          <a:solidFill>
            <a:srgbClr val="0B2027"/>
          </a:solidFill>
          <a:ln w="12700">
            <a:solidFill>
              <a:srgbClr val="0B2027"/>
            </a:solidFill>
            <a:prstDash val="solid"/>
          </a:ln>
        </p:spPr>
        <p:txBody>
          <a:bodyPr/>
          <a:lstStyle/>
          <a:p>
            <a:endParaRPr lang="sv-SE"/>
          </a:p>
        </p:txBody>
      </p:sp>
      <p:sp>
        <p:nvSpPr>
          <p:cNvPr id="25" name="Shape 23"/>
          <p:cNvSpPr/>
          <p:nvPr/>
        </p:nvSpPr>
        <p:spPr>
          <a:xfrm>
            <a:off x="640080" y="4041648"/>
            <a:ext cx="347472" cy="347472"/>
          </a:xfrm>
          <a:prstGeom prst="ellipse">
            <a:avLst/>
          </a:prstGeom>
          <a:solidFill>
            <a:srgbClr val="E8604C"/>
          </a:solidFill>
          <a:ln w="12700">
            <a:solidFill>
              <a:srgbClr val="E8604C"/>
            </a:solidFill>
            <a:prstDash val="solid"/>
          </a:ln>
        </p:spPr>
        <p:txBody>
          <a:bodyPr/>
          <a:lstStyle/>
          <a:p>
            <a:endParaRPr lang="sv-SE"/>
          </a:p>
        </p:txBody>
      </p:sp>
      <p:sp>
        <p:nvSpPr>
          <p:cNvPr id="26" name="Text 24"/>
          <p:cNvSpPr txBox="1"/>
          <p:nvPr/>
        </p:nvSpPr>
        <p:spPr>
          <a:xfrm>
            <a:off x="640080" y="404164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7" name="Text 25"/>
          <p:cNvSpPr txBox="1"/>
          <p:nvPr/>
        </p:nvSpPr>
        <p:spPr>
          <a:xfrm>
            <a:off x="1115568" y="3977640"/>
            <a:ext cx="7406640" cy="47548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Predict the fault type from the vibration features alone</a:t>
            </a:r>
            <a:endParaRPr lang="en-US" sz="1350" dirty="0"/>
          </a:p>
        </p:txBody>
      </p:sp>
      <p:sp>
        <p:nvSpPr>
          <p:cNvPr id="28" name="Text 26"/>
          <p:cNvSpPr txBox="1"/>
          <p:nvPr/>
        </p:nvSpPr>
        <p:spPr>
          <a:xfrm>
            <a:off x="457200" y="4590288"/>
            <a:ext cx="8229600" cy="292608"/>
          </a:xfrm>
          <a:prstGeom prst="rect">
            <a:avLst/>
          </a:prstGeom>
          <a:noFill/>
          <a:ln/>
        </p:spPr>
        <p:txBody>
          <a:bodyPr wrap="square" lIns="0" tIns="0" rIns="0" bIns="0" rtlCol="0" anchor="ctr"/>
          <a:lstStyle/>
          <a:p>
            <a:pPr marL="0" indent="0" algn="ctr">
              <a:buNone/>
            </a:pPr>
            <a:r>
              <a:rPr lang="en-US" sz="1200" i="1" dirty="0">
                <a:solidFill>
                  <a:srgbClr val="5F7178"/>
                </a:solidFill>
                <a:latin typeface="Calibri" pitchFamily="34" charset="0"/>
                <a:ea typeface="Calibri" pitchFamily="34" charset="-122"/>
                <a:cs typeface="Calibri" pitchFamily="34" charset="-120"/>
              </a:rPr>
              <a:t>Steps 1-3 need point cloud. Steps 4-6 relies on vibration data carrying position information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THE ANALYSIS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Where the geometry is meant to lead</a:t>
            </a:r>
            <a:endParaRPr lang="en-US" sz="2700" dirty="0"/>
          </a:p>
        </p:txBody>
      </p:sp>
      <p:sp>
        <p:nvSpPr>
          <p:cNvPr id="4" name="Shape 2"/>
          <p:cNvSpPr/>
          <p:nvPr/>
        </p:nvSpPr>
        <p:spPr>
          <a:xfrm>
            <a:off x="457200" y="1280160"/>
            <a:ext cx="2606040" cy="1371600"/>
          </a:xfrm>
          <a:prstGeom prst="roundRect">
            <a:avLst>
              <a:gd name="adj" fmla="val 4000"/>
            </a:avLst>
          </a:prstGeom>
          <a:solidFill>
            <a:srgbClr val="EDF5F5"/>
          </a:solidFill>
          <a:ln w="12700">
            <a:solidFill>
              <a:srgbClr val="EDF5F5"/>
            </a:solidFill>
            <a:prstDash val="solid"/>
          </a:ln>
        </p:spPr>
        <p:txBody>
          <a:bodyPr/>
          <a:lstStyle/>
          <a:p>
            <a:endParaRPr lang="sv-SE"/>
          </a:p>
        </p:txBody>
      </p:sp>
      <p:sp>
        <p:nvSpPr>
          <p:cNvPr id="5" name="Shape 3"/>
          <p:cNvSpPr/>
          <p:nvPr/>
        </p:nvSpPr>
        <p:spPr>
          <a:xfrm>
            <a:off x="1559052" y="1426464"/>
            <a:ext cx="402336" cy="402336"/>
          </a:xfrm>
          <a:prstGeom prst="ellipse">
            <a:avLst/>
          </a:prstGeom>
          <a:solidFill>
            <a:srgbClr val="028090"/>
          </a:solidFill>
          <a:ln w="12700">
            <a:solidFill>
              <a:srgbClr val="028090"/>
            </a:solidFill>
            <a:prstDash val="solid"/>
          </a:ln>
        </p:spPr>
        <p:txBody>
          <a:bodyPr/>
          <a:lstStyle/>
          <a:p>
            <a:endParaRPr lang="sv-SE"/>
          </a:p>
        </p:txBody>
      </p:sp>
      <p:sp>
        <p:nvSpPr>
          <p:cNvPr id="6" name="Text 4"/>
          <p:cNvSpPr txBox="1"/>
          <p:nvPr/>
        </p:nvSpPr>
        <p:spPr>
          <a:xfrm>
            <a:off x="1559052" y="142646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594360" y="1901952"/>
            <a:ext cx="2331720" cy="292608"/>
          </a:xfrm>
          <a:prstGeom prst="rect">
            <a:avLst/>
          </a:prstGeom>
          <a:noFill/>
          <a:ln/>
        </p:spPr>
        <p:txBody>
          <a:bodyPr wrap="square" lIns="0" tIns="0" rIns="0" bIns="0" rtlCol="0" anchor="ctr"/>
          <a:lstStyle/>
          <a:p>
            <a:pPr marL="0" indent="0" algn="ctr">
              <a:buNone/>
            </a:pPr>
            <a:r>
              <a:rPr lang="en-US" sz="1350" b="1" dirty="0">
                <a:solidFill>
                  <a:srgbClr val="16262B"/>
                </a:solidFill>
                <a:latin typeface="Calibri" pitchFamily="34" charset="0"/>
                <a:ea typeface="Calibri" pitchFamily="34" charset="-122"/>
                <a:cs typeface="Calibri" pitchFamily="34" charset="-120"/>
              </a:rPr>
              <a:t>Cluster the events</a:t>
            </a:r>
            <a:endParaRPr lang="en-US" sz="1350" dirty="0"/>
          </a:p>
        </p:txBody>
      </p:sp>
      <p:sp>
        <p:nvSpPr>
          <p:cNvPr id="8" name="Text 6"/>
          <p:cNvSpPr txBox="1"/>
          <p:nvPr/>
        </p:nvSpPr>
        <p:spPr>
          <a:xfrm>
            <a:off x="621792" y="2212848"/>
            <a:ext cx="2286000" cy="384048"/>
          </a:xfrm>
          <a:prstGeom prst="rect">
            <a:avLst/>
          </a:prstGeom>
          <a:noFill/>
          <a:ln/>
        </p:spPr>
        <p:txBody>
          <a:bodyPr wrap="square" lIns="0" tIns="0" rIns="0" bIns="0" rtlCol="0" anchor="ctr"/>
          <a:lstStyle/>
          <a:p>
            <a:pPr marL="0" indent="0" algn="ctr">
              <a:buNone/>
            </a:pPr>
            <a:r>
              <a:rPr lang="en-US" sz="1050" dirty="0">
                <a:solidFill>
                  <a:srgbClr val="5F7178"/>
                </a:solidFill>
                <a:latin typeface="Calibri" pitchFamily="34" charset="0"/>
                <a:ea typeface="Calibri" pitchFamily="34" charset="-122"/>
                <a:cs typeface="Calibri" pitchFamily="34" charset="-120"/>
              </a:rPr>
              <a:t>PCA to reduce the geometry, k-means to group</a:t>
            </a:r>
            <a:endParaRPr lang="en-US" sz="1050" dirty="0"/>
          </a:p>
        </p:txBody>
      </p:sp>
      <p:sp>
        <p:nvSpPr>
          <p:cNvPr id="9" name="Shape 7"/>
          <p:cNvSpPr/>
          <p:nvPr/>
        </p:nvSpPr>
        <p:spPr>
          <a:xfrm>
            <a:off x="3246120" y="1280160"/>
            <a:ext cx="2606040" cy="1371600"/>
          </a:xfrm>
          <a:prstGeom prst="roundRect">
            <a:avLst>
              <a:gd name="adj" fmla="val 4000"/>
            </a:avLst>
          </a:prstGeom>
          <a:solidFill>
            <a:srgbClr val="EDF5F5"/>
          </a:solidFill>
          <a:ln w="12700">
            <a:solidFill>
              <a:srgbClr val="EDF5F5"/>
            </a:solidFill>
            <a:prstDash val="solid"/>
          </a:ln>
        </p:spPr>
        <p:txBody>
          <a:bodyPr/>
          <a:lstStyle/>
          <a:p>
            <a:endParaRPr lang="sv-SE"/>
          </a:p>
        </p:txBody>
      </p:sp>
      <p:sp>
        <p:nvSpPr>
          <p:cNvPr id="10" name="Shape 8"/>
          <p:cNvSpPr/>
          <p:nvPr/>
        </p:nvSpPr>
        <p:spPr>
          <a:xfrm>
            <a:off x="4347972" y="1426464"/>
            <a:ext cx="402336" cy="402336"/>
          </a:xfrm>
          <a:prstGeom prst="ellipse">
            <a:avLst/>
          </a:prstGeom>
          <a:solidFill>
            <a:srgbClr val="00A896"/>
          </a:solidFill>
          <a:ln w="12700">
            <a:solidFill>
              <a:srgbClr val="00A896"/>
            </a:solidFill>
            <a:prstDash val="solid"/>
          </a:ln>
        </p:spPr>
        <p:txBody>
          <a:bodyPr/>
          <a:lstStyle/>
          <a:p>
            <a:endParaRPr lang="sv-SE"/>
          </a:p>
        </p:txBody>
      </p:sp>
      <p:sp>
        <p:nvSpPr>
          <p:cNvPr id="11" name="Text 9"/>
          <p:cNvSpPr txBox="1"/>
          <p:nvPr/>
        </p:nvSpPr>
        <p:spPr>
          <a:xfrm>
            <a:off x="4347972" y="142646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3383280" y="1901952"/>
            <a:ext cx="2331720" cy="292608"/>
          </a:xfrm>
          <a:prstGeom prst="rect">
            <a:avLst/>
          </a:prstGeom>
          <a:noFill/>
          <a:ln/>
        </p:spPr>
        <p:txBody>
          <a:bodyPr wrap="square" lIns="0" tIns="0" rIns="0" bIns="0" rtlCol="0" anchor="ctr"/>
          <a:lstStyle/>
          <a:p>
            <a:pPr marL="0" indent="0" algn="ctr">
              <a:buNone/>
            </a:pPr>
            <a:r>
              <a:rPr lang="en-US" sz="1350" b="1" dirty="0">
                <a:solidFill>
                  <a:srgbClr val="16262B"/>
                </a:solidFill>
                <a:latin typeface="Calibri" pitchFamily="34" charset="0"/>
                <a:ea typeface="Calibri" pitchFamily="34" charset="-122"/>
                <a:cs typeface="Calibri" pitchFamily="34" charset="-120"/>
              </a:rPr>
              <a:t>Analyse each group</a:t>
            </a:r>
            <a:endParaRPr lang="en-US" sz="1350" dirty="0"/>
          </a:p>
        </p:txBody>
      </p:sp>
      <p:sp>
        <p:nvSpPr>
          <p:cNvPr id="13" name="Text 11"/>
          <p:cNvSpPr txBox="1"/>
          <p:nvPr/>
        </p:nvSpPr>
        <p:spPr>
          <a:xfrm>
            <a:off x="3410712" y="2212848"/>
            <a:ext cx="2286000" cy="384048"/>
          </a:xfrm>
          <a:prstGeom prst="rect">
            <a:avLst/>
          </a:prstGeom>
          <a:noFill/>
          <a:ln/>
        </p:spPr>
        <p:txBody>
          <a:bodyPr wrap="square" lIns="0" tIns="0" rIns="0" bIns="0" rtlCol="0" anchor="ctr"/>
          <a:lstStyle/>
          <a:p>
            <a:pPr marL="0" indent="0" algn="ctr">
              <a:buNone/>
            </a:pPr>
            <a:r>
              <a:rPr lang="en-US" sz="1050" dirty="0">
                <a:solidFill>
                  <a:srgbClr val="5F7178"/>
                </a:solidFill>
                <a:latin typeface="Calibri" pitchFamily="34" charset="0"/>
                <a:ea typeface="Calibri" pitchFamily="34" charset="-122"/>
                <a:cs typeface="Calibri" pitchFamily="34" charset="-120"/>
              </a:rPr>
              <a:t>the parameter furthest from design gives it a name</a:t>
            </a:r>
            <a:endParaRPr lang="en-US" sz="1050" dirty="0"/>
          </a:p>
        </p:txBody>
      </p:sp>
      <p:sp>
        <p:nvSpPr>
          <p:cNvPr id="14" name="Shape 12"/>
          <p:cNvSpPr/>
          <p:nvPr/>
        </p:nvSpPr>
        <p:spPr>
          <a:xfrm>
            <a:off x="6035040" y="1280160"/>
            <a:ext cx="2606040" cy="1371600"/>
          </a:xfrm>
          <a:prstGeom prst="roundRect">
            <a:avLst>
              <a:gd name="adj" fmla="val 4000"/>
            </a:avLst>
          </a:prstGeom>
          <a:solidFill>
            <a:srgbClr val="EDF5F5"/>
          </a:solidFill>
          <a:ln w="12700">
            <a:solidFill>
              <a:srgbClr val="EDF5F5"/>
            </a:solidFill>
            <a:prstDash val="solid"/>
          </a:ln>
        </p:spPr>
        <p:txBody>
          <a:bodyPr/>
          <a:lstStyle/>
          <a:p>
            <a:endParaRPr lang="sv-SE"/>
          </a:p>
        </p:txBody>
      </p:sp>
      <p:sp>
        <p:nvSpPr>
          <p:cNvPr id="15" name="Shape 13"/>
          <p:cNvSpPr/>
          <p:nvPr/>
        </p:nvSpPr>
        <p:spPr>
          <a:xfrm>
            <a:off x="7136892" y="1426464"/>
            <a:ext cx="402336" cy="402336"/>
          </a:xfrm>
          <a:prstGeom prst="ellipse">
            <a:avLst/>
          </a:prstGeom>
          <a:solidFill>
            <a:srgbClr val="E8604C"/>
          </a:solidFill>
          <a:ln w="12700">
            <a:solidFill>
              <a:srgbClr val="E8604C"/>
            </a:solidFill>
            <a:prstDash val="solid"/>
          </a:ln>
        </p:spPr>
        <p:txBody>
          <a:bodyPr/>
          <a:lstStyle/>
          <a:p>
            <a:endParaRPr lang="sv-SE"/>
          </a:p>
        </p:txBody>
      </p:sp>
      <p:sp>
        <p:nvSpPr>
          <p:cNvPr id="16" name="Text 14"/>
          <p:cNvSpPr txBox="1"/>
          <p:nvPr/>
        </p:nvSpPr>
        <p:spPr>
          <a:xfrm>
            <a:off x="7136892" y="142646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6172200" y="1901952"/>
            <a:ext cx="2331720" cy="292608"/>
          </a:xfrm>
          <a:prstGeom prst="rect">
            <a:avLst/>
          </a:prstGeom>
          <a:noFill/>
          <a:ln/>
        </p:spPr>
        <p:txBody>
          <a:bodyPr wrap="square" lIns="0" tIns="0" rIns="0" bIns="0" rtlCol="0" anchor="ctr"/>
          <a:lstStyle/>
          <a:p>
            <a:pPr marL="0" indent="0" algn="ctr">
              <a:buNone/>
            </a:pPr>
            <a:r>
              <a:rPr lang="en-US" sz="1350" b="1" dirty="0">
                <a:solidFill>
                  <a:srgbClr val="16262B"/>
                </a:solidFill>
                <a:latin typeface="Calibri" pitchFamily="34" charset="0"/>
                <a:ea typeface="Calibri" pitchFamily="34" charset="-122"/>
                <a:cs typeface="Calibri" pitchFamily="34" charset="-120"/>
              </a:rPr>
              <a:t>Predict the type</a:t>
            </a:r>
            <a:endParaRPr lang="en-US" sz="1350" dirty="0"/>
          </a:p>
        </p:txBody>
      </p:sp>
      <p:sp>
        <p:nvSpPr>
          <p:cNvPr id="18" name="Text 16"/>
          <p:cNvSpPr txBox="1"/>
          <p:nvPr/>
        </p:nvSpPr>
        <p:spPr>
          <a:xfrm>
            <a:off x="6199632" y="2212848"/>
            <a:ext cx="2286000" cy="384048"/>
          </a:xfrm>
          <a:prstGeom prst="rect">
            <a:avLst/>
          </a:prstGeom>
          <a:noFill/>
          <a:ln/>
        </p:spPr>
        <p:txBody>
          <a:bodyPr wrap="square" lIns="0" tIns="0" rIns="0" bIns="0" rtlCol="0" anchor="ctr"/>
          <a:lstStyle/>
          <a:p>
            <a:pPr marL="0" indent="0" algn="ctr">
              <a:buNone/>
            </a:pPr>
            <a:r>
              <a:rPr lang="en-US" sz="1050" dirty="0">
                <a:solidFill>
                  <a:srgbClr val="5F7178"/>
                </a:solidFill>
                <a:latin typeface="Calibri" pitchFamily="34" charset="0"/>
                <a:ea typeface="Calibri" pitchFamily="34" charset="-122"/>
                <a:cs typeface="Calibri" pitchFamily="34" charset="-120"/>
              </a:rPr>
              <a:t>using the vibration features only</a:t>
            </a:r>
            <a:endParaRPr lang="en-US" sz="1050" dirty="0"/>
          </a:p>
        </p:txBody>
      </p:sp>
      <p:sp>
        <p:nvSpPr>
          <p:cNvPr id="19" name="Text 17"/>
          <p:cNvSpPr txBox="1"/>
          <p:nvPr/>
        </p:nvSpPr>
        <p:spPr>
          <a:xfrm>
            <a:off x="457200" y="2880360"/>
            <a:ext cx="868680" cy="329184"/>
          </a:xfrm>
          <a:prstGeom prst="rect">
            <a:avLst/>
          </a:prstGeom>
          <a:noFill/>
          <a:ln/>
        </p:spPr>
        <p:txBody>
          <a:bodyPr wrap="square" lIns="0" tIns="0" rIns="0" bIns="0" rtlCol="0" anchor="ctr"/>
          <a:lstStyle/>
          <a:p>
            <a:pPr marL="0" indent="0">
              <a:buNone/>
            </a:pPr>
            <a:r>
              <a:rPr lang="en-US" sz="1000" b="1" kern="0" spc="150" dirty="0">
                <a:solidFill>
                  <a:srgbClr val="5F7178"/>
                </a:solidFill>
                <a:latin typeface="Calibri" pitchFamily="34" charset="0"/>
                <a:ea typeface="Calibri" pitchFamily="34" charset="-122"/>
                <a:cs typeface="Calibri" pitchFamily="34" charset="-120"/>
              </a:rPr>
              <a:t>TODAY</a:t>
            </a:r>
            <a:endParaRPr lang="en-US" sz="1000" dirty="0"/>
          </a:p>
        </p:txBody>
      </p:sp>
      <p:sp>
        <p:nvSpPr>
          <p:cNvPr id="20" name="Shape 18"/>
          <p:cNvSpPr/>
          <p:nvPr/>
        </p:nvSpPr>
        <p:spPr>
          <a:xfrm>
            <a:off x="1371600" y="288036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21" name="Shape 19"/>
          <p:cNvSpPr/>
          <p:nvPr/>
        </p:nvSpPr>
        <p:spPr>
          <a:xfrm>
            <a:off x="1508760" y="2980944"/>
            <a:ext cx="128016" cy="128016"/>
          </a:xfrm>
          <a:prstGeom prst="ellipse">
            <a:avLst/>
          </a:prstGeom>
          <a:solidFill>
            <a:srgbClr val="028090"/>
          </a:solidFill>
          <a:ln w="12700">
            <a:solidFill>
              <a:srgbClr val="333333"/>
            </a:solidFill>
            <a:prstDash val="solid"/>
          </a:ln>
        </p:spPr>
        <p:txBody>
          <a:bodyPr/>
          <a:lstStyle/>
          <a:p>
            <a:endParaRPr lang="sv-SE"/>
          </a:p>
        </p:txBody>
      </p:sp>
      <p:sp>
        <p:nvSpPr>
          <p:cNvPr id="22" name="Text 20"/>
          <p:cNvSpPr txBox="1"/>
          <p:nvPr/>
        </p:nvSpPr>
        <p:spPr>
          <a:xfrm>
            <a:off x="1719072" y="288036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p>
        </p:txBody>
      </p:sp>
      <p:sp>
        <p:nvSpPr>
          <p:cNvPr id="23" name="Shape 21"/>
          <p:cNvSpPr/>
          <p:nvPr/>
        </p:nvSpPr>
        <p:spPr>
          <a:xfrm>
            <a:off x="2898648" y="288036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24" name="Shape 22"/>
          <p:cNvSpPr/>
          <p:nvPr/>
        </p:nvSpPr>
        <p:spPr>
          <a:xfrm>
            <a:off x="3035808" y="2980944"/>
            <a:ext cx="128016" cy="128016"/>
          </a:xfrm>
          <a:prstGeom prst="ellipse">
            <a:avLst/>
          </a:prstGeom>
          <a:solidFill>
            <a:srgbClr val="E8604C"/>
          </a:solidFill>
          <a:ln w="12700">
            <a:solidFill>
              <a:srgbClr val="333333"/>
            </a:solidFill>
            <a:prstDash val="solid"/>
          </a:ln>
        </p:spPr>
        <p:txBody>
          <a:bodyPr/>
          <a:lstStyle/>
          <a:p>
            <a:endParaRPr lang="sv-SE"/>
          </a:p>
        </p:txBody>
      </p:sp>
      <p:sp>
        <p:nvSpPr>
          <p:cNvPr id="25" name="Text 23"/>
          <p:cNvSpPr txBox="1"/>
          <p:nvPr/>
        </p:nvSpPr>
        <p:spPr>
          <a:xfrm>
            <a:off x="3246120" y="288036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abnormal</a:t>
            </a:r>
            <a:endParaRPr lang="en-US" sz="1050" dirty="0"/>
          </a:p>
        </p:txBody>
      </p:sp>
      <p:sp>
        <p:nvSpPr>
          <p:cNvPr id="26" name="Text 24"/>
          <p:cNvSpPr txBox="1"/>
          <p:nvPr/>
        </p:nvSpPr>
        <p:spPr>
          <a:xfrm>
            <a:off x="457200" y="3383280"/>
            <a:ext cx="868680" cy="329184"/>
          </a:xfrm>
          <a:prstGeom prst="rect">
            <a:avLst/>
          </a:prstGeom>
          <a:noFill/>
          <a:ln/>
        </p:spPr>
        <p:txBody>
          <a:bodyPr wrap="square" lIns="0" tIns="0" rIns="0" bIns="0" rtlCol="0" anchor="ctr"/>
          <a:lstStyle/>
          <a:p>
            <a:pPr marL="0" indent="0">
              <a:buNone/>
            </a:pPr>
            <a:r>
              <a:rPr lang="en-US" sz="1000" b="1" kern="0" spc="150" dirty="0">
                <a:solidFill>
                  <a:srgbClr val="028090"/>
                </a:solidFill>
                <a:latin typeface="Calibri" pitchFamily="34" charset="0"/>
                <a:ea typeface="Calibri" pitchFamily="34" charset="-122"/>
                <a:cs typeface="Calibri" pitchFamily="34" charset="-120"/>
              </a:rPr>
              <a:t>GOAL</a:t>
            </a:r>
            <a:endParaRPr lang="en-US" sz="1000" dirty="0"/>
          </a:p>
        </p:txBody>
      </p:sp>
      <p:sp>
        <p:nvSpPr>
          <p:cNvPr id="27" name="Shape 25"/>
          <p:cNvSpPr/>
          <p:nvPr/>
        </p:nvSpPr>
        <p:spPr>
          <a:xfrm>
            <a:off x="1371600" y="338328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28" name="Shape 26"/>
          <p:cNvSpPr/>
          <p:nvPr/>
        </p:nvSpPr>
        <p:spPr>
          <a:xfrm>
            <a:off x="1508760" y="3483864"/>
            <a:ext cx="128016" cy="128016"/>
          </a:xfrm>
          <a:prstGeom prst="ellipse">
            <a:avLst/>
          </a:prstGeom>
          <a:solidFill>
            <a:srgbClr val="028090"/>
          </a:solidFill>
          <a:ln w="12700">
            <a:solidFill>
              <a:srgbClr val="333333"/>
            </a:solidFill>
            <a:prstDash val="solid"/>
          </a:ln>
        </p:spPr>
        <p:txBody>
          <a:bodyPr/>
          <a:lstStyle/>
          <a:p>
            <a:endParaRPr lang="sv-SE"/>
          </a:p>
        </p:txBody>
      </p:sp>
      <p:sp>
        <p:nvSpPr>
          <p:cNvPr id="29" name="Text 27"/>
          <p:cNvSpPr txBox="1"/>
          <p:nvPr/>
        </p:nvSpPr>
        <p:spPr>
          <a:xfrm>
            <a:off x="1719072" y="338328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p>
        </p:txBody>
      </p:sp>
      <p:sp>
        <p:nvSpPr>
          <p:cNvPr id="30" name="Shape 28"/>
          <p:cNvSpPr/>
          <p:nvPr/>
        </p:nvSpPr>
        <p:spPr>
          <a:xfrm>
            <a:off x="2898648" y="338328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31" name="Shape 29"/>
          <p:cNvSpPr/>
          <p:nvPr/>
        </p:nvSpPr>
        <p:spPr>
          <a:xfrm>
            <a:off x="3035808" y="3483864"/>
            <a:ext cx="128016" cy="128016"/>
          </a:xfrm>
          <a:prstGeom prst="ellipse">
            <a:avLst/>
          </a:prstGeom>
          <a:solidFill>
            <a:srgbClr val="0095AD"/>
          </a:solidFill>
          <a:ln w="12700">
            <a:solidFill>
              <a:srgbClr val="333333"/>
            </a:solidFill>
            <a:prstDash val="solid"/>
          </a:ln>
        </p:spPr>
        <p:txBody>
          <a:bodyPr/>
          <a:lstStyle/>
          <a:p>
            <a:endParaRPr lang="sv-SE"/>
          </a:p>
        </p:txBody>
      </p:sp>
      <p:sp>
        <p:nvSpPr>
          <p:cNvPr id="32" name="Text 30"/>
          <p:cNvSpPr txBox="1"/>
          <p:nvPr/>
        </p:nvSpPr>
        <p:spPr>
          <a:xfrm>
            <a:off x="3246120" y="338328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gauge fault</a:t>
            </a:r>
            <a:endParaRPr lang="en-US" sz="1050" dirty="0"/>
          </a:p>
        </p:txBody>
      </p:sp>
      <p:sp>
        <p:nvSpPr>
          <p:cNvPr id="33" name="Shape 31"/>
          <p:cNvSpPr/>
          <p:nvPr/>
        </p:nvSpPr>
        <p:spPr>
          <a:xfrm>
            <a:off x="4425696" y="338328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34" name="Shape 32"/>
          <p:cNvSpPr/>
          <p:nvPr/>
        </p:nvSpPr>
        <p:spPr>
          <a:xfrm>
            <a:off x="4562856" y="3483864"/>
            <a:ext cx="128016" cy="128016"/>
          </a:xfrm>
          <a:prstGeom prst="ellipse">
            <a:avLst/>
          </a:prstGeom>
          <a:solidFill>
            <a:srgbClr val="E8604C"/>
          </a:solidFill>
          <a:ln w="12700">
            <a:solidFill>
              <a:srgbClr val="333333"/>
            </a:solidFill>
            <a:prstDash val="solid"/>
          </a:ln>
        </p:spPr>
        <p:txBody>
          <a:bodyPr/>
          <a:lstStyle/>
          <a:p>
            <a:endParaRPr lang="sv-SE"/>
          </a:p>
        </p:txBody>
      </p:sp>
      <p:sp>
        <p:nvSpPr>
          <p:cNvPr id="35" name="Text 33"/>
          <p:cNvSpPr txBox="1"/>
          <p:nvPr/>
        </p:nvSpPr>
        <p:spPr>
          <a:xfrm>
            <a:off x="4773168" y="338328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twist fault</a:t>
            </a:r>
            <a:endParaRPr lang="en-US" sz="1050" dirty="0"/>
          </a:p>
        </p:txBody>
      </p:sp>
      <p:sp>
        <p:nvSpPr>
          <p:cNvPr id="36" name="Shape 34"/>
          <p:cNvSpPr/>
          <p:nvPr/>
        </p:nvSpPr>
        <p:spPr>
          <a:xfrm>
            <a:off x="5952744" y="338328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37" name="Shape 35"/>
          <p:cNvSpPr/>
          <p:nvPr/>
        </p:nvSpPr>
        <p:spPr>
          <a:xfrm>
            <a:off x="6089904" y="3483864"/>
            <a:ext cx="128016" cy="128016"/>
          </a:xfrm>
          <a:prstGeom prst="ellipse">
            <a:avLst/>
          </a:prstGeom>
          <a:solidFill>
            <a:srgbClr val="4A3AA7"/>
          </a:solidFill>
          <a:ln w="12700">
            <a:solidFill>
              <a:srgbClr val="333333"/>
            </a:solidFill>
            <a:prstDash val="solid"/>
          </a:ln>
        </p:spPr>
        <p:txBody>
          <a:bodyPr/>
          <a:lstStyle/>
          <a:p>
            <a:endParaRPr lang="sv-SE"/>
          </a:p>
        </p:txBody>
      </p:sp>
      <p:sp>
        <p:nvSpPr>
          <p:cNvPr id="38" name="Text 36"/>
          <p:cNvSpPr txBox="1"/>
          <p:nvPr/>
        </p:nvSpPr>
        <p:spPr>
          <a:xfrm>
            <a:off x="6300216" y="338328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surface fault</a:t>
            </a:r>
            <a:endParaRPr lang="en-US" sz="1050" dirty="0"/>
          </a:p>
        </p:txBody>
      </p:sp>
      <p:sp>
        <p:nvSpPr>
          <p:cNvPr id="39" name="Text 37"/>
          <p:cNvSpPr txBox="1"/>
          <p:nvPr/>
        </p:nvSpPr>
        <p:spPr>
          <a:xfrm>
            <a:off x="457200" y="4069080"/>
            <a:ext cx="8229600" cy="310896"/>
          </a:xfrm>
          <a:prstGeom prst="rect">
            <a:avLst/>
          </a:prstGeom>
          <a:noFill/>
          <a:ln/>
        </p:spPr>
        <p:txBody>
          <a:bodyPr wrap="square" lIns="0" tIns="0" rIns="0" bIns="0" rtlCol="0" anchor="ctr"/>
          <a:lstStyle/>
          <a:p>
            <a:pPr marL="0" indent="0" algn="ctr">
              <a:buNone/>
            </a:pPr>
            <a:r>
              <a:rPr lang="en-US" sz="1300" b="1" i="1" dirty="0">
                <a:solidFill>
                  <a:srgbClr val="028090"/>
                </a:solidFill>
                <a:latin typeface="Cambria" pitchFamily="34" charset="0"/>
                <a:ea typeface="Cambria" pitchFamily="34" charset="-122"/>
                <a:cs typeface="Cambria" pitchFamily="34" charset="-120"/>
              </a:rPr>
              <a:t>Geometry defines what the fault types are. Vibration then tells them apart.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PROGRESS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Where the project stands</a:t>
            </a:r>
            <a:endParaRPr lang="en-US" sz="2700" dirty="0"/>
          </a:p>
        </p:txBody>
      </p:sp>
      <p:sp>
        <p:nvSpPr>
          <p:cNvPr id="4" name="Shape 2"/>
          <p:cNvSpPr/>
          <p:nvPr/>
        </p:nvSpPr>
        <p:spPr>
          <a:xfrm>
            <a:off x="457200" y="1143000"/>
            <a:ext cx="8229600" cy="868680"/>
          </a:xfrm>
          <a:prstGeom prst="roundRect">
            <a:avLst>
              <a:gd name="adj" fmla="val 6316"/>
            </a:avLst>
          </a:prstGeom>
          <a:solidFill>
            <a:srgbClr val="EDF5F5"/>
          </a:solidFill>
          <a:ln w="12700">
            <a:solidFill>
              <a:srgbClr val="EDF5F5"/>
            </a:solidFill>
            <a:prstDash val="solid"/>
          </a:ln>
        </p:spPr>
        <p:txBody>
          <a:bodyPr/>
          <a:lstStyle/>
          <a:p>
            <a:endParaRPr lang="sv-SE"/>
          </a:p>
        </p:txBody>
      </p:sp>
      <p:sp>
        <p:nvSpPr>
          <p:cNvPr id="5" name="Text 3"/>
          <p:cNvSpPr txBox="1"/>
          <p:nvPr/>
        </p:nvSpPr>
        <p:spPr>
          <a:xfrm>
            <a:off x="713232" y="1243584"/>
            <a:ext cx="3657600" cy="219456"/>
          </a:xfrm>
          <a:prstGeom prst="rect">
            <a:avLst/>
          </a:prstGeom>
          <a:noFill/>
          <a:ln/>
        </p:spPr>
        <p:txBody>
          <a:bodyPr wrap="square" lIns="0" tIns="0" rIns="0" bIns="0" rtlCol="0" anchor="ctr"/>
          <a:lstStyle/>
          <a:p>
            <a:pPr marL="0" indent="0">
              <a:buNone/>
            </a:pPr>
            <a:r>
              <a:rPr lang="en-US" sz="1000" b="1" kern="0" spc="150" dirty="0">
                <a:solidFill>
                  <a:srgbClr val="028090"/>
                </a:solidFill>
                <a:latin typeface="Calibri" pitchFamily="34" charset="0"/>
                <a:ea typeface="Calibri" pitchFamily="34" charset="-122"/>
                <a:cs typeface="Calibri" pitchFamily="34" charset="-120"/>
              </a:rPr>
              <a:t>PHASE 1 GOAL</a:t>
            </a:r>
            <a:endParaRPr lang="en-US" sz="1000" dirty="0"/>
          </a:p>
        </p:txBody>
      </p:sp>
      <p:sp>
        <p:nvSpPr>
          <p:cNvPr id="6" name="Text 4"/>
          <p:cNvSpPr txBox="1"/>
          <p:nvPr/>
        </p:nvSpPr>
        <p:spPr>
          <a:xfrm>
            <a:off x="713232" y="1463040"/>
            <a:ext cx="7726680" cy="457200"/>
          </a:xfrm>
          <a:prstGeom prst="rect">
            <a:avLst/>
          </a:prstGeom>
          <a:noFill/>
          <a:ln/>
        </p:spPr>
        <p:txBody>
          <a:bodyPr wrap="square" lIns="0" tIns="0" rIns="0" bIns="0" rtlCol="0" anchor="ctr"/>
          <a:lstStyle/>
          <a:p>
            <a:pPr marL="0" indent="0">
              <a:buNone/>
            </a:pPr>
            <a:r>
              <a:rPr lang="en-US" sz="1250" dirty="0">
                <a:solidFill>
                  <a:srgbClr val="16262B"/>
                </a:solidFill>
                <a:latin typeface="Calibri" pitchFamily="34" charset="0"/>
                <a:ea typeface="Calibri" pitchFamily="34" charset="-122"/>
                <a:cs typeface="Calibri" pitchFamily="34" charset="-120"/>
              </a:rPr>
              <a:t>Understand what the common track geometry faults are, agree the scope with Amit, and have the tools and a test point cloud ready so the work can start as soon as the LTU data arrives.</a:t>
            </a:r>
            <a:endParaRPr lang="en-US" sz="1250" dirty="0"/>
          </a:p>
        </p:txBody>
      </p:sp>
      <p:sp>
        <p:nvSpPr>
          <p:cNvPr id="7" name="Shape 5"/>
          <p:cNvSpPr/>
          <p:nvPr/>
        </p:nvSpPr>
        <p:spPr>
          <a:xfrm>
            <a:off x="402336" y="2322576"/>
            <a:ext cx="8339328" cy="1929384"/>
          </a:xfrm>
          <a:prstGeom prst="rect">
            <a:avLst/>
          </a:prstGeom>
          <a:solidFill>
            <a:srgbClr val="FFFFFF"/>
          </a:solidFill>
          <a:ln w="9525">
            <a:solidFill>
              <a:srgbClr val="CBDBDD"/>
            </a:solidFill>
            <a:prstDash val="solid"/>
          </a:ln>
        </p:spPr>
        <p:txBody>
          <a:bodyPr/>
          <a:lstStyle/>
          <a:p>
            <a:endParaRPr lang="sv-SE"/>
          </a:p>
        </p:txBody>
      </p:sp>
      <p:pic>
        <p:nvPicPr>
          <p:cNvPr id="8" name="Image 0" descr="/home/claude/timeplan.png"/>
          <p:cNvPicPr>
            <a:picLocks noChangeAspect="1"/>
          </p:cNvPicPr>
          <p:nvPr/>
        </p:nvPicPr>
        <p:blipFill>
          <a:blip r:embed="rId3"/>
          <a:stretch>
            <a:fillRect/>
          </a:stretch>
        </p:blipFill>
        <p:spPr>
          <a:xfrm>
            <a:off x="457200" y="2377440"/>
            <a:ext cx="8229600" cy="181965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1463040" y="3108960"/>
            <a:ext cx="3291840" cy="3291840"/>
          </a:xfrm>
          <a:prstGeom prst="ellipse">
            <a:avLst/>
          </a:prstGeom>
          <a:solidFill>
            <a:srgbClr val="028090">
              <a:alpha val="18000"/>
            </a:srgbClr>
          </a:solidFill>
          <a:ln w="12700">
            <a:solidFill>
              <a:srgbClr val="333333"/>
            </a:solidFill>
            <a:prstDash val="solid"/>
          </a:ln>
        </p:spPr>
        <p:txBody>
          <a:bodyPr/>
          <a:lstStyle/>
          <a:p>
            <a:endParaRPr lang="sv-SE"/>
          </a:p>
        </p:txBody>
      </p:sp>
      <p:sp>
        <p:nvSpPr>
          <p:cNvPr id="3" name="Shape 1"/>
          <p:cNvSpPr/>
          <p:nvPr/>
        </p:nvSpPr>
        <p:spPr>
          <a:xfrm>
            <a:off x="7315200" y="-1188720"/>
            <a:ext cx="3108960" cy="3108960"/>
          </a:xfrm>
          <a:prstGeom prst="ellipse">
            <a:avLst/>
          </a:prstGeom>
          <a:solidFill>
            <a:srgbClr val="00A896">
              <a:alpha val="14000"/>
            </a:srgbClr>
          </a:solidFill>
          <a:ln w="12700">
            <a:solidFill>
              <a:srgbClr val="333333"/>
            </a:solidFill>
            <a:prstDash val="solid"/>
          </a:ln>
        </p:spPr>
        <p:txBody>
          <a:bodyPr/>
          <a:lstStyle/>
          <a:p>
            <a:endParaRPr lang="sv-SE"/>
          </a:p>
        </p:txBody>
      </p:sp>
      <p:sp>
        <p:nvSpPr>
          <p:cNvPr id="4" name="Text 2"/>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0A896"/>
                </a:solidFill>
                <a:latin typeface="Calibri" pitchFamily="34" charset="0"/>
                <a:ea typeface="Calibri" pitchFamily="34" charset="-122"/>
                <a:cs typeface="Calibri" pitchFamily="34" charset="-120"/>
              </a:rPr>
              <a:t>DISCUSSION</a:t>
            </a:r>
            <a:endParaRPr lang="en-US" sz="1100" dirty="0"/>
          </a:p>
        </p:txBody>
      </p:sp>
      <p:sp>
        <p:nvSpPr>
          <p:cNvPr id="5" name="Text 3"/>
          <p:cNvSpPr txBox="1"/>
          <p:nvPr/>
        </p:nvSpPr>
        <p:spPr>
          <a:xfrm>
            <a:off x="457200" y="1828800"/>
            <a:ext cx="8229600" cy="1005840"/>
          </a:xfrm>
          <a:prstGeom prst="rect">
            <a:avLst/>
          </a:prstGeom>
          <a:noFill/>
          <a:ln/>
        </p:spPr>
        <p:txBody>
          <a:bodyPr wrap="square" lIns="0" tIns="0" rIns="0" bIns="0" rtlCol="0" anchor="ctr"/>
          <a:lstStyle/>
          <a:p>
            <a:pPr marL="0" indent="0" algn="ctr">
              <a:buNone/>
            </a:pPr>
            <a:r>
              <a:rPr lang="en-US" sz="5200" b="1" dirty="0">
                <a:solidFill>
                  <a:srgbClr val="FFFFFF"/>
                </a:solidFill>
                <a:latin typeface="Cambria" pitchFamily="34" charset="0"/>
                <a:ea typeface="Cambria" pitchFamily="34" charset="-122"/>
                <a:cs typeface="Cambria" pitchFamily="34" charset="-120"/>
              </a:rPr>
              <a:t>Questions?</a:t>
            </a:r>
            <a:endParaRPr lang="en-US" sz="5200" dirty="0"/>
          </a:p>
        </p:txBody>
      </p:sp>
      <p:sp>
        <p:nvSpPr>
          <p:cNvPr id="6" name="Text 4"/>
          <p:cNvSpPr txBox="1"/>
          <p:nvPr/>
        </p:nvSpPr>
        <p:spPr>
          <a:xfrm>
            <a:off x="457200" y="2926080"/>
            <a:ext cx="8229600" cy="320040"/>
          </a:xfrm>
          <a:prstGeom prst="rect">
            <a:avLst/>
          </a:prstGeom>
          <a:noFill/>
          <a:ln/>
        </p:spPr>
        <p:txBody>
          <a:bodyPr wrap="square" lIns="0" tIns="0" rIns="0" bIns="0" rtlCol="0" anchor="ctr"/>
          <a:lstStyle/>
          <a:p>
            <a:pPr marL="0" indent="0" algn="ctr">
              <a:buNone/>
            </a:pPr>
            <a:r>
              <a:rPr lang="en-US" sz="1350" dirty="0">
                <a:solidFill>
                  <a:srgbClr val="00A896"/>
                </a:solidFill>
                <a:latin typeface="Calibri" pitchFamily="34" charset="0"/>
                <a:ea typeface="Calibri" pitchFamily="34" charset="-122"/>
                <a:cs typeface="Calibri" pitchFamily="34" charset="-120"/>
              </a:rPr>
              <a:t>Viktor Lindberg  ·  viklio-3@student.ltu.se</a:t>
            </a:r>
            <a:endParaRPr lang="en-US" sz="1350" dirty="0"/>
          </a:p>
        </p:txBody>
      </p:sp>
      <p:sp>
        <p:nvSpPr>
          <p:cNvPr id="7" name="Text 5"/>
          <p:cNvSpPr txBox="1"/>
          <p:nvPr/>
        </p:nvSpPr>
        <p:spPr>
          <a:xfrm>
            <a:off x="457200" y="4206240"/>
            <a:ext cx="8229600" cy="365760"/>
          </a:xfrm>
          <a:prstGeom prst="rect">
            <a:avLst/>
          </a:prstGeom>
          <a:noFill/>
          <a:ln/>
        </p:spPr>
        <p:txBody>
          <a:bodyPr wrap="square" lIns="0" tIns="0" rIns="0" bIns="0" rtlCol="0" anchor="ctr"/>
          <a:lstStyle/>
          <a:p>
            <a:pPr marL="0" indent="0" algn="ctr">
              <a:buNone/>
            </a:pPr>
            <a:r>
              <a:rPr lang="en-US" sz="1800" i="1" dirty="0">
                <a:solidFill>
                  <a:srgbClr val="C7D8DB"/>
                </a:solidFill>
                <a:latin typeface="Cambria" pitchFamily="34" charset="0"/>
                <a:ea typeface="Cambria" pitchFamily="34" charset="-122"/>
                <a:cs typeface="Cambria" pitchFamily="34" charset="-120"/>
              </a:rPr>
              <a:t>Thank you</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THE GOAL</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From one abnormal class to named fault types</a:t>
            </a:r>
            <a:endParaRPr lang="en-US" sz="2700" dirty="0"/>
          </a:p>
        </p:txBody>
      </p:sp>
      <p:sp>
        <p:nvSpPr>
          <p:cNvPr id="4" name="Text 2"/>
          <p:cNvSpPr txBox="1"/>
          <p:nvPr/>
        </p:nvSpPr>
        <p:spPr>
          <a:xfrm>
            <a:off x="457200" y="1133856"/>
            <a:ext cx="868680" cy="329184"/>
          </a:xfrm>
          <a:prstGeom prst="rect">
            <a:avLst/>
          </a:prstGeom>
          <a:noFill/>
          <a:ln/>
        </p:spPr>
        <p:txBody>
          <a:bodyPr wrap="square" lIns="0" tIns="0" rIns="0" bIns="0" rtlCol="0" anchor="ctr"/>
          <a:lstStyle/>
          <a:p>
            <a:pPr marL="0" indent="0">
              <a:buNone/>
            </a:pPr>
            <a:r>
              <a:rPr lang="en-US" sz="1000" b="1" kern="0" spc="150" dirty="0">
                <a:solidFill>
                  <a:srgbClr val="5F7178"/>
                </a:solidFill>
                <a:latin typeface="Calibri" pitchFamily="34" charset="0"/>
                <a:ea typeface="Calibri" pitchFamily="34" charset="-122"/>
                <a:cs typeface="Calibri" pitchFamily="34" charset="-120"/>
              </a:rPr>
              <a:t>TODAY</a:t>
            </a:r>
            <a:endParaRPr lang="en-US" sz="1000" dirty="0"/>
          </a:p>
        </p:txBody>
      </p:sp>
      <p:sp>
        <p:nvSpPr>
          <p:cNvPr id="5" name="Shape 3"/>
          <p:cNvSpPr/>
          <p:nvPr/>
        </p:nvSpPr>
        <p:spPr>
          <a:xfrm>
            <a:off x="1371600" y="11338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6" name="Shape 4"/>
          <p:cNvSpPr/>
          <p:nvPr/>
        </p:nvSpPr>
        <p:spPr>
          <a:xfrm>
            <a:off x="1508760" y="1234440"/>
            <a:ext cx="128016" cy="128016"/>
          </a:xfrm>
          <a:prstGeom prst="ellipse">
            <a:avLst/>
          </a:prstGeom>
          <a:solidFill>
            <a:srgbClr val="028090"/>
          </a:solidFill>
          <a:ln w="12700">
            <a:solidFill>
              <a:srgbClr val="333333"/>
            </a:solidFill>
            <a:prstDash val="solid"/>
          </a:ln>
        </p:spPr>
        <p:txBody>
          <a:bodyPr/>
          <a:lstStyle/>
          <a:p>
            <a:endParaRPr lang="sv-SE"/>
          </a:p>
        </p:txBody>
      </p:sp>
      <p:sp>
        <p:nvSpPr>
          <p:cNvPr id="7" name="Text 5"/>
          <p:cNvSpPr txBox="1"/>
          <p:nvPr/>
        </p:nvSpPr>
        <p:spPr>
          <a:xfrm>
            <a:off x="1719072" y="11338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p>
        </p:txBody>
      </p:sp>
      <p:sp>
        <p:nvSpPr>
          <p:cNvPr id="8" name="Shape 6"/>
          <p:cNvSpPr/>
          <p:nvPr/>
        </p:nvSpPr>
        <p:spPr>
          <a:xfrm>
            <a:off x="2898648" y="11338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9" name="Shape 7"/>
          <p:cNvSpPr/>
          <p:nvPr/>
        </p:nvSpPr>
        <p:spPr>
          <a:xfrm>
            <a:off x="3035808" y="1234440"/>
            <a:ext cx="128016" cy="128016"/>
          </a:xfrm>
          <a:prstGeom prst="ellipse">
            <a:avLst/>
          </a:prstGeom>
          <a:solidFill>
            <a:srgbClr val="E8604C"/>
          </a:solidFill>
          <a:ln w="12700">
            <a:solidFill>
              <a:srgbClr val="333333"/>
            </a:solidFill>
            <a:prstDash val="solid"/>
          </a:ln>
        </p:spPr>
        <p:txBody>
          <a:bodyPr/>
          <a:lstStyle/>
          <a:p>
            <a:endParaRPr lang="sv-SE"/>
          </a:p>
        </p:txBody>
      </p:sp>
      <p:sp>
        <p:nvSpPr>
          <p:cNvPr id="10" name="Text 8"/>
          <p:cNvSpPr txBox="1"/>
          <p:nvPr/>
        </p:nvSpPr>
        <p:spPr>
          <a:xfrm>
            <a:off x="3246120" y="11338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abnormal</a:t>
            </a:r>
            <a:endParaRPr lang="en-US" sz="1050" dirty="0"/>
          </a:p>
        </p:txBody>
      </p:sp>
      <p:sp>
        <p:nvSpPr>
          <p:cNvPr id="11" name="Text 9"/>
          <p:cNvSpPr txBox="1"/>
          <p:nvPr/>
        </p:nvSpPr>
        <p:spPr>
          <a:xfrm>
            <a:off x="457200" y="1591056"/>
            <a:ext cx="868680" cy="329184"/>
          </a:xfrm>
          <a:prstGeom prst="rect">
            <a:avLst/>
          </a:prstGeom>
          <a:noFill/>
          <a:ln/>
        </p:spPr>
        <p:txBody>
          <a:bodyPr wrap="square" lIns="0" tIns="0" rIns="0" bIns="0" rtlCol="0" anchor="ctr"/>
          <a:lstStyle/>
          <a:p>
            <a:pPr marL="0" indent="0">
              <a:buNone/>
            </a:pPr>
            <a:r>
              <a:rPr lang="en-US" sz="1000" b="1" kern="0" spc="150" dirty="0">
                <a:solidFill>
                  <a:srgbClr val="028090"/>
                </a:solidFill>
                <a:latin typeface="Calibri" pitchFamily="34" charset="0"/>
                <a:ea typeface="Calibri" pitchFamily="34" charset="-122"/>
                <a:cs typeface="Calibri" pitchFamily="34" charset="-120"/>
              </a:rPr>
              <a:t>GOAL</a:t>
            </a:r>
            <a:endParaRPr lang="en-US" sz="1000" dirty="0"/>
          </a:p>
        </p:txBody>
      </p:sp>
      <p:sp>
        <p:nvSpPr>
          <p:cNvPr id="12" name="Shape 10"/>
          <p:cNvSpPr/>
          <p:nvPr/>
        </p:nvSpPr>
        <p:spPr>
          <a:xfrm>
            <a:off x="1371600" y="15910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13" name="Shape 11"/>
          <p:cNvSpPr/>
          <p:nvPr/>
        </p:nvSpPr>
        <p:spPr>
          <a:xfrm>
            <a:off x="1508760" y="1691640"/>
            <a:ext cx="128016" cy="128016"/>
          </a:xfrm>
          <a:prstGeom prst="ellipse">
            <a:avLst/>
          </a:prstGeom>
          <a:solidFill>
            <a:srgbClr val="028090"/>
          </a:solidFill>
          <a:ln w="12700">
            <a:solidFill>
              <a:srgbClr val="333333"/>
            </a:solidFill>
            <a:prstDash val="solid"/>
          </a:ln>
        </p:spPr>
        <p:txBody>
          <a:bodyPr/>
          <a:lstStyle/>
          <a:p>
            <a:endParaRPr lang="sv-SE"/>
          </a:p>
        </p:txBody>
      </p:sp>
      <p:sp>
        <p:nvSpPr>
          <p:cNvPr id="14" name="Text 12"/>
          <p:cNvSpPr txBox="1"/>
          <p:nvPr/>
        </p:nvSpPr>
        <p:spPr>
          <a:xfrm>
            <a:off x="1719072" y="15910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p>
        </p:txBody>
      </p:sp>
      <p:sp>
        <p:nvSpPr>
          <p:cNvPr id="15" name="Shape 13"/>
          <p:cNvSpPr/>
          <p:nvPr/>
        </p:nvSpPr>
        <p:spPr>
          <a:xfrm>
            <a:off x="2898648" y="15910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16" name="Shape 14"/>
          <p:cNvSpPr/>
          <p:nvPr/>
        </p:nvSpPr>
        <p:spPr>
          <a:xfrm>
            <a:off x="3035808" y="1691640"/>
            <a:ext cx="128016" cy="128016"/>
          </a:xfrm>
          <a:prstGeom prst="ellipse">
            <a:avLst/>
          </a:prstGeom>
          <a:solidFill>
            <a:srgbClr val="0095AD"/>
          </a:solidFill>
          <a:ln w="12700">
            <a:solidFill>
              <a:srgbClr val="333333"/>
            </a:solidFill>
            <a:prstDash val="solid"/>
          </a:ln>
        </p:spPr>
        <p:txBody>
          <a:bodyPr/>
          <a:lstStyle/>
          <a:p>
            <a:endParaRPr lang="sv-SE"/>
          </a:p>
        </p:txBody>
      </p:sp>
      <p:sp>
        <p:nvSpPr>
          <p:cNvPr id="17" name="Text 15"/>
          <p:cNvSpPr txBox="1"/>
          <p:nvPr/>
        </p:nvSpPr>
        <p:spPr>
          <a:xfrm>
            <a:off x="3246120" y="15910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gauge fault</a:t>
            </a:r>
            <a:endParaRPr lang="en-US" sz="1050" dirty="0"/>
          </a:p>
        </p:txBody>
      </p:sp>
      <p:sp>
        <p:nvSpPr>
          <p:cNvPr id="18" name="Shape 16"/>
          <p:cNvSpPr/>
          <p:nvPr/>
        </p:nvSpPr>
        <p:spPr>
          <a:xfrm>
            <a:off x="4425696" y="15910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19" name="Shape 17"/>
          <p:cNvSpPr/>
          <p:nvPr/>
        </p:nvSpPr>
        <p:spPr>
          <a:xfrm>
            <a:off x="4562856" y="1691640"/>
            <a:ext cx="128016" cy="128016"/>
          </a:xfrm>
          <a:prstGeom prst="ellipse">
            <a:avLst/>
          </a:prstGeom>
          <a:solidFill>
            <a:srgbClr val="E8604C"/>
          </a:solidFill>
          <a:ln w="12700">
            <a:solidFill>
              <a:srgbClr val="333333"/>
            </a:solidFill>
            <a:prstDash val="solid"/>
          </a:ln>
        </p:spPr>
        <p:txBody>
          <a:bodyPr/>
          <a:lstStyle/>
          <a:p>
            <a:endParaRPr lang="sv-SE"/>
          </a:p>
        </p:txBody>
      </p:sp>
      <p:sp>
        <p:nvSpPr>
          <p:cNvPr id="20" name="Text 18"/>
          <p:cNvSpPr txBox="1"/>
          <p:nvPr/>
        </p:nvSpPr>
        <p:spPr>
          <a:xfrm>
            <a:off x="4773168" y="15910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twist fault</a:t>
            </a:r>
            <a:endParaRPr lang="en-US" sz="1050" dirty="0"/>
          </a:p>
        </p:txBody>
      </p:sp>
      <p:sp>
        <p:nvSpPr>
          <p:cNvPr id="21" name="Shape 19"/>
          <p:cNvSpPr/>
          <p:nvPr/>
        </p:nvSpPr>
        <p:spPr>
          <a:xfrm>
            <a:off x="5952744" y="15910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22" name="Shape 20"/>
          <p:cNvSpPr/>
          <p:nvPr/>
        </p:nvSpPr>
        <p:spPr>
          <a:xfrm>
            <a:off x="6089904" y="1691640"/>
            <a:ext cx="128016" cy="128016"/>
          </a:xfrm>
          <a:prstGeom prst="ellipse">
            <a:avLst/>
          </a:prstGeom>
          <a:solidFill>
            <a:srgbClr val="4A3AA7"/>
          </a:solidFill>
          <a:ln w="12700">
            <a:solidFill>
              <a:srgbClr val="333333"/>
            </a:solidFill>
            <a:prstDash val="solid"/>
          </a:ln>
        </p:spPr>
        <p:txBody>
          <a:bodyPr/>
          <a:lstStyle/>
          <a:p>
            <a:endParaRPr lang="sv-SE"/>
          </a:p>
        </p:txBody>
      </p:sp>
      <p:sp>
        <p:nvSpPr>
          <p:cNvPr id="23" name="Text 21"/>
          <p:cNvSpPr txBox="1"/>
          <p:nvPr/>
        </p:nvSpPr>
        <p:spPr>
          <a:xfrm>
            <a:off x="6300216" y="15910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surface fault</a:t>
            </a:r>
            <a:endParaRPr lang="en-US" sz="1050" dirty="0"/>
          </a:p>
        </p:txBody>
      </p:sp>
      <p:sp>
        <p:nvSpPr>
          <p:cNvPr id="24" name="Text 22"/>
          <p:cNvSpPr txBox="1"/>
          <p:nvPr/>
        </p:nvSpPr>
        <p:spPr>
          <a:xfrm>
            <a:off x="457200" y="2029968"/>
            <a:ext cx="8229600" cy="274320"/>
          </a:xfrm>
          <a:prstGeom prst="rect">
            <a:avLst/>
          </a:prstGeom>
          <a:noFill/>
          <a:ln/>
        </p:spPr>
        <p:txBody>
          <a:bodyPr wrap="square" lIns="0" tIns="0" rIns="0" bIns="0" rtlCol="0" anchor="ctr"/>
          <a:lstStyle/>
          <a:p>
            <a:pPr marL="0" indent="0">
              <a:buNone/>
            </a:pPr>
            <a:r>
              <a:rPr lang="en-US" sz="1200" dirty="0">
                <a:solidFill>
                  <a:srgbClr val="16262B"/>
                </a:solidFill>
                <a:latin typeface="Calibri" pitchFamily="34" charset="0"/>
                <a:ea typeface="Calibri" pitchFamily="34" charset="-122"/>
                <a:cs typeface="Calibri" pitchFamily="34" charset="-120"/>
              </a:rPr>
              <a:t>The vibration model already separates normal from abnormal. Clustering those abnormal events on their geometry is what splits them further.</a:t>
            </a:r>
            <a:endParaRPr lang="en-US" sz="1200" dirty="0"/>
          </a:p>
        </p:txBody>
      </p:sp>
      <p:sp>
        <p:nvSpPr>
          <p:cNvPr id="25" name="Shape 23"/>
          <p:cNvSpPr/>
          <p:nvPr/>
        </p:nvSpPr>
        <p:spPr>
          <a:xfrm>
            <a:off x="457200" y="2359152"/>
            <a:ext cx="8229600" cy="1755648"/>
          </a:xfrm>
          <a:prstGeom prst="roundRect">
            <a:avLst>
              <a:gd name="adj" fmla="val 3125"/>
            </a:avLst>
          </a:prstGeom>
          <a:solidFill>
            <a:srgbClr val="EDF5F5"/>
          </a:solidFill>
          <a:ln w="12700">
            <a:solidFill>
              <a:srgbClr val="EDF5F5"/>
            </a:solidFill>
            <a:prstDash val="solid"/>
          </a:ln>
        </p:spPr>
        <p:txBody>
          <a:bodyPr/>
          <a:lstStyle/>
          <a:p>
            <a:endParaRPr lang="sv-SE"/>
          </a:p>
        </p:txBody>
      </p:sp>
      <p:sp>
        <p:nvSpPr>
          <p:cNvPr id="26" name="Shape 24"/>
          <p:cNvSpPr/>
          <p:nvPr/>
        </p:nvSpPr>
        <p:spPr>
          <a:xfrm>
            <a:off x="1051560" y="2505456"/>
            <a:ext cx="0" cy="1261872"/>
          </a:xfrm>
          <a:prstGeom prst="line">
            <a:avLst/>
          </a:prstGeom>
          <a:noFill/>
          <a:ln w="12700">
            <a:solidFill>
              <a:srgbClr val="C3D2D5"/>
            </a:solidFill>
            <a:prstDash val="solid"/>
          </a:ln>
        </p:spPr>
        <p:txBody>
          <a:bodyPr/>
          <a:lstStyle/>
          <a:p>
            <a:endParaRPr lang="sv-SE"/>
          </a:p>
        </p:txBody>
      </p:sp>
      <p:sp>
        <p:nvSpPr>
          <p:cNvPr id="27" name="Shape 25"/>
          <p:cNvSpPr/>
          <p:nvPr/>
        </p:nvSpPr>
        <p:spPr>
          <a:xfrm>
            <a:off x="1051560" y="3767328"/>
            <a:ext cx="7223760" cy="0"/>
          </a:xfrm>
          <a:prstGeom prst="line">
            <a:avLst/>
          </a:prstGeom>
          <a:noFill/>
          <a:ln w="12700">
            <a:solidFill>
              <a:srgbClr val="C3D2D5"/>
            </a:solidFill>
            <a:prstDash val="solid"/>
          </a:ln>
        </p:spPr>
        <p:txBody>
          <a:bodyPr/>
          <a:lstStyle/>
          <a:p>
            <a:endParaRPr lang="sv-SE"/>
          </a:p>
        </p:txBody>
      </p:sp>
      <p:sp>
        <p:nvSpPr>
          <p:cNvPr id="28" name="Shape 26"/>
          <p:cNvSpPr/>
          <p:nvPr/>
        </p:nvSpPr>
        <p:spPr>
          <a:xfrm>
            <a:off x="2245819" y="3370403"/>
            <a:ext cx="91440" cy="91440"/>
          </a:xfrm>
          <a:prstGeom prst="ellipse">
            <a:avLst/>
          </a:prstGeom>
          <a:solidFill>
            <a:srgbClr val="0095AD"/>
          </a:solidFill>
          <a:ln w="9525">
            <a:solidFill>
              <a:srgbClr val="FFFFFF"/>
            </a:solidFill>
            <a:prstDash val="solid"/>
          </a:ln>
        </p:spPr>
        <p:txBody>
          <a:bodyPr/>
          <a:lstStyle/>
          <a:p>
            <a:endParaRPr lang="sv-SE"/>
          </a:p>
        </p:txBody>
      </p:sp>
      <p:sp>
        <p:nvSpPr>
          <p:cNvPr id="29" name="Shape 27"/>
          <p:cNvSpPr/>
          <p:nvPr/>
        </p:nvSpPr>
        <p:spPr>
          <a:xfrm>
            <a:off x="2051809" y="3202188"/>
            <a:ext cx="91440" cy="91440"/>
          </a:xfrm>
          <a:prstGeom prst="ellipse">
            <a:avLst/>
          </a:prstGeom>
          <a:solidFill>
            <a:srgbClr val="0095AD"/>
          </a:solidFill>
          <a:ln w="9525">
            <a:solidFill>
              <a:srgbClr val="FFFFFF"/>
            </a:solidFill>
            <a:prstDash val="solid"/>
          </a:ln>
        </p:spPr>
        <p:txBody>
          <a:bodyPr/>
          <a:lstStyle/>
          <a:p>
            <a:endParaRPr lang="sv-SE"/>
          </a:p>
        </p:txBody>
      </p:sp>
      <p:sp>
        <p:nvSpPr>
          <p:cNvPr id="30" name="Shape 28"/>
          <p:cNvSpPr/>
          <p:nvPr/>
        </p:nvSpPr>
        <p:spPr>
          <a:xfrm>
            <a:off x="2179764" y="3296070"/>
            <a:ext cx="91440" cy="91440"/>
          </a:xfrm>
          <a:prstGeom prst="ellipse">
            <a:avLst/>
          </a:prstGeom>
          <a:solidFill>
            <a:srgbClr val="0095AD"/>
          </a:solidFill>
          <a:ln w="9525">
            <a:solidFill>
              <a:srgbClr val="FFFFFF"/>
            </a:solidFill>
            <a:prstDash val="solid"/>
          </a:ln>
        </p:spPr>
        <p:txBody>
          <a:bodyPr/>
          <a:lstStyle/>
          <a:p>
            <a:endParaRPr lang="sv-SE"/>
          </a:p>
        </p:txBody>
      </p:sp>
      <p:sp>
        <p:nvSpPr>
          <p:cNvPr id="31" name="Shape 29"/>
          <p:cNvSpPr/>
          <p:nvPr/>
        </p:nvSpPr>
        <p:spPr>
          <a:xfrm>
            <a:off x="2070173" y="3234495"/>
            <a:ext cx="91440" cy="91440"/>
          </a:xfrm>
          <a:prstGeom prst="ellipse">
            <a:avLst/>
          </a:prstGeom>
          <a:solidFill>
            <a:srgbClr val="0095AD"/>
          </a:solidFill>
          <a:ln w="9525">
            <a:solidFill>
              <a:srgbClr val="FFFFFF"/>
            </a:solidFill>
            <a:prstDash val="solid"/>
          </a:ln>
        </p:spPr>
        <p:txBody>
          <a:bodyPr/>
          <a:lstStyle/>
          <a:p>
            <a:endParaRPr lang="sv-SE"/>
          </a:p>
        </p:txBody>
      </p:sp>
      <p:sp>
        <p:nvSpPr>
          <p:cNvPr id="32" name="Shape 30"/>
          <p:cNvSpPr/>
          <p:nvPr/>
        </p:nvSpPr>
        <p:spPr>
          <a:xfrm>
            <a:off x="1968262" y="3115847"/>
            <a:ext cx="91440" cy="91440"/>
          </a:xfrm>
          <a:prstGeom prst="ellipse">
            <a:avLst/>
          </a:prstGeom>
          <a:solidFill>
            <a:srgbClr val="0095AD"/>
          </a:solidFill>
          <a:ln w="9525">
            <a:solidFill>
              <a:srgbClr val="FFFFFF"/>
            </a:solidFill>
            <a:prstDash val="solid"/>
          </a:ln>
        </p:spPr>
        <p:txBody>
          <a:bodyPr/>
          <a:lstStyle/>
          <a:p>
            <a:endParaRPr lang="sv-SE"/>
          </a:p>
        </p:txBody>
      </p:sp>
      <p:sp>
        <p:nvSpPr>
          <p:cNvPr id="33" name="Shape 31"/>
          <p:cNvSpPr/>
          <p:nvPr/>
        </p:nvSpPr>
        <p:spPr>
          <a:xfrm>
            <a:off x="1810365" y="3133411"/>
            <a:ext cx="91440" cy="91440"/>
          </a:xfrm>
          <a:prstGeom prst="ellipse">
            <a:avLst/>
          </a:prstGeom>
          <a:solidFill>
            <a:srgbClr val="0095AD"/>
          </a:solidFill>
          <a:ln w="9525">
            <a:solidFill>
              <a:srgbClr val="FFFFFF"/>
            </a:solidFill>
            <a:prstDash val="solid"/>
          </a:ln>
        </p:spPr>
        <p:txBody>
          <a:bodyPr/>
          <a:lstStyle/>
          <a:p>
            <a:endParaRPr lang="sv-SE"/>
          </a:p>
        </p:txBody>
      </p:sp>
      <p:sp>
        <p:nvSpPr>
          <p:cNvPr id="34" name="Shape 32"/>
          <p:cNvSpPr/>
          <p:nvPr/>
        </p:nvSpPr>
        <p:spPr>
          <a:xfrm>
            <a:off x="1652458" y="3272447"/>
            <a:ext cx="91440" cy="91440"/>
          </a:xfrm>
          <a:prstGeom prst="ellipse">
            <a:avLst/>
          </a:prstGeom>
          <a:solidFill>
            <a:srgbClr val="0095AD"/>
          </a:solidFill>
          <a:ln w="9525">
            <a:solidFill>
              <a:srgbClr val="FFFFFF"/>
            </a:solidFill>
            <a:prstDash val="solid"/>
          </a:ln>
        </p:spPr>
        <p:txBody>
          <a:bodyPr/>
          <a:lstStyle/>
          <a:p>
            <a:endParaRPr lang="sv-SE"/>
          </a:p>
        </p:txBody>
      </p:sp>
      <p:sp>
        <p:nvSpPr>
          <p:cNvPr id="35" name="Shape 33"/>
          <p:cNvSpPr/>
          <p:nvPr/>
        </p:nvSpPr>
        <p:spPr>
          <a:xfrm>
            <a:off x="2609993" y="3179461"/>
            <a:ext cx="91440" cy="91440"/>
          </a:xfrm>
          <a:prstGeom prst="ellipse">
            <a:avLst/>
          </a:prstGeom>
          <a:solidFill>
            <a:srgbClr val="0095AD"/>
          </a:solidFill>
          <a:ln w="9525">
            <a:solidFill>
              <a:srgbClr val="FFFFFF"/>
            </a:solidFill>
            <a:prstDash val="solid"/>
          </a:ln>
        </p:spPr>
        <p:txBody>
          <a:bodyPr/>
          <a:lstStyle/>
          <a:p>
            <a:endParaRPr lang="sv-SE"/>
          </a:p>
        </p:txBody>
      </p:sp>
      <p:sp>
        <p:nvSpPr>
          <p:cNvPr id="36" name="Shape 34"/>
          <p:cNvSpPr/>
          <p:nvPr/>
        </p:nvSpPr>
        <p:spPr>
          <a:xfrm>
            <a:off x="2618564" y="3085425"/>
            <a:ext cx="91440" cy="91440"/>
          </a:xfrm>
          <a:prstGeom prst="ellipse">
            <a:avLst/>
          </a:prstGeom>
          <a:solidFill>
            <a:srgbClr val="0095AD"/>
          </a:solidFill>
          <a:ln w="9525">
            <a:solidFill>
              <a:srgbClr val="FFFFFF"/>
            </a:solidFill>
            <a:prstDash val="solid"/>
          </a:ln>
        </p:spPr>
        <p:txBody>
          <a:bodyPr/>
          <a:lstStyle/>
          <a:p>
            <a:endParaRPr lang="sv-SE"/>
          </a:p>
        </p:txBody>
      </p:sp>
      <p:sp>
        <p:nvSpPr>
          <p:cNvPr id="37" name="Shape 35"/>
          <p:cNvSpPr/>
          <p:nvPr/>
        </p:nvSpPr>
        <p:spPr>
          <a:xfrm>
            <a:off x="2081931" y="3232063"/>
            <a:ext cx="91440" cy="91440"/>
          </a:xfrm>
          <a:prstGeom prst="ellipse">
            <a:avLst/>
          </a:prstGeom>
          <a:solidFill>
            <a:srgbClr val="0095AD"/>
          </a:solidFill>
          <a:ln w="9525">
            <a:solidFill>
              <a:srgbClr val="FFFFFF"/>
            </a:solidFill>
            <a:prstDash val="solid"/>
          </a:ln>
        </p:spPr>
        <p:txBody>
          <a:bodyPr/>
          <a:lstStyle/>
          <a:p>
            <a:endParaRPr lang="sv-SE"/>
          </a:p>
        </p:txBody>
      </p:sp>
      <p:sp>
        <p:nvSpPr>
          <p:cNvPr id="38" name="Shape 36"/>
          <p:cNvSpPr/>
          <p:nvPr/>
        </p:nvSpPr>
        <p:spPr>
          <a:xfrm>
            <a:off x="1788875" y="3295689"/>
            <a:ext cx="91440" cy="91440"/>
          </a:xfrm>
          <a:prstGeom prst="ellipse">
            <a:avLst/>
          </a:prstGeom>
          <a:solidFill>
            <a:srgbClr val="0095AD"/>
          </a:solidFill>
          <a:ln w="9525">
            <a:solidFill>
              <a:srgbClr val="FFFFFF"/>
            </a:solidFill>
            <a:prstDash val="solid"/>
          </a:ln>
        </p:spPr>
        <p:txBody>
          <a:bodyPr/>
          <a:lstStyle/>
          <a:p>
            <a:endParaRPr lang="sv-SE"/>
          </a:p>
        </p:txBody>
      </p:sp>
      <p:sp>
        <p:nvSpPr>
          <p:cNvPr id="39" name="Shape 37"/>
          <p:cNvSpPr/>
          <p:nvPr/>
        </p:nvSpPr>
        <p:spPr>
          <a:xfrm>
            <a:off x="2203380" y="3168289"/>
            <a:ext cx="91440" cy="91440"/>
          </a:xfrm>
          <a:prstGeom prst="ellipse">
            <a:avLst/>
          </a:prstGeom>
          <a:solidFill>
            <a:srgbClr val="0095AD"/>
          </a:solidFill>
          <a:ln w="9525">
            <a:solidFill>
              <a:srgbClr val="FFFFFF"/>
            </a:solidFill>
            <a:prstDash val="solid"/>
          </a:ln>
        </p:spPr>
        <p:txBody>
          <a:bodyPr/>
          <a:lstStyle/>
          <a:p>
            <a:endParaRPr lang="sv-SE"/>
          </a:p>
        </p:txBody>
      </p:sp>
      <p:sp>
        <p:nvSpPr>
          <p:cNvPr id="40" name="Shape 38"/>
          <p:cNvSpPr/>
          <p:nvPr/>
        </p:nvSpPr>
        <p:spPr>
          <a:xfrm>
            <a:off x="1802581" y="3175199"/>
            <a:ext cx="91440" cy="91440"/>
          </a:xfrm>
          <a:prstGeom prst="ellipse">
            <a:avLst/>
          </a:prstGeom>
          <a:solidFill>
            <a:srgbClr val="0095AD"/>
          </a:solidFill>
          <a:ln w="9525">
            <a:solidFill>
              <a:srgbClr val="FFFFFF"/>
            </a:solidFill>
            <a:prstDash val="solid"/>
          </a:ln>
        </p:spPr>
        <p:txBody>
          <a:bodyPr/>
          <a:lstStyle/>
          <a:p>
            <a:endParaRPr lang="sv-SE"/>
          </a:p>
        </p:txBody>
      </p:sp>
      <p:sp>
        <p:nvSpPr>
          <p:cNvPr id="41" name="Shape 39"/>
          <p:cNvSpPr/>
          <p:nvPr/>
        </p:nvSpPr>
        <p:spPr>
          <a:xfrm>
            <a:off x="2451357" y="3180966"/>
            <a:ext cx="91440" cy="91440"/>
          </a:xfrm>
          <a:prstGeom prst="ellipse">
            <a:avLst/>
          </a:prstGeom>
          <a:solidFill>
            <a:srgbClr val="0095AD"/>
          </a:solidFill>
          <a:ln w="9525">
            <a:solidFill>
              <a:srgbClr val="FFFFFF"/>
            </a:solidFill>
            <a:prstDash val="solid"/>
          </a:ln>
        </p:spPr>
        <p:txBody>
          <a:bodyPr/>
          <a:lstStyle/>
          <a:p>
            <a:endParaRPr lang="sv-SE"/>
          </a:p>
        </p:txBody>
      </p:sp>
      <p:sp>
        <p:nvSpPr>
          <p:cNvPr id="42" name="Text 40"/>
          <p:cNvSpPr txBox="1"/>
          <p:nvPr/>
        </p:nvSpPr>
        <p:spPr>
          <a:xfrm>
            <a:off x="1701698" y="2593787"/>
            <a:ext cx="1097280" cy="201168"/>
          </a:xfrm>
          <a:prstGeom prst="rect">
            <a:avLst/>
          </a:prstGeom>
          <a:noFill/>
          <a:ln/>
        </p:spPr>
        <p:txBody>
          <a:bodyPr wrap="square" lIns="0" tIns="0" rIns="0" bIns="0" rtlCol="0" anchor="ctr"/>
          <a:lstStyle/>
          <a:p>
            <a:pPr marL="0" indent="0">
              <a:buNone/>
            </a:pPr>
            <a:r>
              <a:rPr lang="en-US" sz="1000" b="1" dirty="0">
                <a:solidFill>
                  <a:srgbClr val="0095AD"/>
                </a:solidFill>
                <a:latin typeface="Calibri" pitchFamily="34" charset="0"/>
                <a:ea typeface="Calibri" pitchFamily="34" charset="-122"/>
                <a:cs typeface="Calibri" pitchFamily="34" charset="-120"/>
              </a:rPr>
              <a:t>gauge</a:t>
            </a:r>
            <a:endParaRPr lang="en-US" sz="1000" dirty="0"/>
          </a:p>
        </p:txBody>
      </p:sp>
      <p:sp>
        <p:nvSpPr>
          <p:cNvPr id="43" name="Shape 41"/>
          <p:cNvSpPr/>
          <p:nvPr/>
        </p:nvSpPr>
        <p:spPr>
          <a:xfrm>
            <a:off x="4583364" y="2927482"/>
            <a:ext cx="91440" cy="91440"/>
          </a:xfrm>
          <a:prstGeom prst="ellipse">
            <a:avLst/>
          </a:prstGeom>
          <a:solidFill>
            <a:srgbClr val="E8604C"/>
          </a:solidFill>
          <a:ln w="9525">
            <a:solidFill>
              <a:srgbClr val="FFFFFF"/>
            </a:solidFill>
            <a:prstDash val="solid"/>
          </a:ln>
        </p:spPr>
        <p:txBody>
          <a:bodyPr/>
          <a:lstStyle/>
          <a:p>
            <a:endParaRPr lang="sv-SE"/>
          </a:p>
        </p:txBody>
      </p:sp>
      <p:sp>
        <p:nvSpPr>
          <p:cNvPr id="44" name="Shape 42"/>
          <p:cNvSpPr/>
          <p:nvPr/>
        </p:nvSpPr>
        <p:spPr>
          <a:xfrm>
            <a:off x="4971703" y="2810327"/>
            <a:ext cx="91440" cy="91440"/>
          </a:xfrm>
          <a:prstGeom prst="ellipse">
            <a:avLst/>
          </a:prstGeom>
          <a:solidFill>
            <a:srgbClr val="E8604C"/>
          </a:solidFill>
          <a:ln w="9525">
            <a:solidFill>
              <a:srgbClr val="FFFFFF"/>
            </a:solidFill>
            <a:prstDash val="solid"/>
          </a:ln>
        </p:spPr>
        <p:txBody>
          <a:bodyPr/>
          <a:lstStyle/>
          <a:p>
            <a:endParaRPr lang="sv-SE"/>
          </a:p>
        </p:txBody>
      </p:sp>
      <p:sp>
        <p:nvSpPr>
          <p:cNvPr id="45" name="Shape 43"/>
          <p:cNvSpPr/>
          <p:nvPr/>
        </p:nvSpPr>
        <p:spPr>
          <a:xfrm>
            <a:off x="4199511" y="2985976"/>
            <a:ext cx="91440" cy="91440"/>
          </a:xfrm>
          <a:prstGeom prst="ellipse">
            <a:avLst/>
          </a:prstGeom>
          <a:solidFill>
            <a:srgbClr val="E8604C"/>
          </a:solidFill>
          <a:ln w="9525">
            <a:solidFill>
              <a:srgbClr val="FFFFFF"/>
            </a:solidFill>
            <a:prstDash val="solid"/>
          </a:ln>
        </p:spPr>
        <p:txBody>
          <a:bodyPr/>
          <a:lstStyle/>
          <a:p>
            <a:endParaRPr lang="sv-SE"/>
          </a:p>
        </p:txBody>
      </p:sp>
      <p:sp>
        <p:nvSpPr>
          <p:cNvPr id="46" name="Shape 44"/>
          <p:cNvSpPr/>
          <p:nvPr/>
        </p:nvSpPr>
        <p:spPr>
          <a:xfrm>
            <a:off x="4365093" y="2876427"/>
            <a:ext cx="91440" cy="91440"/>
          </a:xfrm>
          <a:prstGeom prst="ellipse">
            <a:avLst/>
          </a:prstGeom>
          <a:solidFill>
            <a:srgbClr val="E8604C"/>
          </a:solidFill>
          <a:ln w="9525">
            <a:solidFill>
              <a:srgbClr val="FFFFFF"/>
            </a:solidFill>
            <a:prstDash val="solid"/>
          </a:ln>
        </p:spPr>
        <p:txBody>
          <a:bodyPr/>
          <a:lstStyle/>
          <a:p>
            <a:endParaRPr lang="sv-SE"/>
          </a:p>
        </p:txBody>
      </p:sp>
      <p:sp>
        <p:nvSpPr>
          <p:cNvPr id="47" name="Shape 45"/>
          <p:cNvSpPr/>
          <p:nvPr/>
        </p:nvSpPr>
        <p:spPr>
          <a:xfrm>
            <a:off x="4373596" y="2961078"/>
            <a:ext cx="91440" cy="91440"/>
          </a:xfrm>
          <a:prstGeom prst="ellipse">
            <a:avLst/>
          </a:prstGeom>
          <a:solidFill>
            <a:srgbClr val="E8604C"/>
          </a:solidFill>
          <a:ln w="9525">
            <a:solidFill>
              <a:srgbClr val="FFFFFF"/>
            </a:solidFill>
            <a:prstDash val="solid"/>
          </a:ln>
        </p:spPr>
        <p:txBody>
          <a:bodyPr/>
          <a:lstStyle/>
          <a:p>
            <a:endParaRPr lang="sv-SE"/>
          </a:p>
        </p:txBody>
      </p:sp>
      <p:sp>
        <p:nvSpPr>
          <p:cNvPr id="48" name="Shape 46"/>
          <p:cNvSpPr/>
          <p:nvPr/>
        </p:nvSpPr>
        <p:spPr>
          <a:xfrm>
            <a:off x="4615827" y="2927719"/>
            <a:ext cx="91440" cy="91440"/>
          </a:xfrm>
          <a:prstGeom prst="ellipse">
            <a:avLst/>
          </a:prstGeom>
          <a:solidFill>
            <a:srgbClr val="E8604C"/>
          </a:solidFill>
          <a:ln w="9525">
            <a:solidFill>
              <a:srgbClr val="FFFFFF"/>
            </a:solidFill>
            <a:prstDash val="solid"/>
          </a:ln>
        </p:spPr>
        <p:txBody>
          <a:bodyPr/>
          <a:lstStyle/>
          <a:p>
            <a:endParaRPr lang="sv-SE"/>
          </a:p>
        </p:txBody>
      </p:sp>
      <p:sp>
        <p:nvSpPr>
          <p:cNvPr id="49" name="Shape 47"/>
          <p:cNvSpPr/>
          <p:nvPr/>
        </p:nvSpPr>
        <p:spPr>
          <a:xfrm>
            <a:off x="4375974" y="2905000"/>
            <a:ext cx="91440" cy="91440"/>
          </a:xfrm>
          <a:prstGeom prst="ellipse">
            <a:avLst/>
          </a:prstGeom>
          <a:solidFill>
            <a:srgbClr val="E8604C"/>
          </a:solidFill>
          <a:ln w="9525">
            <a:solidFill>
              <a:srgbClr val="FFFFFF"/>
            </a:solidFill>
            <a:prstDash val="solid"/>
          </a:ln>
        </p:spPr>
        <p:txBody>
          <a:bodyPr/>
          <a:lstStyle/>
          <a:p>
            <a:endParaRPr lang="sv-SE"/>
          </a:p>
        </p:txBody>
      </p:sp>
      <p:sp>
        <p:nvSpPr>
          <p:cNvPr id="50" name="Shape 48"/>
          <p:cNvSpPr/>
          <p:nvPr/>
        </p:nvSpPr>
        <p:spPr>
          <a:xfrm>
            <a:off x="4829435" y="2850937"/>
            <a:ext cx="91440" cy="91440"/>
          </a:xfrm>
          <a:prstGeom prst="ellipse">
            <a:avLst/>
          </a:prstGeom>
          <a:solidFill>
            <a:srgbClr val="E8604C"/>
          </a:solidFill>
          <a:ln w="9525">
            <a:solidFill>
              <a:srgbClr val="FFFFFF"/>
            </a:solidFill>
            <a:prstDash val="solid"/>
          </a:ln>
        </p:spPr>
        <p:txBody>
          <a:bodyPr/>
          <a:lstStyle/>
          <a:p>
            <a:endParaRPr lang="sv-SE"/>
          </a:p>
        </p:txBody>
      </p:sp>
      <p:sp>
        <p:nvSpPr>
          <p:cNvPr id="51" name="Shape 49"/>
          <p:cNvSpPr/>
          <p:nvPr/>
        </p:nvSpPr>
        <p:spPr>
          <a:xfrm>
            <a:off x="4077278" y="2803757"/>
            <a:ext cx="91440" cy="91440"/>
          </a:xfrm>
          <a:prstGeom prst="ellipse">
            <a:avLst/>
          </a:prstGeom>
          <a:solidFill>
            <a:srgbClr val="E8604C"/>
          </a:solidFill>
          <a:ln w="9525">
            <a:solidFill>
              <a:srgbClr val="FFFFFF"/>
            </a:solidFill>
            <a:prstDash val="solid"/>
          </a:ln>
        </p:spPr>
        <p:txBody>
          <a:bodyPr/>
          <a:lstStyle/>
          <a:p>
            <a:endParaRPr lang="sv-SE"/>
          </a:p>
        </p:txBody>
      </p:sp>
      <p:sp>
        <p:nvSpPr>
          <p:cNvPr id="52" name="Shape 50"/>
          <p:cNvSpPr/>
          <p:nvPr/>
        </p:nvSpPr>
        <p:spPr>
          <a:xfrm>
            <a:off x="5102686" y="2810153"/>
            <a:ext cx="91440" cy="91440"/>
          </a:xfrm>
          <a:prstGeom prst="ellipse">
            <a:avLst/>
          </a:prstGeom>
          <a:solidFill>
            <a:srgbClr val="E8604C"/>
          </a:solidFill>
          <a:ln w="9525">
            <a:solidFill>
              <a:srgbClr val="FFFFFF"/>
            </a:solidFill>
            <a:prstDash val="solid"/>
          </a:ln>
        </p:spPr>
        <p:txBody>
          <a:bodyPr/>
          <a:lstStyle/>
          <a:p>
            <a:endParaRPr lang="sv-SE"/>
          </a:p>
        </p:txBody>
      </p:sp>
      <p:sp>
        <p:nvSpPr>
          <p:cNvPr id="53" name="Shape 51"/>
          <p:cNvSpPr/>
          <p:nvPr/>
        </p:nvSpPr>
        <p:spPr>
          <a:xfrm>
            <a:off x="4313984" y="2796331"/>
            <a:ext cx="91440" cy="91440"/>
          </a:xfrm>
          <a:prstGeom prst="ellipse">
            <a:avLst/>
          </a:prstGeom>
          <a:solidFill>
            <a:srgbClr val="E8604C"/>
          </a:solidFill>
          <a:ln w="9525">
            <a:solidFill>
              <a:srgbClr val="FFFFFF"/>
            </a:solidFill>
            <a:prstDash val="solid"/>
          </a:ln>
        </p:spPr>
        <p:txBody>
          <a:bodyPr/>
          <a:lstStyle/>
          <a:p>
            <a:endParaRPr lang="sv-SE"/>
          </a:p>
        </p:txBody>
      </p:sp>
      <p:sp>
        <p:nvSpPr>
          <p:cNvPr id="54" name="Shape 52"/>
          <p:cNvSpPr/>
          <p:nvPr/>
        </p:nvSpPr>
        <p:spPr>
          <a:xfrm>
            <a:off x="4423783" y="2850614"/>
            <a:ext cx="91440" cy="91440"/>
          </a:xfrm>
          <a:prstGeom prst="ellipse">
            <a:avLst/>
          </a:prstGeom>
          <a:solidFill>
            <a:srgbClr val="E8604C"/>
          </a:solidFill>
          <a:ln w="9525">
            <a:solidFill>
              <a:srgbClr val="FFFFFF"/>
            </a:solidFill>
            <a:prstDash val="solid"/>
          </a:ln>
        </p:spPr>
        <p:txBody>
          <a:bodyPr/>
          <a:lstStyle/>
          <a:p>
            <a:endParaRPr lang="sv-SE"/>
          </a:p>
        </p:txBody>
      </p:sp>
      <p:sp>
        <p:nvSpPr>
          <p:cNvPr id="55" name="Shape 53"/>
          <p:cNvSpPr/>
          <p:nvPr/>
        </p:nvSpPr>
        <p:spPr>
          <a:xfrm>
            <a:off x="4677743" y="3008930"/>
            <a:ext cx="91440" cy="91440"/>
          </a:xfrm>
          <a:prstGeom prst="ellipse">
            <a:avLst/>
          </a:prstGeom>
          <a:solidFill>
            <a:srgbClr val="E8604C"/>
          </a:solidFill>
          <a:ln w="9525">
            <a:solidFill>
              <a:srgbClr val="FFFFFF"/>
            </a:solidFill>
            <a:prstDash val="solid"/>
          </a:ln>
        </p:spPr>
        <p:txBody>
          <a:bodyPr/>
          <a:lstStyle/>
          <a:p>
            <a:endParaRPr lang="sv-SE"/>
          </a:p>
        </p:txBody>
      </p:sp>
      <p:sp>
        <p:nvSpPr>
          <p:cNvPr id="56" name="Shape 54"/>
          <p:cNvSpPr/>
          <p:nvPr/>
        </p:nvSpPr>
        <p:spPr>
          <a:xfrm>
            <a:off x="4677746" y="2884119"/>
            <a:ext cx="91440" cy="91440"/>
          </a:xfrm>
          <a:prstGeom prst="ellipse">
            <a:avLst/>
          </a:prstGeom>
          <a:solidFill>
            <a:srgbClr val="E8604C"/>
          </a:solidFill>
          <a:ln w="9525">
            <a:solidFill>
              <a:srgbClr val="FFFFFF"/>
            </a:solidFill>
            <a:prstDash val="solid"/>
          </a:ln>
        </p:spPr>
        <p:txBody>
          <a:bodyPr/>
          <a:lstStyle/>
          <a:p>
            <a:endParaRPr lang="sv-SE"/>
          </a:p>
        </p:txBody>
      </p:sp>
      <p:sp>
        <p:nvSpPr>
          <p:cNvPr id="57" name="Text 55"/>
          <p:cNvSpPr txBox="1"/>
          <p:nvPr/>
        </p:nvSpPr>
        <p:spPr>
          <a:xfrm>
            <a:off x="4374490" y="3451860"/>
            <a:ext cx="1097280" cy="201168"/>
          </a:xfrm>
          <a:prstGeom prst="rect">
            <a:avLst/>
          </a:prstGeom>
          <a:noFill/>
          <a:ln/>
        </p:spPr>
        <p:txBody>
          <a:bodyPr wrap="square" lIns="0" tIns="0" rIns="0" bIns="0" rtlCol="0" anchor="ctr"/>
          <a:lstStyle/>
          <a:p>
            <a:pPr marL="0" indent="0">
              <a:buNone/>
            </a:pPr>
            <a:r>
              <a:rPr lang="en-US" sz="1000" b="1" dirty="0">
                <a:solidFill>
                  <a:srgbClr val="E8604C"/>
                </a:solidFill>
                <a:latin typeface="Calibri" pitchFamily="34" charset="0"/>
                <a:ea typeface="Calibri" pitchFamily="34" charset="-122"/>
                <a:cs typeface="Calibri" pitchFamily="34" charset="-120"/>
              </a:rPr>
              <a:t>twist</a:t>
            </a:r>
            <a:endParaRPr lang="en-US" sz="1000" dirty="0"/>
          </a:p>
        </p:txBody>
      </p:sp>
      <p:sp>
        <p:nvSpPr>
          <p:cNvPr id="58" name="Shape 56"/>
          <p:cNvSpPr/>
          <p:nvPr/>
        </p:nvSpPr>
        <p:spPr>
          <a:xfrm>
            <a:off x="6927159" y="3208240"/>
            <a:ext cx="91440" cy="91440"/>
          </a:xfrm>
          <a:prstGeom prst="ellipse">
            <a:avLst/>
          </a:prstGeom>
          <a:solidFill>
            <a:srgbClr val="4A3AA7"/>
          </a:solidFill>
          <a:ln w="9525">
            <a:solidFill>
              <a:srgbClr val="FFFFFF"/>
            </a:solidFill>
            <a:prstDash val="solid"/>
          </a:ln>
        </p:spPr>
        <p:txBody>
          <a:bodyPr/>
          <a:lstStyle/>
          <a:p>
            <a:endParaRPr lang="sv-SE"/>
          </a:p>
        </p:txBody>
      </p:sp>
      <p:sp>
        <p:nvSpPr>
          <p:cNvPr id="59" name="Shape 57"/>
          <p:cNvSpPr/>
          <p:nvPr/>
        </p:nvSpPr>
        <p:spPr>
          <a:xfrm>
            <a:off x="6586140" y="3229013"/>
            <a:ext cx="91440" cy="91440"/>
          </a:xfrm>
          <a:prstGeom prst="ellipse">
            <a:avLst/>
          </a:prstGeom>
          <a:solidFill>
            <a:srgbClr val="4A3AA7"/>
          </a:solidFill>
          <a:ln w="9525">
            <a:solidFill>
              <a:srgbClr val="FFFFFF"/>
            </a:solidFill>
            <a:prstDash val="solid"/>
          </a:ln>
        </p:spPr>
        <p:txBody>
          <a:bodyPr/>
          <a:lstStyle/>
          <a:p>
            <a:endParaRPr lang="sv-SE"/>
          </a:p>
        </p:txBody>
      </p:sp>
      <p:sp>
        <p:nvSpPr>
          <p:cNvPr id="60" name="Shape 58"/>
          <p:cNvSpPr/>
          <p:nvPr/>
        </p:nvSpPr>
        <p:spPr>
          <a:xfrm>
            <a:off x="7108359" y="3303770"/>
            <a:ext cx="91440" cy="91440"/>
          </a:xfrm>
          <a:prstGeom prst="ellipse">
            <a:avLst/>
          </a:prstGeom>
          <a:solidFill>
            <a:srgbClr val="4A3AA7"/>
          </a:solidFill>
          <a:ln w="9525">
            <a:solidFill>
              <a:srgbClr val="FFFFFF"/>
            </a:solidFill>
            <a:prstDash val="solid"/>
          </a:ln>
        </p:spPr>
        <p:txBody>
          <a:bodyPr/>
          <a:lstStyle/>
          <a:p>
            <a:endParaRPr lang="sv-SE"/>
          </a:p>
        </p:txBody>
      </p:sp>
      <p:sp>
        <p:nvSpPr>
          <p:cNvPr id="61" name="Shape 59"/>
          <p:cNvSpPr/>
          <p:nvPr/>
        </p:nvSpPr>
        <p:spPr>
          <a:xfrm>
            <a:off x="7291848" y="3023553"/>
            <a:ext cx="91440" cy="91440"/>
          </a:xfrm>
          <a:prstGeom prst="ellipse">
            <a:avLst/>
          </a:prstGeom>
          <a:solidFill>
            <a:srgbClr val="4A3AA7"/>
          </a:solidFill>
          <a:ln w="9525">
            <a:solidFill>
              <a:srgbClr val="FFFFFF"/>
            </a:solidFill>
            <a:prstDash val="solid"/>
          </a:ln>
        </p:spPr>
        <p:txBody>
          <a:bodyPr/>
          <a:lstStyle/>
          <a:p>
            <a:endParaRPr lang="sv-SE"/>
          </a:p>
        </p:txBody>
      </p:sp>
      <p:sp>
        <p:nvSpPr>
          <p:cNvPr id="62" name="Shape 60"/>
          <p:cNvSpPr/>
          <p:nvPr/>
        </p:nvSpPr>
        <p:spPr>
          <a:xfrm>
            <a:off x="7164975" y="3087050"/>
            <a:ext cx="91440" cy="91440"/>
          </a:xfrm>
          <a:prstGeom prst="ellipse">
            <a:avLst/>
          </a:prstGeom>
          <a:solidFill>
            <a:srgbClr val="4A3AA7"/>
          </a:solidFill>
          <a:ln w="9525">
            <a:solidFill>
              <a:srgbClr val="FFFFFF"/>
            </a:solidFill>
            <a:prstDash val="solid"/>
          </a:ln>
        </p:spPr>
        <p:txBody>
          <a:bodyPr/>
          <a:lstStyle/>
          <a:p>
            <a:endParaRPr lang="sv-SE"/>
          </a:p>
        </p:txBody>
      </p:sp>
      <p:sp>
        <p:nvSpPr>
          <p:cNvPr id="63" name="Shape 61"/>
          <p:cNvSpPr/>
          <p:nvPr/>
        </p:nvSpPr>
        <p:spPr>
          <a:xfrm>
            <a:off x="7435003" y="3210058"/>
            <a:ext cx="91440" cy="91440"/>
          </a:xfrm>
          <a:prstGeom prst="ellipse">
            <a:avLst/>
          </a:prstGeom>
          <a:solidFill>
            <a:srgbClr val="4A3AA7"/>
          </a:solidFill>
          <a:ln w="9525">
            <a:solidFill>
              <a:srgbClr val="FFFFFF"/>
            </a:solidFill>
            <a:prstDash val="solid"/>
          </a:ln>
        </p:spPr>
        <p:txBody>
          <a:bodyPr/>
          <a:lstStyle/>
          <a:p>
            <a:endParaRPr lang="sv-SE"/>
          </a:p>
        </p:txBody>
      </p:sp>
      <p:sp>
        <p:nvSpPr>
          <p:cNvPr id="64" name="Shape 62"/>
          <p:cNvSpPr/>
          <p:nvPr/>
        </p:nvSpPr>
        <p:spPr>
          <a:xfrm>
            <a:off x="6815629" y="3253821"/>
            <a:ext cx="91440" cy="91440"/>
          </a:xfrm>
          <a:prstGeom prst="ellipse">
            <a:avLst/>
          </a:prstGeom>
          <a:solidFill>
            <a:srgbClr val="4A3AA7"/>
          </a:solidFill>
          <a:ln w="9525">
            <a:solidFill>
              <a:srgbClr val="FFFFFF"/>
            </a:solidFill>
            <a:prstDash val="solid"/>
          </a:ln>
        </p:spPr>
        <p:txBody>
          <a:bodyPr/>
          <a:lstStyle/>
          <a:p>
            <a:endParaRPr lang="sv-SE"/>
          </a:p>
        </p:txBody>
      </p:sp>
      <p:sp>
        <p:nvSpPr>
          <p:cNvPr id="65" name="Shape 63"/>
          <p:cNvSpPr/>
          <p:nvPr/>
        </p:nvSpPr>
        <p:spPr>
          <a:xfrm>
            <a:off x="7060486" y="3163790"/>
            <a:ext cx="91440" cy="91440"/>
          </a:xfrm>
          <a:prstGeom prst="ellipse">
            <a:avLst/>
          </a:prstGeom>
          <a:solidFill>
            <a:srgbClr val="4A3AA7"/>
          </a:solidFill>
          <a:ln w="9525">
            <a:solidFill>
              <a:srgbClr val="FFFFFF"/>
            </a:solidFill>
            <a:prstDash val="solid"/>
          </a:ln>
        </p:spPr>
        <p:txBody>
          <a:bodyPr/>
          <a:lstStyle/>
          <a:p>
            <a:endParaRPr lang="sv-SE"/>
          </a:p>
        </p:txBody>
      </p:sp>
      <p:sp>
        <p:nvSpPr>
          <p:cNvPr id="66" name="Shape 64"/>
          <p:cNvSpPr/>
          <p:nvPr/>
        </p:nvSpPr>
        <p:spPr>
          <a:xfrm>
            <a:off x="7094836" y="3214438"/>
            <a:ext cx="91440" cy="91440"/>
          </a:xfrm>
          <a:prstGeom prst="ellipse">
            <a:avLst/>
          </a:prstGeom>
          <a:solidFill>
            <a:srgbClr val="4A3AA7"/>
          </a:solidFill>
          <a:ln w="9525">
            <a:solidFill>
              <a:srgbClr val="FFFFFF"/>
            </a:solidFill>
            <a:prstDash val="solid"/>
          </a:ln>
        </p:spPr>
        <p:txBody>
          <a:bodyPr/>
          <a:lstStyle/>
          <a:p>
            <a:endParaRPr lang="sv-SE"/>
          </a:p>
        </p:txBody>
      </p:sp>
      <p:sp>
        <p:nvSpPr>
          <p:cNvPr id="67" name="Shape 65"/>
          <p:cNvSpPr/>
          <p:nvPr/>
        </p:nvSpPr>
        <p:spPr>
          <a:xfrm>
            <a:off x="6733959" y="3225493"/>
            <a:ext cx="91440" cy="91440"/>
          </a:xfrm>
          <a:prstGeom prst="ellipse">
            <a:avLst/>
          </a:prstGeom>
          <a:solidFill>
            <a:srgbClr val="4A3AA7"/>
          </a:solidFill>
          <a:ln w="9525">
            <a:solidFill>
              <a:srgbClr val="FFFFFF"/>
            </a:solidFill>
            <a:prstDash val="solid"/>
          </a:ln>
        </p:spPr>
        <p:txBody>
          <a:bodyPr/>
          <a:lstStyle/>
          <a:p>
            <a:endParaRPr lang="sv-SE"/>
          </a:p>
        </p:txBody>
      </p:sp>
      <p:sp>
        <p:nvSpPr>
          <p:cNvPr id="68" name="Shape 66"/>
          <p:cNvSpPr/>
          <p:nvPr/>
        </p:nvSpPr>
        <p:spPr>
          <a:xfrm>
            <a:off x="6690831" y="3174386"/>
            <a:ext cx="91440" cy="91440"/>
          </a:xfrm>
          <a:prstGeom prst="ellipse">
            <a:avLst/>
          </a:prstGeom>
          <a:solidFill>
            <a:srgbClr val="4A3AA7"/>
          </a:solidFill>
          <a:ln w="9525">
            <a:solidFill>
              <a:srgbClr val="FFFFFF"/>
            </a:solidFill>
            <a:prstDash val="solid"/>
          </a:ln>
        </p:spPr>
        <p:txBody>
          <a:bodyPr/>
          <a:lstStyle/>
          <a:p>
            <a:endParaRPr lang="sv-SE"/>
          </a:p>
        </p:txBody>
      </p:sp>
      <p:sp>
        <p:nvSpPr>
          <p:cNvPr id="69" name="Shape 67"/>
          <p:cNvSpPr/>
          <p:nvPr/>
        </p:nvSpPr>
        <p:spPr>
          <a:xfrm>
            <a:off x="7072829" y="3025154"/>
            <a:ext cx="91440" cy="91440"/>
          </a:xfrm>
          <a:prstGeom prst="ellipse">
            <a:avLst/>
          </a:prstGeom>
          <a:solidFill>
            <a:srgbClr val="4A3AA7"/>
          </a:solidFill>
          <a:ln w="9525">
            <a:solidFill>
              <a:srgbClr val="FFFFFF"/>
            </a:solidFill>
            <a:prstDash val="solid"/>
          </a:ln>
        </p:spPr>
        <p:txBody>
          <a:bodyPr/>
          <a:lstStyle/>
          <a:p>
            <a:endParaRPr lang="sv-SE"/>
          </a:p>
        </p:txBody>
      </p:sp>
      <p:sp>
        <p:nvSpPr>
          <p:cNvPr id="70" name="Shape 68"/>
          <p:cNvSpPr/>
          <p:nvPr/>
        </p:nvSpPr>
        <p:spPr>
          <a:xfrm>
            <a:off x="6822339" y="3411335"/>
            <a:ext cx="91440" cy="91440"/>
          </a:xfrm>
          <a:prstGeom prst="ellipse">
            <a:avLst/>
          </a:prstGeom>
          <a:solidFill>
            <a:srgbClr val="4A3AA7"/>
          </a:solidFill>
          <a:ln w="9525">
            <a:solidFill>
              <a:srgbClr val="FFFFFF"/>
            </a:solidFill>
            <a:prstDash val="solid"/>
          </a:ln>
        </p:spPr>
        <p:txBody>
          <a:bodyPr/>
          <a:lstStyle/>
          <a:p>
            <a:endParaRPr lang="sv-SE"/>
          </a:p>
        </p:txBody>
      </p:sp>
      <p:sp>
        <p:nvSpPr>
          <p:cNvPr id="71" name="Shape 69"/>
          <p:cNvSpPr/>
          <p:nvPr/>
        </p:nvSpPr>
        <p:spPr>
          <a:xfrm>
            <a:off x="6777279" y="3270528"/>
            <a:ext cx="91440" cy="91440"/>
          </a:xfrm>
          <a:prstGeom prst="ellipse">
            <a:avLst/>
          </a:prstGeom>
          <a:solidFill>
            <a:srgbClr val="4A3AA7"/>
          </a:solidFill>
          <a:ln w="9525">
            <a:solidFill>
              <a:srgbClr val="FFFFFF"/>
            </a:solidFill>
            <a:prstDash val="solid"/>
          </a:ln>
        </p:spPr>
        <p:txBody>
          <a:bodyPr/>
          <a:lstStyle/>
          <a:p>
            <a:endParaRPr lang="sv-SE"/>
          </a:p>
        </p:txBody>
      </p:sp>
      <p:sp>
        <p:nvSpPr>
          <p:cNvPr id="72" name="Text 70"/>
          <p:cNvSpPr txBox="1"/>
          <p:nvPr/>
        </p:nvSpPr>
        <p:spPr>
          <a:xfrm>
            <a:off x="6613855" y="2593787"/>
            <a:ext cx="1097280" cy="201168"/>
          </a:xfrm>
          <a:prstGeom prst="rect">
            <a:avLst/>
          </a:prstGeom>
          <a:noFill/>
          <a:ln/>
        </p:spPr>
        <p:txBody>
          <a:bodyPr wrap="square" lIns="0" tIns="0" rIns="0" bIns="0" rtlCol="0" anchor="ctr"/>
          <a:lstStyle/>
          <a:p>
            <a:pPr marL="0" indent="0">
              <a:buNone/>
            </a:pPr>
            <a:r>
              <a:rPr lang="en-US" sz="1000" b="1" dirty="0">
                <a:solidFill>
                  <a:srgbClr val="4A3AA7"/>
                </a:solidFill>
                <a:latin typeface="Calibri" pitchFamily="34" charset="0"/>
                <a:ea typeface="Calibri" pitchFamily="34" charset="-122"/>
                <a:cs typeface="Calibri" pitchFamily="34" charset="-120"/>
              </a:rPr>
              <a:t>surface</a:t>
            </a:r>
            <a:endParaRPr lang="en-US" sz="1000" dirty="0"/>
          </a:p>
        </p:txBody>
      </p:sp>
      <p:sp>
        <p:nvSpPr>
          <p:cNvPr id="73" name="Text 71"/>
          <p:cNvSpPr txBox="1"/>
          <p:nvPr/>
        </p:nvSpPr>
        <p:spPr>
          <a:xfrm>
            <a:off x="658368" y="2487168"/>
            <a:ext cx="365760" cy="182880"/>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PC2</a:t>
            </a:r>
            <a:endParaRPr lang="en-US" sz="900" dirty="0"/>
          </a:p>
        </p:txBody>
      </p:sp>
      <p:sp>
        <p:nvSpPr>
          <p:cNvPr id="74" name="Text 72"/>
          <p:cNvSpPr txBox="1"/>
          <p:nvPr/>
        </p:nvSpPr>
        <p:spPr>
          <a:xfrm>
            <a:off x="7863840" y="3803904"/>
            <a:ext cx="411480" cy="182880"/>
          </a:xfrm>
          <a:prstGeom prst="rect">
            <a:avLst/>
          </a:prstGeom>
          <a:noFill/>
          <a:ln/>
        </p:spPr>
        <p:txBody>
          <a:bodyPr wrap="square" lIns="0" tIns="0" rIns="0" bIns="0" rtlCol="0" anchor="ctr"/>
          <a:lstStyle/>
          <a:p>
            <a:pPr marL="0" indent="0" algn="r">
              <a:buNone/>
            </a:pPr>
            <a:r>
              <a:rPr lang="en-US" sz="900" dirty="0">
                <a:solidFill>
                  <a:srgbClr val="5F7178"/>
                </a:solidFill>
                <a:latin typeface="Calibri" pitchFamily="34" charset="0"/>
                <a:ea typeface="Calibri" pitchFamily="34" charset="-122"/>
                <a:cs typeface="Calibri" pitchFamily="34" charset="-120"/>
              </a:rPr>
              <a:t>PC1</a:t>
            </a:r>
            <a:endParaRPr lang="en-US" sz="900" dirty="0"/>
          </a:p>
        </p:txBody>
      </p:sp>
      <p:sp>
        <p:nvSpPr>
          <p:cNvPr id="75" name="Text 73"/>
          <p:cNvSpPr txBox="1"/>
          <p:nvPr/>
        </p:nvSpPr>
        <p:spPr>
          <a:xfrm>
            <a:off x="1051560" y="3803904"/>
            <a:ext cx="6766560" cy="182880"/>
          </a:xfrm>
          <a:prstGeom prst="rect">
            <a:avLst/>
          </a:prstGeom>
          <a:noFill/>
          <a:ln/>
        </p:spPr>
        <p:txBody>
          <a:bodyPr wrap="square" lIns="0" tIns="0" rIns="0" bIns="0" rtlCol="0" anchor="ctr"/>
          <a:lstStyle/>
          <a:p>
            <a:pPr marL="0" indent="0" algn="ctr">
              <a:buNone/>
            </a:pPr>
            <a:r>
              <a:rPr lang="en-US" sz="900" i="1" dirty="0">
                <a:solidFill>
                  <a:srgbClr val="5F7178"/>
                </a:solidFill>
                <a:latin typeface="Calibri" pitchFamily="34" charset="0"/>
                <a:ea typeface="Calibri" pitchFamily="34" charset="-122"/>
                <a:cs typeface="Calibri" pitchFamily="34" charset="-120"/>
              </a:rPr>
              <a:t>PC1 and PC2 — the five geometry parameters projected to two dimensions  ·  illustrative</a:t>
            </a:r>
            <a:endParaRPr lang="en-US" sz="900" dirty="0"/>
          </a:p>
        </p:txBody>
      </p:sp>
      <p:sp>
        <p:nvSpPr>
          <p:cNvPr id="76" name="Text 74"/>
          <p:cNvSpPr txBox="1"/>
          <p:nvPr/>
        </p:nvSpPr>
        <p:spPr>
          <a:xfrm>
            <a:off x="457200" y="4261104"/>
            <a:ext cx="8229600" cy="310896"/>
          </a:xfrm>
          <a:prstGeom prst="rect">
            <a:avLst/>
          </a:prstGeom>
          <a:noFill/>
          <a:ln/>
        </p:spPr>
        <p:txBody>
          <a:bodyPr wrap="square" lIns="0" tIns="0" rIns="0" bIns="0" rtlCol="0" anchor="ctr"/>
          <a:lstStyle/>
          <a:p>
            <a:pPr marL="0" indent="0" algn="ctr">
              <a:buNone/>
            </a:pPr>
            <a:r>
              <a:rPr lang="en-US" sz="1300" b="1" i="1" dirty="0">
                <a:solidFill>
                  <a:srgbClr val="028090"/>
                </a:solidFill>
                <a:latin typeface="Cambria" pitchFamily="34" charset="0"/>
                <a:ea typeface="Cambria" pitchFamily="34" charset="-122"/>
                <a:cs typeface="Cambria" pitchFamily="34" charset="-120"/>
              </a:rPr>
              <a:t>Instead of “something is wrong here”, the answer becomes “the gauge is wrong here”.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ANALYSIS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Each fault type has a geometric signature</a:t>
            </a:r>
            <a:endParaRPr lang="en-US" sz="2700" dirty="0"/>
          </a:p>
        </p:txBody>
      </p:sp>
      <p:sp>
        <p:nvSpPr>
          <p:cNvPr id="4" name="Text 2"/>
          <p:cNvSpPr txBox="1"/>
          <p:nvPr/>
        </p:nvSpPr>
        <p:spPr>
          <a:xfrm>
            <a:off x="457200" y="1115568"/>
            <a:ext cx="8229600" cy="274320"/>
          </a:xfrm>
          <a:prstGeom prst="rect">
            <a:avLst/>
          </a:prstGeom>
          <a:noFill/>
          <a:ln/>
        </p:spPr>
        <p:txBody>
          <a:bodyPr wrap="square" lIns="0" tIns="0" rIns="0" bIns="0" rtlCol="0" anchor="ctr"/>
          <a:lstStyle/>
          <a:p>
            <a:pPr marL="0" indent="0">
              <a:buNone/>
            </a:pPr>
            <a:r>
              <a:rPr lang="en-US" sz="1250" dirty="0">
                <a:solidFill>
                  <a:srgbClr val="16262B"/>
                </a:solidFill>
                <a:latin typeface="Calibri" pitchFamily="34" charset="0"/>
                <a:ea typeface="Calibri" pitchFamily="34" charset="-122"/>
                <a:cs typeface="Calibri" pitchFamily="34" charset="-120"/>
              </a:rPr>
              <a:t>For every group, the average deviation of each geometry parameter. One parameter dominates each group — that is what names it.</a:t>
            </a:r>
            <a:endParaRPr lang="en-US" sz="1250" dirty="0"/>
          </a:p>
        </p:txBody>
      </p:sp>
      <p:graphicFrame>
        <p:nvGraphicFramePr>
          <p:cNvPr id="5" name="Chart 0"/>
          <p:cNvGraphicFramePr/>
          <p:nvPr/>
        </p:nvGraphicFramePr>
        <p:xfrm>
          <a:off x="457200" y="1444752"/>
          <a:ext cx="822960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457200" y="4206240"/>
            <a:ext cx="8229600" cy="310896"/>
          </a:xfrm>
          <a:prstGeom prst="rect">
            <a:avLst/>
          </a:prstGeom>
          <a:noFill/>
          <a:ln/>
        </p:spPr>
        <p:txBody>
          <a:bodyPr wrap="square" lIns="0" tIns="0" rIns="0" bIns="0" rtlCol="0" anchor="ctr"/>
          <a:lstStyle/>
          <a:p>
            <a:pPr marL="0" indent="0" algn="ctr">
              <a:buNone/>
            </a:pPr>
            <a:r>
              <a:rPr lang="en-US" sz="1250" b="1" i="1" dirty="0">
                <a:solidFill>
                  <a:srgbClr val="028090"/>
                </a:solidFill>
                <a:latin typeface="Cambria" pitchFamily="34" charset="0"/>
                <a:ea typeface="Cambria" pitchFamily="34" charset="-122"/>
                <a:cs typeface="Cambria" pitchFamily="34" charset="-120"/>
              </a:rPr>
              <a:t>A group is no longer just a cluster number — it is “the gauge is out here”, which is something a maintenance planner can act 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ANALYSIS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Can the fault type be predicted from vibration alone?</a:t>
            </a:r>
            <a:endParaRPr lang="en-US" sz="2700" dirty="0"/>
          </a:p>
        </p:txBody>
      </p:sp>
      <p:sp>
        <p:nvSpPr>
          <p:cNvPr id="4" name="Text 2"/>
          <p:cNvSpPr txBox="1"/>
          <p:nvPr/>
        </p:nvSpPr>
        <p:spPr>
          <a:xfrm>
            <a:off x="457200" y="1115568"/>
            <a:ext cx="8229600" cy="274320"/>
          </a:xfrm>
          <a:prstGeom prst="rect">
            <a:avLst/>
          </a:prstGeom>
          <a:noFill/>
          <a:ln/>
        </p:spPr>
        <p:txBody>
          <a:bodyPr wrap="square" lIns="0" tIns="0" rIns="0" bIns="0" rtlCol="0" anchor="ctr"/>
          <a:lstStyle/>
          <a:p>
            <a:pPr marL="0" indent="0">
              <a:buNone/>
            </a:pPr>
            <a:r>
              <a:rPr lang="en-US" sz="1250" dirty="0">
                <a:solidFill>
                  <a:srgbClr val="16262B"/>
                </a:solidFill>
                <a:latin typeface="Calibri" pitchFamily="34" charset="0"/>
                <a:ea typeface="Calibri" pitchFamily="34" charset="-122"/>
                <a:cs typeface="Calibri" pitchFamily="34" charset="-120"/>
              </a:rPr>
              <a:t>Geometry defines the fault types once. The classifier is then trained on the vibration features only — so no scan is needed to diagnose the next event.</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4846320" cy="1645920"/>
        </p:xfrm>
        <a:graphic>
          <a:graphicData uri="http://schemas.openxmlformats.org/drawingml/2006/table">
            <a:tbl>
              <a:tblPr/>
              <a:tblGrid>
                <a:gridCol w="15544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329184">
                <a:tc>
                  <a:txBody>
                    <a:bodyPr/>
                    <a:lstStyle/>
                    <a:p>
                      <a:pPr marL="0" indent="0" algn="ctr">
                        <a:buNone/>
                      </a:pPr>
                      <a:r>
                        <a:rPr lang="en-US" sz="900" i="1" dirty="0">
                          <a:solidFill>
                            <a:srgbClr val="FFFFFF"/>
                          </a:solidFill>
                          <a:latin typeface="Calibri" pitchFamily="34" charset="0"/>
                          <a:ea typeface="Calibri" pitchFamily="34" charset="-122"/>
                          <a:cs typeface="Calibri" pitchFamily="34" charset="-120"/>
                        </a:rPr>
                        <a:t>true ↓   predicted →</a:t>
                      </a:r>
                      <a:endParaRPr lang="en-US" sz="9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normal</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gauge</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twist</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surface</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329184">
                <a:tc>
                  <a:txBody>
                    <a:bodyPr/>
                    <a:lstStyle/>
                    <a:p>
                      <a:pPr marL="0" indent="0" algn="l">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5F5"/>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6873"/>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extLst>
                  <a:ext uri="{0D108BD9-81ED-4DB2-BD59-A6C34878D82A}">
                    <a16:rowId xmlns:a16="http://schemas.microsoft.com/office/drawing/2014/main" val="10001"/>
                  </a:ext>
                </a:extLst>
              </a:tr>
              <a:tr h="329184">
                <a:tc>
                  <a:txBody>
                    <a:bodyPr/>
                    <a:lstStyle/>
                    <a:p>
                      <a:pPr marL="0" indent="0" algn="l">
                        <a:buNone/>
                      </a:pPr>
                      <a:r>
                        <a:rPr lang="en-US" sz="1050" b="1" dirty="0">
                          <a:solidFill>
                            <a:srgbClr val="16262B"/>
                          </a:solidFill>
                          <a:latin typeface="Calibri" pitchFamily="34" charset="0"/>
                          <a:ea typeface="Calibri" pitchFamily="34" charset="-122"/>
                          <a:cs typeface="Calibri" pitchFamily="34" charset="-120"/>
                        </a:rPr>
                        <a:t>gauge</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5F5"/>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FBAC3"/>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extLst>
                  <a:ext uri="{0D108BD9-81ED-4DB2-BD59-A6C34878D82A}">
                    <a16:rowId xmlns:a16="http://schemas.microsoft.com/office/drawing/2014/main" val="10002"/>
                  </a:ext>
                </a:extLst>
              </a:tr>
              <a:tr h="329184">
                <a:tc>
                  <a:txBody>
                    <a:bodyPr/>
                    <a:lstStyle/>
                    <a:p>
                      <a:pPr marL="0" indent="0" algn="l">
                        <a:buNone/>
                      </a:pPr>
                      <a:r>
                        <a:rPr lang="en-US" sz="1050" b="1" dirty="0">
                          <a:solidFill>
                            <a:srgbClr val="16262B"/>
                          </a:solidFill>
                          <a:latin typeface="Calibri" pitchFamily="34" charset="0"/>
                          <a:ea typeface="Calibri" pitchFamily="34" charset="-122"/>
                          <a:cs typeface="Calibri" pitchFamily="34" charset="-120"/>
                        </a:rPr>
                        <a:t>twist</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5F5"/>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extLst>
                  <a:ext uri="{0D108BD9-81ED-4DB2-BD59-A6C34878D82A}">
                    <a16:rowId xmlns:a16="http://schemas.microsoft.com/office/drawing/2014/main" val="10003"/>
                  </a:ext>
                </a:extLst>
              </a:tr>
              <a:tr h="329184">
                <a:tc>
                  <a:txBody>
                    <a:bodyPr/>
                    <a:lstStyle/>
                    <a:p>
                      <a:pPr marL="0" indent="0" algn="l">
                        <a:buNone/>
                      </a:pPr>
                      <a:r>
                        <a:rPr lang="en-US" sz="1050" b="1" dirty="0">
                          <a:solidFill>
                            <a:srgbClr val="16262B"/>
                          </a:solidFill>
                          <a:latin typeface="Calibri" pitchFamily="34" charset="0"/>
                          <a:ea typeface="Calibri" pitchFamily="34" charset="-122"/>
                          <a:cs typeface="Calibri" pitchFamily="34" charset="-120"/>
                        </a:rPr>
                        <a:t>surface</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5F5"/>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FBAC3"/>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457200" y="3200400"/>
            <a:ext cx="4846320" cy="219456"/>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Counts over 150 events. Diagonal = correct. Illustrative.</a:t>
            </a:r>
            <a:endParaRPr lang="en-US" sz="950" dirty="0"/>
          </a:p>
        </p:txBody>
      </p:sp>
      <p:sp>
        <p:nvSpPr>
          <p:cNvPr id="7" name="Shape 4"/>
          <p:cNvSpPr/>
          <p:nvPr/>
        </p:nvSpPr>
        <p:spPr>
          <a:xfrm>
            <a:off x="5486400" y="1481328"/>
            <a:ext cx="3200400" cy="58521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8" name="Text 5"/>
          <p:cNvSpPr txBox="1"/>
          <p:nvPr/>
        </p:nvSpPr>
        <p:spPr>
          <a:xfrm>
            <a:off x="5596128" y="1481328"/>
            <a:ext cx="777240" cy="58521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88 %</a:t>
            </a:r>
            <a:endParaRPr lang="en-US" sz="1800" dirty="0"/>
          </a:p>
        </p:txBody>
      </p:sp>
      <p:sp>
        <p:nvSpPr>
          <p:cNvPr id="9" name="Text 6"/>
          <p:cNvSpPr txBox="1"/>
          <p:nvPr/>
        </p:nvSpPr>
        <p:spPr>
          <a:xfrm>
            <a:off x="6419088" y="1536192"/>
            <a:ext cx="219456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correct across four classes</a:t>
            </a:r>
            <a:endParaRPr lang="en-US" sz="1100" dirty="0"/>
          </a:p>
        </p:txBody>
      </p:sp>
      <p:sp>
        <p:nvSpPr>
          <p:cNvPr id="10" name="Text 7"/>
          <p:cNvSpPr txBox="1"/>
          <p:nvPr/>
        </p:nvSpPr>
        <p:spPr>
          <a:xfrm>
            <a:off x="6419088" y="1773936"/>
            <a:ext cx="2212848" cy="256032"/>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against 93 % for the two-class model</a:t>
            </a:r>
            <a:endParaRPr lang="en-US" sz="900" dirty="0"/>
          </a:p>
        </p:txBody>
      </p:sp>
      <p:sp>
        <p:nvSpPr>
          <p:cNvPr id="11" name="Shape 8"/>
          <p:cNvSpPr/>
          <p:nvPr/>
        </p:nvSpPr>
        <p:spPr>
          <a:xfrm>
            <a:off x="5486400" y="2139696"/>
            <a:ext cx="3200400" cy="58521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2" name="Text 9"/>
          <p:cNvSpPr txBox="1"/>
          <p:nvPr/>
        </p:nvSpPr>
        <p:spPr>
          <a:xfrm>
            <a:off x="5596128" y="2139696"/>
            <a:ext cx="777240" cy="58521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4</a:t>
            </a:r>
            <a:endParaRPr lang="en-US" sz="1800" dirty="0"/>
          </a:p>
        </p:txBody>
      </p:sp>
      <p:sp>
        <p:nvSpPr>
          <p:cNvPr id="13" name="Text 10"/>
          <p:cNvSpPr txBox="1"/>
          <p:nvPr/>
        </p:nvSpPr>
        <p:spPr>
          <a:xfrm>
            <a:off x="6419088" y="2194560"/>
            <a:ext cx="219456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classes instead of 2</a:t>
            </a:r>
            <a:endParaRPr lang="en-US" sz="1100" dirty="0"/>
          </a:p>
        </p:txBody>
      </p:sp>
      <p:sp>
        <p:nvSpPr>
          <p:cNvPr id="5" name="Text 11"/>
          <p:cNvSpPr txBox="1"/>
          <p:nvPr/>
        </p:nvSpPr>
        <p:spPr>
          <a:xfrm>
            <a:off x="6419088" y="2432304"/>
            <a:ext cx="2212848" cy="256032"/>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normal, plus three fault types</a:t>
            </a:r>
            <a:endParaRPr lang="en-US" sz="900" dirty="0"/>
          </a:p>
        </p:txBody>
      </p:sp>
      <p:sp>
        <p:nvSpPr>
          <p:cNvPr id="15" name="Shape 12"/>
          <p:cNvSpPr/>
          <p:nvPr/>
        </p:nvSpPr>
        <p:spPr>
          <a:xfrm>
            <a:off x="5486400" y="2798064"/>
            <a:ext cx="3200400" cy="58521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6" name="Text 13"/>
          <p:cNvSpPr txBox="1"/>
          <p:nvPr/>
        </p:nvSpPr>
        <p:spPr>
          <a:xfrm>
            <a:off x="5596128" y="2798064"/>
            <a:ext cx="777240" cy="58521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0</a:t>
            </a:r>
            <a:endParaRPr lang="en-US" sz="1800" dirty="0"/>
          </a:p>
        </p:txBody>
      </p:sp>
      <p:sp>
        <p:nvSpPr>
          <p:cNvPr id="17" name="Text 14"/>
          <p:cNvSpPr txBox="1"/>
          <p:nvPr/>
        </p:nvSpPr>
        <p:spPr>
          <a:xfrm>
            <a:off x="6419088" y="2852928"/>
            <a:ext cx="219456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extra scans needed</a:t>
            </a:r>
            <a:endParaRPr lang="en-US" sz="1100" dirty="0"/>
          </a:p>
        </p:txBody>
      </p:sp>
      <p:sp>
        <p:nvSpPr>
          <p:cNvPr id="18" name="Text 15"/>
          <p:cNvSpPr txBox="1"/>
          <p:nvPr/>
        </p:nvSpPr>
        <p:spPr>
          <a:xfrm>
            <a:off x="6419088" y="3090672"/>
            <a:ext cx="2212848" cy="256032"/>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one survey defines the types, then vibration alone</a:t>
            </a:r>
            <a:endParaRPr lang="en-US" sz="900" dirty="0"/>
          </a:p>
        </p:txBody>
      </p:sp>
      <p:sp>
        <p:nvSpPr>
          <p:cNvPr id="19" name="Shape 16"/>
          <p:cNvSpPr/>
          <p:nvPr/>
        </p:nvSpPr>
        <p:spPr>
          <a:xfrm>
            <a:off x="457200" y="4005072"/>
            <a:ext cx="8229600" cy="603504"/>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20" name="Text 17"/>
          <p:cNvSpPr txBox="1"/>
          <p:nvPr/>
        </p:nvSpPr>
        <p:spPr>
          <a:xfrm>
            <a:off x="731520" y="4005072"/>
            <a:ext cx="7680960" cy="60350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One laser scan defines what the fault types are. After that the vibration sensor alone can tell them apart — which is what makes the result useful in practice.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REFERENCE</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Worked example — TQI for gauge</a:t>
            </a:r>
            <a:endParaRPr lang="en-US" sz="2700" dirty="0"/>
          </a:p>
        </p:txBody>
      </p:sp>
      <p:sp>
        <p:nvSpPr>
          <p:cNvPr id="4" name="Text 2"/>
          <p:cNvSpPr txBox="1"/>
          <p:nvPr/>
        </p:nvSpPr>
        <p:spPr>
          <a:xfrm>
            <a:off x="457200" y="1115568"/>
            <a:ext cx="8229600" cy="274320"/>
          </a:xfrm>
          <a:prstGeom prst="rect">
            <a:avLst/>
          </a:prstGeom>
          <a:noFill/>
          <a:ln/>
        </p:spPr>
        <p:txBody>
          <a:bodyPr wrap="square" lIns="0" tIns="0" rIns="0" bIns="0" rtlCol="0" anchor="ctr"/>
          <a:lstStyle/>
          <a:p>
            <a:pPr marL="0" indent="0">
              <a:buNone/>
            </a:pPr>
            <a:r>
              <a:rPr lang="en-US" sz="1200" dirty="0">
                <a:solidFill>
                  <a:srgbClr val="16262B"/>
                </a:solidFill>
                <a:latin typeface="Calibri" pitchFamily="34" charset="0"/>
                <a:ea typeface="Calibri" pitchFamily="34" charset="-122"/>
                <a:cs typeface="Calibri" pitchFamily="34" charset="-120"/>
              </a:rPr>
              <a:t>Gauge is plotted against distance along the track. The length of that graph, compared with the straight length of the section, is the TQI. The line is the graph — not the rail.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4617720" cy="1645920"/>
        </p:xfrm>
        <a:graphic>
          <a:graphicData uri="http://schemas.openxmlformats.org/drawingml/2006/table">
            <a:tbl>
              <a:tblPr/>
              <a:tblGrid>
                <a:gridCol w="9144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tblGrid>
              <a:tr h="27432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gauge (m)</a:t>
                      </a:r>
                      <a:endParaRPr lang="en-US" sz="9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Δy (m)</a:t>
                      </a:r>
                      <a:endParaRPr lang="en-US" sz="9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segment √(Δx² + Δy²)</a:t>
                      </a:r>
                      <a:endParaRPr lang="en-US" sz="9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274320">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0.00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1.4350</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0.25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1.4352</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+0.0002</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0.25000008</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0.50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1.4349</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−0.0003</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0.25000018</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50" b="1" dirty="0">
                          <a:solidFill>
                            <a:srgbClr val="E8604C"/>
                          </a:solidFill>
                          <a:latin typeface="Calibri" pitchFamily="34" charset="0"/>
                          <a:ea typeface="Calibri" pitchFamily="34" charset="-122"/>
                          <a:cs typeface="Calibri" pitchFamily="34" charset="-120"/>
                        </a:rPr>
                        <a:t>0.75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l">
                        <a:buNone/>
                      </a:pPr>
                      <a:r>
                        <a:rPr lang="en-US" sz="1050" b="1" dirty="0">
                          <a:solidFill>
                            <a:srgbClr val="E8604C"/>
                          </a:solidFill>
                          <a:latin typeface="Calibri" pitchFamily="34" charset="0"/>
                          <a:ea typeface="Calibri" pitchFamily="34" charset="-122"/>
                          <a:cs typeface="Calibri" pitchFamily="34" charset="-120"/>
                        </a:rPr>
                        <a:t>1.4358</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l">
                        <a:buNone/>
                      </a:pPr>
                      <a:r>
                        <a:rPr lang="en-US" sz="1050" b="1" dirty="0">
                          <a:solidFill>
                            <a:srgbClr val="E8604C"/>
                          </a:solidFill>
                          <a:latin typeface="Calibri" pitchFamily="34" charset="0"/>
                          <a:ea typeface="Calibri" pitchFamily="34" charset="-122"/>
                          <a:cs typeface="Calibri" pitchFamily="34" charset="-120"/>
                        </a:rPr>
                        <a:t>+0.0009</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l">
                        <a:buNone/>
                      </a:pPr>
                      <a:r>
                        <a:rPr lang="en-US" sz="1050" b="1" dirty="0">
                          <a:solidFill>
                            <a:srgbClr val="E8604C"/>
                          </a:solidFill>
                          <a:latin typeface="Calibri" pitchFamily="34" charset="0"/>
                          <a:ea typeface="Calibri" pitchFamily="34" charset="-122"/>
                          <a:cs typeface="Calibri" pitchFamily="34" charset="-120"/>
                        </a:rPr>
                        <a:t>0.25000162</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extLst>
                  <a:ext uri="{0D108BD9-81ED-4DB2-BD59-A6C34878D82A}">
                    <a16:rowId xmlns:a16="http://schemas.microsoft.com/office/drawing/2014/main" val="10004"/>
                  </a:ext>
                </a:extLst>
              </a:tr>
              <a:tr h="274320">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1.00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1.4351</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−0.0007</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0.25000098</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457200" y="3200400"/>
            <a:ext cx="4617720" cy="502920"/>
          </a:xfrm>
          <a:prstGeom prst="rect">
            <a:avLst/>
          </a:prstGeom>
          <a:noFill/>
          <a:ln/>
        </p:spPr>
        <p:txBody>
          <a:bodyPr wrap="square" lIns="0" tIns="0" rIns="0" bIns="0" rtlCol="0" anchor="ctr"/>
          <a:lstStyle/>
          <a:p>
            <a:pPr marL="0" indent="0">
              <a:buNone/>
            </a:pPr>
            <a:r>
              <a:rPr lang="en-US" sz="1050" dirty="0">
                <a:solidFill>
                  <a:srgbClr val="5F7178"/>
                </a:solidFill>
                <a:latin typeface="Calibri" pitchFamily="34" charset="0"/>
                <a:ea typeface="Calibri" pitchFamily="34" charset="-122"/>
                <a:cs typeface="Calibri" pitchFamily="34" charset="-120"/>
              </a:rPr>
              <a:t>Each step moves 0.25 m sideways and a fraction of a millimetre up or down, so every segment is barely longer than 0.25 m. Those tiny excesses are the whole signal.</a:t>
            </a:r>
            <a:endParaRPr lang="en-US" sz="1050" dirty="0"/>
          </a:p>
        </p:txBody>
      </p:sp>
      <p:sp>
        <p:nvSpPr>
          <p:cNvPr id="7" name="Shape 4"/>
          <p:cNvSpPr/>
          <p:nvPr/>
        </p:nvSpPr>
        <p:spPr>
          <a:xfrm>
            <a:off x="5349240" y="1481328"/>
            <a:ext cx="3337560" cy="2011680"/>
          </a:xfrm>
          <a:prstGeom prst="roundRect">
            <a:avLst>
              <a:gd name="adj" fmla="val 2727"/>
            </a:avLst>
          </a:prstGeom>
          <a:solidFill>
            <a:srgbClr val="EDF5F5"/>
          </a:solidFill>
          <a:ln w="12700">
            <a:solidFill>
              <a:srgbClr val="EDF5F5"/>
            </a:solidFill>
            <a:prstDash val="solid"/>
          </a:ln>
        </p:spPr>
        <p:txBody>
          <a:bodyPr/>
          <a:lstStyle/>
          <a:p>
            <a:endParaRPr lang="sv-SE"/>
          </a:p>
        </p:txBody>
      </p:sp>
      <p:sp>
        <p:nvSpPr>
          <p:cNvPr id="8" name="Text 5"/>
          <p:cNvSpPr txBox="1"/>
          <p:nvPr/>
        </p:nvSpPr>
        <p:spPr>
          <a:xfrm>
            <a:off x="5486400" y="1572768"/>
            <a:ext cx="548640" cy="182880"/>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gauge</a:t>
            </a:r>
            <a:endParaRPr lang="en-US" sz="900" dirty="0"/>
          </a:p>
        </p:txBody>
      </p:sp>
      <p:sp>
        <p:nvSpPr>
          <p:cNvPr id="9" name="Shape 6"/>
          <p:cNvSpPr/>
          <p:nvPr/>
        </p:nvSpPr>
        <p:spPr>
          <a:xfrm>
            <a:off x="5806440" y="1783080"/>
            <a:ext cx="0" cy="1143000"/>
          </a:xfrm>
          <a:prstGeom prst="line">
            <a:avLst/>
          </a:prstGeom>
          <a:noFill/>
          <a:ln w="12700">
            <a:solidFill>
              <a:srgbClr val="C3D2D5"/>
            </a:solidFill>
            <a:prstDash val="solid"/>
          </a:ln>
        </p:spPr>
        <p:txBody>
          <a:bodyPr/>
          <a:lstStyle/>
          <a:p>
            <a:endParaRPr lang="sv-SE"/>
          </a:p>
        </p:txBody>
      </p:sp>
      <p:sp>
        <p:nvSpPr>
          <p:cNvPr id="10" name="Shape 7"/>
          <p:cNvSpPr/>
          <p:nvPr/>
        </p:nvSpPr>
        <p:spPr>
          <a:xfrm>
            <a:off x="5806440" y="2926080"/>
            <a:ext cx="2606040" cy="0"/>
          </a:xfrm>
          <a:prstGeom prst="line">
            <a:avLst/>
          </a:prstGeom>
          <a:noFill/>
          <a:ln w="12700">
            <a:solidFill>
              <a:srgbClr val="C3D2D5"/>
            </a:solidFill>
            <a:prstDash val="solid"/>
          </a:ln>
        </p:spPr>
        <p:txBody>
          <a:bodyPr/>
          <a:lstStyle/>
          <a:p>
            <a:endParaRPr lang="sv-SE"/>
          </a:p>
        </p:txBody>
      </p:sp>
      <p:sp>
        <p:nvSpPr>
          <p:cNvPr id="11" name="Shape 8"/>
          <p:cNvSpPr/>
          <p:nvPr/>
        </p:nvSpPr>
        <p:spPr>
          <a:xfrm flipV="1">
            <a:off x="5897880" y="2502408"/>
            <a:ext cx="605790" cy="172720"/>
          </a:xfrm>
          <a:prstGeom prst="line">
            <a:avLst/>
          </a:prstGeom>
          <a:noFill/>
          <a:ln w="22225">
            <a:solidFill>
              <a:srgbClr val="028090"/>
            </a:solidFill>
            <a:prstDash val="solid"/>
          </a:ln>
        </p:spPr>
        <p:txBody>
          <a:bodyPr/>
          <a:lstStyle/>
          <a:p>
            <a:endParaRPr lang="sv-SE"/>
          </a:p>
        </p:txBody>
      </p:sp>
      <p:sp>
        <p:nvSpPr>
          <p:cNvPr id="12" name="Shape 9"/>
          <p:cNvSpPr/>
          <p:nvPr/>
        </p:nvSpPr>
        <p:spPr>
          <a:xfrm>
            <a:off x="6503670" y="2502408"/>
            <a:ext cx="605790" cy="259080"/>
          </a:xfrm>
          <a:prstGeom prst="line">
            <a:avLst/>
          </a:prstGeom>
          <a:noFill/>
          <a:ln w="22225">
            <a:solidFill>
              <a:srgbClr val="028090"/>
            </a:solidFill>
            <a:prstDash val="solid"/>
          </a:ln>
        </p:spPr>
        <p:txBody>
          <a:bodyPr/>
          <a:lstStyle/>
          <a:p>
            <a:endParaRPr lang="sv-SE"/>
          </a:p>
        </p:txBody>
      </p:sp>
      <p:sp>
        <p:nvSpPr>
          <p:cNvPr id="13" name="Shape 10"/>
          <p:cNvSpPr/>
          <p:nvPr/>
        </p:nvSpPr>
        <p:spPr>
          <a:xfrm flipV="1">
            <a:off x="7109460" y="1984248"/>
            <a:ext cx="605790" cy="777240"/>
          </a:xfrm>
          <a:prstGeom prst="line">
            <a:avLst/>
          </a:prstGeom>
          <a:noFill/>
          <a:ln w="22225">
            <a:solidFill>
              <a:srgbClr val="028090"/>
            </a:solidFill>
            <a:prstDash val="solid"/>
          </a:ln>
        </p:spPr>
        <p:txBody>
          <a:bodyPr/>
          <a:lstStyle/>
          <a:p>
            <a:endParaRPr lang="sv-SE"/>
          </a:p>
        </p:txBody>
      </p:sp>
      <p:sp>
        <p:nvSpPr>
          <p:cNvPr id="14" name="Shape 11"/>
          <p:cNvSpPr/>
          <p:nvPr/>
        </p:nvSpPr>
        <p:spPr>
          <a:xfrm>
            <a:off x="7715250" y="1984248"/>
            <a:ext cx="605790" cy="604520"/>
          </a:xfrm>
          <a:prstGeom prst="line">
            <a:avLst/>
          </a:prstGeom>
          <a:noFill/>
          <a:ln w="22225">
            <a:solidFill>
              <a:srgbClr val="028090"/>
            </a:solidFill>
            <a:prstDash val="solid"/>
          </a:ln>
        </p:spPr>
        <p:txBody>
          <a:bodyPr/>
          <a:lstStyle/>
          <a:p>
            <a:endParaRPr lang="sv-SE"/>
          </a:p>
        </p:txBody>
      </p:sp>
      <p:sp>
        <p:nvSpPr>
          <p:cNvPr id="5" name="Shape 12"/>
          <p:cNvSpPr/>
          <p:nvPr/>
        </p:nvSpPr>
        <p:spPr>
          <a:xfrm>
            <a:off x="5847588" y="2624836"/>
            <a:ext cx="100584" cy="100584"/>
          </a:xfrm>
          <a:prstGeom prst="ellipse">
            <a:avLst/>
          </a:prstGeom>
          <a:solidFill>
            <a:srgbClr val="028090"/>
          </a:solidFill>
          <a:ln w="9525">
            <a:solidFill>
              <a:srgbClr val="FFFFFF"/>
            </a:solidFill>
            <a:prstDash val="solid"/>
          </a:ln>
        </p:spPr>
        <p:txBody>
          <a:bodyPr/>
          <a:lstStyle/>
          <a:p>
            <a:endParaRPr lang="sv-SE"/>
          </a:p>
        </p:txBody>
      </p:sp>
      <p:sp>
        <p:nvSpPr>
          <p:cNvPr id="16" name="Shape 13"/>
          <p:cNvSpPr/>
          <p:nvPr/>
        </p:nvSpPr>
        <p:spPr>
          <a:xfrm>
            <a:off x="6453378" y="2452116"/>
            <a:ext cx="100584" cy="100584"/>
          </a:xfrm>
          <a:prstGeom prst="ellipse">
            <a:avLst/>
          </a:prstGeom>
          <a:solidFill>
            <a:srgbClr val="028090"/>
          </a:solidFill>
          <a:ln w="9525">
            <a:solidFill>
              <a:srgbClr val="FFFFFF"/>
            </a:solidFill>
            <a:prstDash val="solid"/>
          </a:ln>
        </p:spPr>
        <p:txBody>
          <a:bodyPr/>
          <a:lstStyle/>
          <a:p>
            <a:endParaRPr lang="sv-SE"/>
          </a:p>
        </p:txBody>
      </p:sp>
      <p:sp>
        <p:nvSpPr>
          <p:cNvPr id="17" name="Shape 14"/>
          <p:cNvSpPr/>
          <p:nvPr/>
        </p:nvSpPr>
        <p:spPr>
          <a:xfrm>
            <a:off x="7059168" y="2711196"/>
            <a:ext cx="100584" cy="100584"/>
          </a:xfrm>
          <a:prstGeom prst="ellipse">
            <a:avLst/>
          </a:prstGeom>
          <a:solidFill>
            <a:srgbClr val="028090"/>
          </a:solidFill>
          <a:ln w="9525">
            <a:solidFill>
              <a:srgbClr val="FFFFFF"/>
            </a:solidFill>
            <a:prstDash val="solid"/>
          </a:ln>
        </p:spPr>
        <p:txBody>
          <a:bodyPr/>
          <a:lstStyle/>
          <a:p>
            <a:endParaRPr lang="sv-SE"/>
          </a:p>
        </p:txBody>
      </p:sp>
      <p:sp>
        <p:nvSpPr>
          <p:cNvPr id="18" name="Shape 15"/>
          <p:cNvSpPr/>
          <p:nvPr/>
        </p:nvSpPr>
        <p:spPr>
          <a:xfrm>
            <a:off x="7664958" y="1933956"/>
            <a:ext cx="100584" cy="100584"/>
          </a:xfrm>
          <a:prstGeom prst="ellipse">
            <a:avLst/>
          </a:prstGeom>
          <a:solidFill>
            <a:srgbClr val="E8604C"/>
          </a:solidFill>
          <a:ln w="9525">
            <a:solidFill>
              <a:srgbClr val="FFFFFF"/>
            </a:solidFill>
            <a:prstDash val="solid"/>
          </a:ln>
        </p:spPr>
        <p:txBody>
          <a:bodyPr/>
          <a:lstStyle/>
          <a:p>
            <a:endParaRPr lang="sv-SE"/>
          </a:p>
        </p:txBody>
      </p:sp>
      <p:sp>
        <p:nvSpPr>
          <p:cNvPr id="19" name="Shape 16"/>
          <p:cNvSpPr/>
          <p:nvPr/>
        </p:nvSpPr>
        <p:spPr>
          <a:xfrm>
            <a:off x="8270748" y="2538476"/>
            <a:ext cx="100584" cy="100584"/>
          </a:xfrm>
          <a:prstGeom prst="ellipse">
            <a:avLst/>
          </a:prstGeom>
          <a:solidFill>
            <a:srgbClr val="028090"/>
          </a:solidFill>
          <a:ln w="9525">
            <a:solidFill>
              <a:srgbClr val="FFFFFF"/>
            </a:solidFill>
            <a:prstDash val="solid"/>
          </a:ln>
        </p:spPr>
        <p:txBody>
          <a:bodyPr/>
          <a:lstStyle/>
          <a:p>
            <a:endParaRPr lang="sv-SE"/>
          </a:p>
        </p:txBody>
      </p:sp>
      <p:sp>
        <p:nvSpPr>
          <p:cNvPr id="20" name="Text 17"/>
          <p:cNvSpPr txBox="1"/>
          <p:nvPr/>
        </p:nvSpPr>
        <p:spPr>
          <a:xfrm>
            <a:off x="6663690" y="1655064"/>
            <a:ext cx="960120" cy="365760"/>
          </a:xfrm>
          <a:prstGeom prst="rect">
            <a:avLst/>
          </a:prstGeom>
          <a:noFill/>
          <a:ln/>
        </p:spPr>
        <p:txBody>
          <a:bodyPr wrap="square" lIns="0" tIns="0" rIns="0" bIns="0" rtlCol="0" anchor="ctr"/>
          <a:lstStyle/>
          <a:p>
            <a:pPr marL="0" indent="0" algn="r">
              <a:buNone/>
            </a:pPr>
            <a:r>
              <a:rPr lang="en-US" sz="850" b="1" dirty="0">
                <a:solidFill>
                  <a:srgbClr val="E8604C"/>
                </a:solidFill>
                <a:latin typeface="Calibri" pitchFamily="34" charset="0"/>
                <a:ea typeface="Calibri" pitchFamily="34" charset="-122"/>
                <a:cs typeface="Calibri" pitchFamily="34" charset="-120"/>
              </a:rPr>
              <a:t>biggest wobble →</a:t>
            </a:r>
            <a:endParaRPr lang="en-US" sz="850" dirty="0"/>
          </a:p>
          <a:p>
            <a:pPr marL="0" indent="0" algn="r">
              <a:buNone/>
            </a:pPr>
            <a:r>
              <a:rPr lang="en-US" sz="850" b="1" dirty="0">
                <a:solidFill>
                  <a:srgbClr val="E8604C"/>
                </a:solidFill>
                <a:latin typeface="Calibri" pitchFamily="34" charset="0"/>
                <a:ea typeface="Calibri" pitchFamily="34" charset="-122"/>
                <a:cs typeface="Calibri" pitchFamily="34" charset="-120"/>
              </a:rPr>
              <a:t>longest segment</a:t>
            </a:r>
            <a:endParaRPr lang="en-US" sz="850" dirty="0"/>
          </a:p>
        </p:txBody>
      </p:sp>
      <p:sp>
        <p:nvSpPr>
          <p:cNvPr id="21" name="Text 18"/>
          <p:cNvSpPr txBox="1"/>
          <p:nvPr/>
        </p:nvSpPr>
        <p:spPr>
          <a:xfrm>
            <a:off x="5806440" y="2971800"/>
            <a:ext cx="2606040" cy="182880"/>
          </a:xfrm>
          <a:prstGeom prst="rect">
            <a:avLst/>
          </a:prstGeom>
          <a:noFill/>
          <a:ln/>
        </p:spPr>
        <p:txBody>
          <a:bodyPr wrap="square" lIns="0" tIns="0" rIns="0" bIns="0" rtlCol="0" anchor="ctr"/>
          <a:lstStyle/>
          <a:p>
            <a:pPr marL="0" indent="0" algn="ctr">
              <a:buNone/>
            </a:pPr>
            <a:r>
              <a:rPr lang="en-US" sz="900" dirty="0">
                <a:solidFill>
                  <a:srgbClr val="5F7178"/>
                </a:solidFill>
                <a:latin typeface="Calibri" pitchFamily="34" charset="0"/>
                <a:ea typeface="Calibri" pitchFamily="34" charset="-122"/>
                <a:cs typeface="Calibri" pitchFamily="34" charset="-120"/>
              </a:rPr>
              <a:t>distance along the section</a:t>
            </a:r>
            <a:endParaRPr lang="en-US" sz="900" dirty="0"/>
          </a:p>
        </p:txBody>
      </p:sp>
      <p:sp>
        <p:nvSpPr>
          <p:cNvPr id="22" name="Shape 19"/>
          <p:cNvSpPr/>
          <p:nvPr/>
        </p:nvSpPr>
        <p:spPr>
          <a:xfrm>
            <a:off x="457200" y="3794760"/>
            <a:ext cx="8229600" cy="640080"/>
          </a:xfrm>
          <a:prstGeom prst="roundRect">
            <a:avLst>
              <a:gd name="adj" fmla="val 8571"/>
            </a:avLst>
          </a:prstGeom>
          <a:solidFill>
            <a:srgbClr val="0B2027"/>
          </a:solidFill>
          <a:ln w="12700">
            <a:solidFill>
              <a:srgbClr val="0B2027"/>
            </a:solidFill>
            <a:prstDash val="solid"/>
          </a:ln>
        </p:spPr>
        <p:txBody>
          <a:bodyPr/>
          <a:lstStyle/>
          <a:p>
            <a:endParaRPr lang="sv-SE"/>
          </a:p>
        </p:txBody>
      </p:sp>
      <p:sp>
        <p:nvSpPr>
          <p:cNvPr id="23" name="Text 20"/>
          <p:cNvSpPr txBox="1"/>
          <p:nvPr/>
        </p:nvSpPr>
        <p:spPr>
          <a:xfrm>
            <a:off x="731520" y="3794760"/>
            <a:ext cx="7680960" cy="64008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L</a:t>
            </a:r>
            <a:r>
              <a:rPr lang="en-US" sz="1300" i="1" baseline="-40000" dirty="0">
                <a:solidFill>
                  <a:srgbClr val="FFFFFF"/>
                </a:solidFill>
                <a:latin typeface="Calibri" pitchFamily="34" charset="0"/>
                <a:ea typeface="Calibri" pitchFamily="34" charset="-122"/>
                <a:cs typeface="Calibri" pitchFamily="34" charset="-120"/>
              </a:rPr>
              <a:t>s</a:t>
            </a:r>
            <a:r>
              <a:rPr lang="en-US" sz="1300" dirty="0">
                <a:solidFill>
                  <a:srgbClr val="FFFFFF"/>
                </a:solidFill>
                <a:latin typeface="Calibri" pitchFamily="34" charset="0"/>
                <a:ea typeface="Calibri" pitchFamily="34" charset="-122"/>
                <a:cs typeface="Calibri" pitchFamily="34" charset="-120"/>
              </a:rPr>
              <a:t> = 1.00000286 m        </a:t>
            </a:r>
            <a:r>
              <a:rPr lang="en-US" sz="1300" i="1" dirty="0">
                <a:solidFill>
                  <a:srgbClr val="FFFFFF"/>
                </a:solidFill>
                <a:latin typeface="Calibri" pitchFamily="34" charset="0"/>
                <a:ea typeface="Calibri" pitchFamily="34" charset="-122"/>
                <a:cs typeface="Calibri" pitchFamily="34" charset="-120"/>
              </a:rPr>
              <a:t>L</a:t>
            </a:r>
            <a:r>
              <a:rPr lang="en-US" sz="1300" baseline="-40000" dirty="0">
                <a:solidFill>
                  <a:srgbClr val="FFFFFF"/>
                </a:solidFill>
                <a:latin typeface="Calibri" pitchFamily="34" charset="0"/>
                <a:ea typeface="Calibri" pitchFamily="34" charset="-122"/>
                <a:cs typeface="Calibri" pitchFamily="34" charset="-120"/>
              </a:rPr>
              <a:t>0</a:t>
            </a:r>
            <a:r>
              <a:rPr lang="en-US" sz="1300" dirty="0">
                <a:solidFill>
                  <a:srgbClr val="FFFFFF"/>
                </a:solidFill>
                <a:latin typeface="Calibri" pitchFamily="34" charset="0"/>
                <a:ea typeface="Calibri" pitchFamily="34" charset="-122"/>
                <a:cs typeface="Calibri" pitchFamily="34" charset="-120"/>
              </a:rPr>
              <a:t> = 1.00 m        →        TQI = ( 1.00000286 / 1.00 − 1 ) × 10</a:t>
            </a:r>
            <a:r>
              <a:rPr lang="en-US" sz="1300" baseline="30000" dirty="0">
                <a:solidFill>
                  <a:srgbClr val="FFFFFF"/>
                </a:solidFill>
                <a:latin typeface="Calibri" pitchFamily="34" charset="0"/>
                <a:ea typeface="Calibri" pitchFamily="34" charset="-122"/>
                <a:cs typeface="Calibri" pitchFamily="34" charset="-120"/>
              </a:rPr>
              <a:t>6</a:t>
            </a:r>
            <a:r>
              <a:rPr lang="en-US" sz="1300" b="1" dirty="0">
                <a:solidFill>
                  <a:srgbClr val="00A896"/>
                </a:solidFill>
                <a:latin typeface="Calibri" pitchFamily="34" charset="0"/>
                <a:ea typeface="Calibri" pitchFamily="34" charset="-122"/>
                <a:cs typeface="Calibri" pitchFamily="34" charset="-120"/>
              </a:rPr>
              <a:t>  =  2.9</a:t>
            </a:r>
            <a:endParaRPr lang="en-US" sz="1300" dirty="0"/>
          </a:p>
        </p:txBody>
      </p:sp>
      <p:sp>
        <p:nvSpPr>
          <p:cNvPr id="24" name="Text 21"/>
          <p:cNvSpPr txBox="1"/>
          <p:nvPr/>
        </p:nvSpPr>
        <p:spPr>
          <a:xfrm>
            <a:off x="457200" y="4526280"/>
            <a:ext cx="8229600" cy="274320"/>
          </a:xfrm>
          <a:prstGeom prst="rect">
            <a:avLst/>
          </a:prstGeom>
          <a:noFill/>
          <a:ln/>
        </p:spPr>
        <p:txBody>
          <a:bodyPr wrap="square" lIns="0" tIns="0" rIns="0" bIns="0" rtlCol="0" anchor="ctr"/>
          <a:lstStyle/>
          <a:p>
            <a:pPr marL="0" indent="0" algn="ctr">
              <a:buNone/>
            </a:pPr>
            <a:r>
              <a:rPr lang="en-US" sz="1150" i="1" dirty="0">
                <a:solidFill>
                  <a:srgbClr val="5F7178"/>
                </a:solidFill>
                <a:latin typeface="Calibri" pitchFamily="34" charset="0"/>
                <a:ea typeface="Calibri" pitchFamily="34" charset="-122"/>
                <a:cs typeface="Calibri" pitchFamily="34" charset="-120"/>
              </a:rPr>
              <a:t>Same procedure for cross-level, cant, twist and surface — only the quantity on the vertical axis changes.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1751</TotalTime>
  <Words>2623</Words>
  <Application>Microsoft Office PowerPoint</Application>
  <PresentationFormat>On-screen Show (16:9)</PresentationFormat>
  <Paragraphs>273</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Point Cloud Processing for Railway Track Geometry</dc:title>
  <dc:subject>PptxGenJS Presentation</dc:subject>
  <dc:creator>Viktor Lindberg</dc:creator>
  <cp:lastModifiedBy>Viktor Lindberg</cp:lastModifiedBy>
  <cp:revision>3</cp:revision>
  <dcterms:created xsi:type="dcterms:W3CDTF">2026-09-17T23:05:45Z</dcterms:created>
  <dcterms:modified xsi:type="dcterms:W3CDTF">2026-09-19T11:21:59Z</dcterms:modified>
</cp:coreProperties>
</file>